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561320" y="-1051560"/>
            <a:ext cx="3017520" cy="3017520"/>
          </a:xfrm>
          <a:prstGeom prst="ellipse">
            <a:avLst/>
          </a:prstGeom>
          <a:solidFill>
            <a:srgbClr val="D9EDE7"/>
          </a:solidFill>
          <a:ln/>
        </p:spPr>
      </p:sp>
      <p:sp>
        <p:nvSpPr>
          <p:cNvPr id="3" name="Shape 1"/>
          <p:cNvSpPr/>
          <p:nvPr/>
        </p:nvSpPr>
        <p:spPr>
          <a:xfrm>
            <a:off x="-594360" y="6172200"/>
            <a:ext cx="1325880" cy="1325880"/>
          </a:xfrm>
          <a:prstGeom prst="ellipse">
            <a:avLst/>
          </a:prstGeom>
          <a:solidFill>
            <a:srgbClr val="D9EDE7"/>
          </a:solidFill>
          <a:ln/>
        </p:spPr>
      </p:sp>
      <p:sp>
        <p:nvSpPr>
          <p:cNvPr id="4" name="Shape 2"/>
          <p:cNvSpPr/>
          <p:nvPr/>
        </p:nvSpPr>
        <p:spPr>
          <a:xfrm>
            <a:off x="502920" y="502920"/>
            <a:ext cx="1417320" cy="329184"/>
          </a:xfrm>
          <a:prstGeom prst="roundRect">
            <a:avLst>
              <a:gd name="adj" fmla="val 50000"/>
            </a:avLst>
          </a:prstGeom>
          <a:solidFill>
            <a:srgbClr val="D9EDE7"/>
          </a:solidFill>
          <a:ln/>
        </p:spPr>
      </p:sp>
      <p:sp>
        <p:nvSpPr>
          <p:cNvPr id="5" name="Text 3"/>
          <p:cNvSpPr txBox="1"/>
          <p:nvPr/>
        </p:nvSpPr>
        <p:spPr>
          <a:xfrm>
            <a:off x="502920" y="502920"/>
            <a:ext cx="1417320" cy="329184"/>
          </a:xfrm>
          <a:prstGeom prst="rect">
            <a:avLst/>
          </a:prstGeom>
          <a:noFill/>
          <a:ln/>
        </p:spPr>
        <p:txBody>
          <a:bodyPr wrap="square" lIns="0" tIns="0" rIns="0" bIns="0" rtlCol="0" anchor="ctr"/>
          <a:lstStyle/>
          <a:p>
            <a:pPr algn="ctr" indent="0" marL="0">
              <a:buNone/>
            </a:pPr>
            <a:r>
              <a:rPr lang="en-US" sz="1000" b="1" spc="140" kern="0" dirty="0">
                <a:solidFill>
                  <a:srgbClr val="0A5D50"/>
                </a:solidFill>
                <a:latin typeface="Calibri" pitchFamily="34" charset="0"/>
                <a:ea typeface="Calibri" pitchFamily="34" charset="-122"/>
                <a:cs typeface="Calibri" pitchFamily="34" charset="-120"/>
              </a:rPr>
              <a:t>1ST REVIEW</a:t>
            </a:r>
            <a:endParaRPr lang="en-US" sz="1000" dirty="0"/>
          </a:p>
        </p:txBody>
      </p:sp>
      <p:sp>
        <p:nvSpPr>
          <p:cNvPr id="6" name="Text 4"/>
          <p:cNvSpPr txBox="1"/>
          <p:nvPr/>
        </p:nvSpPr>
        <p:spPr>
          <a:xfrm>
            <a:off x="448056" y="1051560"/>
            <a:ext cx="8229600" cy="777240"/>
          </a:xfrm>
          <a:prstGeom prst="rect">
            <a:avLst/>
          </a:prstGeom>
          <a:noFill/>
          <a:ln/>
        </p:spPr>
        <p:txBody>
          <a:bodyPr wrap="square" lIns="0" tIns="0" rIns="0" bIns="0" rtlCol="0" anchor="ctr"/>
          <a:lstStyle/>
          <a:p>
            <a:pPr indent="0" marL="0">
              <a:buNone/>
            </a:pPr>
            <a:r>
              <a:rPr lang="en-US" sz="5200" b="1" dirty="0">
                <a:solidFill>
                  <a:srgbClr val="14303B"/>
                </a:solidFill>
                <a:latin typeface="Cambria" pitchFamily="34" charset="0"/>
                <a:ea typeface="Cambria" pitchFamily="34" charset="-122"/>
                <a:cs typeface="Cambria" pitchFamily="34" charset="-120"/>
              </a:rPr>
              <a:t>LifeLog</a:t>
            </a:r>
            <a:endParaRPr lang="en-US" sz="5200" dirty="0"/>
          </a:p>
        </p:txBody>
      </p:sp>
      <p:sp>
        <p:nvSpPr>
          <p:cNvPr id="7" name="Text 5"/>
          <p:cNvSpPr txBox="1"/>
          <p:nvPr/>
        </p:nvSpPr>
        <p:spPr>
          <a:xfrm>
            <a:off x="448056" y="1783080"/>
            <a:ext cx="8686800" cy="548640"/>
          </a:xfrm>
          <a:prstGeom prst="rect">
            <a:avLst/>
          </a:prstGeom>
          <a:noFill/>
          <a:ln/>
        </p:spPr>
        <p:txBody>
          <a:bodyPr wrap="square" lIns="0" tIns="0" rIns="0" bIns="0" rtlCol="0" anchor="ctr"/>
          <a:lstStyle/>
          <a:p>
            <a:pPr indent="0" marL="0">
              <a:buNone/>
            </a:pPr>
            <a:r>
              <a:rPr lang="en-US" sz="3000" b="1" dirty="0">
                <a:solidFill>
                  <a:srgbClr val="14303B"/>
                </a:solidFill>
                <a:latin typeface="Cambria" pitchFamily="34" charset="0"/>
                <a:ea typeface="Cambria" pitchFamily="34" charset="-122"/>
                <a:cs typeface="Cambria" pitchFamily="34" charset="-120"/>
              </a:rPr>
              <a:t>Unified Personal Activity Intelligence Database</a:t>
            </a:r>
            <a:endParaRPr lang="en-US" sz="3000" dirty="0"/>
          </a:p>
        </p:txBody>
      </p:sp>
      <p:sp>
        <p:nvSpPr>
          <p:cNvPr id="8" name="Text 6"/>
          <p:cNvSpPr txBox="1"/>
          <p:nvPr/>
        </p:nvSpPr>
        <p:spPr>
          <a:xfrm>
            <a:off x="448056" y="2395728"/>
            <a:ext cx="7863840" cy="365760"/>
          </a:xfrm>
          <a:prstGeom prst="rect">
            <a:avLst/>
          </a:prstGeom>
          <a:noFill/>
          <a:ln/>
        </p:spPr>
        <p:txBody>
          <a:bodyPr wrap="square" lIns="0" tIns="0" rIns="0" bIns="0" rtlCol="0" anchor="ctr"/>
          <a:lstStyle/>
          <a:p>
            <a:pPr indent="0" marL="0">
              <a:buNone/>
            </a:pPr>
            <a:r>
              <a:rPr lang="en-US" sz="1400" i="1" dirty="0">
                <a:solidFill>
                  <a:srgbClr val="8A969C"/>
                </a:solidFill>
                <a:latin typeface="Calibri" pitchFamily="34" charset="0"/>
                <a:ea typeface="Calibri" pitchFamily="34" charset="-122"/>
                <a:cs typeface="Calibri" pitchFamily="34" charset="-120"/>
              </a:rPr>
              <a:t>A centralized relational database that turns everyday personal activity into meaningful insight</a:t>
            </a:r>
            <a:endParaRPr lang="en-US" sz="14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3063240"/>
          <a:ext cx="4297680" cy="914400"/>
        </p:xfrm>
        <a:graphic>
          <a:graphicData uri="http://schemas.openxmlformats.org/drawingml/2006/table">
            <a:tbl>
              <a:tblPr/>
              <a:tblGrid>
                <a:gridCol w="2834640"/>
                <a:gridCol w="1463040"/>
              </a:tblGrid>
              <a:tr h="292608">
                <a:tc>
                  <a:txBody>
                    <a:bodyPr/>
                    <a:lstStyle/>
                    <a:p>
                      <a:pPr indent="0" marL="0">
                        <a:buNone/>
                      </a:pPr>
                      <a:r>
                        <a:rPr lang="en-US" sz="1000" b="1" spc="80" kern="0" dirty="0">
                          <a:solidFill>
                            <a:srgbClr val="FFFFFF"/>
                          </a:solidFill>
                          <a:latin typeface="Calibri" pitchFamily="34" charset="0"/>
                          <a:ea typeface="Calibri" pitchFamily="34" charset="-122"/>
                          <a:cs typeface="Calibri" pitchFamily="34" charset="-120"/>
                        </a:rPr>
                        <a:t>TEAM MEMBER</a:t>
                      </a:r>
                      <a:endParaRPr lang="en-US" sz="1000" dirty="0">
                        <a:latin typeface="Calibri" charset="0"/>
                        <a:ea typeface="Calibri" charset="0"/>
                        <a:cs typeface="Calibri" charset="0"/>
                      </a:endParaRPr>
                    </a:p>
                  </a:txBody>
                  <a:tcPr marL="109728" marR="109728" marT="45720" marB="45720" anchor="ctr">
                    <a:lnL w="6350" cap="flat" cmpd="sng" algn="ctr">
                      <a:solidFill>
                        <a:srgbClr val="DDE6E3"/>
                      </a:solidFill>
                      <a:prstDash val="solid"/>
                      <a:round/>
                      <a:headEnd type="none" w="med" len="med"/>
                      <a:tailEnd type="none" w="med" len="med"/>
                    </a:lnL>
                    <a:lnR w="6350" cap="flat" cmpd="sng" algn="ctr">
                      <a:solidFill>
                        <a:srgbClr val="DDE6E3"/>
                      </a:solidFill>
                      <a:prstDash val="solid"/>
                      <a:round/>
                      <a:headEnd type="none" w="med" len="med"/>
                      <a:tailEnd type="none" w="med" len="med"/>
                    </a:lnR>
                    <a:lnT w="6350" cap="flat" cmpd="sng" algn="ctr">
                      <a:solidFill>
                        <a:srgbClr val="DDE6E3"/>
                      </a:solidFill>
                      <a:prstDash val="solid"/>
                      <a:round/>
                      <a:headEnd type="none" w="med" len="med"/>
                      <a:tailEnd type="none" w="med" len="med"/>
                    </a:lnT>
                    <a:lnB w="6350" cap="flat" cmpd="sng" algn="ctr">
                      <a:solidFill>
                        <a:srgbClr val="DDE6E3"/>
                      </a:solidFill>
                      <a:prstDash val="solid"/>
                      <a:round/>
                      <a:headEnd type="none" w="med" len="med"/>
                      <a:tailEnd type="none" w="med" len="med"/>
                    </a:lnB>
                    <a:solidFill>
                      <a:srgbClr val="FFFFFF"/>
                    </a:solidFill>
                  </a:tcPr>
                </a:tc>
                <a:tc>
                  <a:txBody>
                    <a:bodyPr/>
                    <a:lstStyle/>
                    <a:p>
                      <a:pPr indent="0" marL="0">
                        <a:buNone/>
                      </a:pPr>
                      <a:r>
                        <a:rPr lang="en-US" sz="1000" b="1" spc="80" kern="0" dirty="0">
                          <a:solidFill>
                            <a:srgbClr val="FFFFFF"/>
                          </a:solidFill>
                          <a:latin typeface="Calibri" pitchFamily="34" charset="0"/>
                          <a:ea typeface="Calibri" pitchFamily="34" charset="-122"/>
                          <a:cs typeface="Calibri" pitchFamily="34" charset="-120"/>
                        </a:rPr>
                        <a:t>ID NUMBER</a:t>
                      </a:r>
                      <a:endParaRPr lang="en-US" sz="1000" dirty="0">
                        <a:latin typeface="Calibri" charset="0"/>
                        <a:ea typeface="Calibri" charset="0"/>
                        <a:cs typeface="Calibri" charset="0"/>
                      </a:endParaRPr>
                    </a:p>
                  </a:txBody>
                  <a:tcPr marL="109728" marR="109728" marT="45720" marB="45720" anchor="ctr">
                    <a:lnL w="6350" cap="flat" cmpd="sng" algn="ctr">
                      <a:solidFill>
                        <a:srgbClr val="DDE6E3"/>
                      </a:solidFill>
                      <a:prstDash val="solid"/>
                      <a:round/>
                      <a:headEnd type="none" w="med" len="med"/>
                      <a:tailEnd type="none" w="med" len="med"/>
                    </a:lnL>
                    <a:lnR w="6350" cap="flat" cmpd="sng" algn="ctr">
                      <a:solidFill>
                        <a:srgbClr val="DDE6E3"/>
                      </a:solidFill>
                      <a:prstDash val="solid"/>
                      <a:round/>
                      <a:headEnd type="none" w="med" len="med"/>
                      <a:tailEnd type="none" w="med" len="med"/>
                    </a:lnR>
                    <a:lnT w="6350" cap="flat" cmpd="sng" algn="ctr">
                      <a:solidFill>
                        <a:srgbClr val="DDE6E3"/>
                      </a:solidFill>
                      <a:prstDash val="solid"/>
                      <a:round/>
                      <a:headEnd type="none" w="med" len="med"/>
                      <a:tailEnd type="none" w="med" len="med"/>
                    </a:lnT>
                    <a:lnB w="6350" cap="flat" cmpd="sng" algn="ctr">
                      <a:solidFill>
                        <a:srgbClr val="DDE6E3"/>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3F4C53"/>
                          </a:solidFill>
                          <a:latin typeface="Calibri" pitchFamily="34" charset="0"/>
                          <a:ea typeface="Calibri" pitchFamily="34" charset="-122"/>
                          <a:cs typeface="Calibri" pitchFamily="34" charset="-120"/>
                        </a:rPr>
                        <a:t>Haadi Hasil</a:t>
                      </a:r>
                      <a:endParaRPr lang="en-US" sz="1100" dirty="0">
                        <a:latin typeface="Calibri" charset="0"/>
                        <a:ea typeface="Calibri" charset="0"/>
                        <a:cs typeface="Calibri" charset="0"/>
                      </a:endParaRPr>
                    </a:p>
                  </a:txBody>
                  <a:tcPr marL="109728" marR="109728" marT="45720" marB="45720" anchor="ctr">
                    <a:lnL w="6350" cap="flat" cmpd="sng" algn="ctr">
                      <a:solidFill>
                        <a:srgbClr val="DDE6E3"/>
                      </a:solidFill>
                      <a:prstDash val="solid"/>
                      <a:round/>
                      <a:headEnd type="none" w="med" len="med"/>
                      <a:tailEnd type="none" w="med" len="med"/>
                    </a:lnL>
                    <a:lnR w="6350" cap="flat" cmpd="sng" algn="ctr">
                      <a:solidFill>
                        <a:srgbClr val="DDE6E3"/>
                      </a:solidFill>
                      <a:prstDash val="solid"/>
                      <a:round/>
                      <a:headEnd type="none" w="med" len="med"/>
                      <a:tailEnd type="none" w="med" len="med"/>
                    </a:lnR>
                    <a:lnT w="6350" cap="flat" cmpd="sng" algn="ctr">
                      <a:solidFill>
                        <a:srgbClr val="DDE6E3"/>
                      </a:solidFill>
                      <a:prstDash val="solid"/>
                      <a:round/>
                      <a:headEnd type="none" w="med" len="med"/>
                      <a:tailEnd type="none" w="med" len="med"/>
                    </a:lnT>
                    <a:lnB w="6350" cap="flat" cmpd="sng" algn="ctr">
                      <a:solidFill>
                        <a:srgbClr val="DDE6E3"/>
                      </a:solidFill>
                      <a:prstDash val="solid"/>
                      <a:round/>
                      <a:headEnd type="none" w="med" len="med"/>
                      <a:tailEnd type="none" w="med" len="med"/>
                    </a:lnB>
                    <a:solidFill>
                      <a:srgbClr val="FFFFFF"/>
                    </a:solidFill>
                  </a:tcPr>
                </a:tc>
                <a:tc>
                  <a:txBody>
                    <a:bodyPr/>
                    <a:lstStyle/>
                    <a:p>
                      <a:pPr indent="0" marL="0">
                        <a:buNone/>
                      </a:pPr>
                      <a:r>
                        <a:rPr lang="en-US" sz="1100" dirty="0">
                          <a:solidFill>
                            <a:srgbClr val="3F4C53"/>
                          </a:solidFill>
                          <a:latin typeface="Calibri" pitchFamily="34" charset="0"/>
                          <a:ea typeface="Calibri" pitchFamily="34" charset="-122"/>
                          <a:cs typeface="Calibri" pitchFamily="34" charset="-120"/>
                        </a:rPr>
                        <a:t>2520030297</a:t>
                      </a:r>
                      <a:endParaRPr lang="en-US" sz="1100" dirty="0">
                        <a:latin typeface="Calibri" charset="0"/>
                        <a:ea typeface="Calibri" charset="0"/>
                        <a:cs typeface="Calibri" charset="0"/>
                      </a:endParaRPr>
                    </a:p>
                  </a:txBody>
                  <a:tcPr marL="109728" marR="109728" marT="45720" marB="45720" anchor="ctr">
                    <a:lnL w="6350" cap="flat" cmpd="sng" algn="ctr">
                      <a:solidFill>
                        <a:srgbClr val="DDE6E3"/>
                      </a:solidFill>
                      <a:prstDash val="solid"/>
                      <a:round/>
                      <a:headEnd type="none" w="med" len="med"/>
                      <a:tailEnd type="none" w="med" len="med"/>
                    </a:lnL>
                    <a:lnR w="6350" cap="flat" cmpd="sng" algn="ctr">
                      <a:solidFill>
                        <a:srgbClr val="DDE6E3"/>
                      </a:solidFill>
                      <a:prstDash val="solid"/>
                      <a:round/>
                      <a:headEnd type="none" w="med" len="med"/>
                      <a:tailEnd type="none" w="med" len="med"/>
                    </a:lnR>
                    <a:lnT w="6350" cap="flat" cmpd="sng" algn="ctr">
                      <a:solidFill>
                        <a:srgbClr val="DDE6E3"/>
                      </a:solidFill>
                      <a:prstDash val="solid"/>
                      <a:round/>
                      <a:headEnd type="none" w="med" len="med"/>
                      <a:tailEnd type="none" w="med" len="med"/>
                    </a:lnT>
                    <a:lnB w="6350" cap="flat" cmpd="sng" algn="ctr">
                      <a:solidFill>
                        <a:srgbClr val="DDE6E3"/>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3F4C53"/>
                          </a:solidFill>
                          <a:latin typeface="Calibri" pitchFamily="34" charset="0"/>
                          <a:ea typeface="Calibri" pitchFamily="34" charset="-122"/>
                          <a:cs typeface="Calibri" pitchFamily="34" charset="-120"/>
                        </a:rPr>
                        <a:t>Jaiswal Reddy</a:t>
                      </a:r>
                      <a:endParaRPr lang="en-US" sz="1100" dirty="0">
                        <a:latin typeface="Calibri" charset="0"/>
                        <a:ea typeface="Calibri" charset="0"/>
                        <a:cs typeface="Calibri" charset="0"/>
                      </a:endParaRPr>
                    </a:p>
                  </a:txBody>
                  <a:tcPr marL="109728" marR="109728" marT="45720" marB="45720" anchor="ctr">
                    <a:lnL w="6350" cap="flat" cmpd="sng" algn="ctr">
                      <a:solidFill>
                        <a:srgbClr val="DDE6E3"/>
                      </a:solidFill>
                      <a:prstDash val="solid"/>
                      <a:round/>
                      <a:headEnd type="none" w="med" len="med"/>
                      <a:tailEnd type="none" w="med" len="med"/>
                    </a:lnL>
                    <a:lnR w="6350" cap="flat" cmpd="sng" algn="ctr">
                      <a:solidFill>
                        <a:srgbClr val="DDE6E3"/>
                      </a:solidFill>
                      <a:prstDash val="solid"/>
                      <a:round/>
                      <a:headEnd type="none" w="med" len="med"/>
                      <a:tailEnd type="none" w="med" len="med"/>
                    </a:lnR>
                    <a:lnT w="6350" cap="flat" cmpd="sng" algn="ctr">
                      <a:solidFill>
                        <a:srgbClr val="DDE6E3"/>
                      </a:solidFill>
                      <a:prstDash val="solid"/>
                      <a:round/>
                      <a:headEnd type="none" w="med" len="med"/>
                      <a:tailEnd type="none" w="med" len="med"/>
                    </a:lnT>
                    <a:lnB w="6350" cap="flat" cmpd="sng" algn="ctr">
                      <a:solidFill>
                        <a:srgbClr val="DDE6E3"/>
                      </a:solidFill>
                      <a:prstDash val="solid"/>
                      <a:round/>
                      <a:headEnd type="none" w="med" len="med"/>
                      <a:tailEnd type="none" w="med" len="med"/>
                    </a:lnB>
                    <a:solidFill>
                      <a:srgbClr val="FFFFFF"/>
                    </a:solidFill>
                  </a:tcPr>
                </a:tc>
                <a:tc>
                  <a:txBody>
                    <a:bodyPr/>
                    <a:lstStyle/>
                    <a:p>
                      <a:pPr indent="0" marL="0">
                        <a:buNone/>
                      </a:pPr>
                      <a:r>
                        <a:rPr lang="en-US" sz="1100" dirty="0">
                          <a:solidFill>
                            <a:srgbClr val="3F4C53"/>
                          </a:solidFill>
                          <a:latin typeface="Calibri" pitchFamily="34" charset="0"/>
                          <a:ea typeface="Calibri" pitchFamily="34" charset="-122"/>
                          <a:cs typeface="Calibri" pitchFamily="34" charset="-120"/>
                        </a:rPr>
                        <a:t>2520030135</a:t>
                      </a:r>
                      <a:endParaRPr lang="en-US" sz="1100" dirty="0">
                        <a:latin typeface="Calibri" charset="0"/>
                        <a:ea typeface="Calibri" charset="0"/>
                        <a:cs typeface="Calibri" charset="0"/>
                      </a:endParaRPr>
                    </a:p>
                  </a:txBody>
                  <a:tcPr marL="109728" marR="109728" marT="45720" marB="45720" anchor="ctr">
                    <a:lnL w="6350" cap="flat" cmpd="sng" algn="ctr">
                      <a:solidFill>
                        <a:srgbClr val="DDE6E3"/>
                      </a:solidFill>
                      <a:prstDash val="solid"/>
                      <a:round/>
                      <a:headEnd type="none" w="med" len="med"/>
                      <a:tailEnd type="none" w="med" len="med"/>
                    </a:lnL>
                    <a:lnR w="6350" cap="flat" cmpd="sng" algn="ctr">
                      <a:solidFill>
                        <a:srgbClr val="DDE6E3"/>
                      </a:solidFill>
                      <a:prstDash val="solid"/>
                      <a:round/>
                      <a:headEnd type="none" w="med" len="med"/>
                      <a:tailEnd type="none" w="med" len="med"/>
                    </a:lnR>
                    <a:lnT w="6350" cap="flat" cmpd="sng" algn="ctr">
                      <a:solidFill>
                        <a:srgbClr val="DDE6E3"/>
                      </a:solidFill>
                      <a:prstDash val="solid"/>
                      <a:round/>
                      <a:headEnd type="none" w="med" len="med"/>
                      <a:tailEnd type="none" w="med" len="med"/>
                    </a:lnT>
                    <a:lnB w="6350" cap="flat" cmpd="sng" algn="ctr">
                      <a:solidFill>
                        <a:srgbClr val="DDE6E3"/>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3F4C53"/>
                          </a:solidFill>
                          <a:latin typeface="Calibri" pitchFamily="34" charset="0"/>
                          <a:ea typeface="Calibri" pitchFamily="34" charset="-122"/>
                          <a:cs typeface="Calibri" pitchFamily="34" charset="-120"/>
                        </a:rPr>
                        <a:t>Raghava Akkinepally</a:t>
                      </a:r>
                      <a:endParaRPr lang="en-US" sz="1100" dirty="0">
                        <a:latin typeface="Calibri" charset="0"/>
                        <a:ea typeface="Calibri" charset="0"/>
                        <a:cs typeface="Calibri" charset="0"/>
                      </a:endParaRPr>
                    </a:p>
                  </a:txBody>
                  <a:tcPr marL="109728" marR="109728" marT="45720" marB="45720" anchor="ctr">
                    <a:lnL w="6350" cap="flat" cmpd="sng" algn="ctr">
                      <a:solidFill>
                        <a:srgbClr val="DDE6E3"/>
                      </a:solidFill>
                      <a:prstDash val="solid"/>
                      <a:round/>
                      <a:headEnd type="none" w="med" len="med"/>
                      <a:tailEnd type="none" w="med" len="med"/>
                    </a:lnL>
                    <a:lnR w="6350" cap="flat" cmpd="sng" algn="ctr">
                      <a:solidFill>
                        <a:srgbClr val="DDE6E3"/>
                      </a:solidFill>
                      <a:prstDash val="solid"/>
                      <a:round/>
                      <a:headEnd type="none" w="med" len="med"/>
                      <a:tailEnd type="none" w="med" len="med"/>
                    </a:lnR>
                    <a:lnT w="6350" cap="flat" cmpd="sng" algn="ctr">
                      <a:solidFill>
                        <a:srgbClr val="DDE6E3"/>
                      </a:solidFill>
                      <a:prstDash val="solid"/>
                      <a:round/>
                      <a:headEnd type="none" w="med" len="med"/>
                      <a:tailEnd type="none" w="med" len="med"/>
                    </a:lnT>
                    <a:lnB w="6350" cap="flat" cmpd="sng" algn="ctr">
                      <a:solidFill>
                        <a:srgbClr val="DDE6E3"/>
                      </a:solidFill>
                      <a:prstDash val="solid"/>
                      <a:round/>
                      <a:headEnd type="none" w="med" len="med"/>
                      <a:tailEnd type="none" w="med" len="med"/>
                    </a:lnB>
                    <a:solidFill>
                      <a:srgbClr val="FFFFFF"/>
                    </a:solidFill>
                  </a:tcPr>
                </a:tc>
                <a:tc>
                  <a:txBody>
                    <a:bodyPr/>
                    <a:lstStyle/>
                    <a:p>
                      <a:pPr indent="0" marL="0">
                        <a:buNone/>
                      </a:pPr>
                      <a:r>
                        <a:rPr lang="en-US" sz="1100" dirty="0">
                          <a:solidFill>
                            <a:srgbClr val="3F4C53"/>
                          </a:solidFill>
                          <a:latin typeface="Calibri" pitchFamily="34" charset="0"/>
                          <a:ea typeface="Calibri" pitchFamily="34" charset="-122"/>
                          <a:cs typeface="Calibri" pitchFamily="34" charset="-120"/>
                        </a:rPr>
                        <a:t>2520030271</a:t>
                      </a:r>
                      <a:endParaRPr lang="en-US" sz="1100" dirty="0">
                        <a:latin typeface="Calibri" charset="0"/>
                        <a:ea typeface="Calibri" charset="0"/>
                        <a:cs typeface="Calibri" charset="0"/>
                      </a:endParaRPr>
                    </a:p>
                  </a:txBody>
                  <a:tcPr marL="109728" marR="109728" marT="45720" marB="45720" anchor="ctr">
                    <a:lnL w="6350" cap="flat" cmpd="sng" algn="ctr">
                      <a:solidFill>
                        <a:srgbClr val="DDE6E3"/>
                      </a:solidFill>
                      <a:prstDash val="solid"/>
                      <a:round/>
                      <a:headEnd type="none" w="med" len="med"/>
                      <a:tailEnd type="none" w="med" len="med"/>
                    </a:lnL>
                    <a:lnR w="6350" cap="flat" cmpd="sng" algn="ctr">
                      <a:solidFill>
                        <a:srgbClr val="DDE6E3"/>
                      </a:solidFill>
                      <a:prstDash val="solid"/>
                      <a:round/>
                      <a:headEnd type="none" w="med" len="med"/>
                      <a:tailEnd type="none" w="med" len="med"/>
                    </a:lnR>
                    <a:lnT w="6350" cap="flat" cmpd="sng" algn="ctr">
                      <a:solidFill>
                        <a:srgbClr val="DDE6E3"/>
                      </a:solidFill>
                      <a:prstDash val="solid"/>
                      <a:round/>
                      <a:headEnd type="none" w="med" len="med"/>
                      <a:tailEnd type="none" w="med" len="med"/>
                    </a:lnT>
                    <a:lnB w="6350" cap="flat" cmpd="sng" algn="ctr">
                      <a:solidFill>
                        <a:srgbClr val="DDE6E3"/>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3063240"/>
            <a:ext cx="4297680" cy="292608"/>
          </a:xfrm>
          <a:prstGeom prst="rect">
            <a:avLst/>
          </a:prstGeom>
          <a:solidFill>
            <a:srgbClr val="0E7C6B"/>
          </a:solidFill>
          <a:ln/>
        </p:spPr>
      </p:sp>
      <p:sp>
        <p:nvSpPr>
          <p:cNvPr id="11" name="Text 8"/>
          <p:cNvSpPr txBox="1"/>
          <p:nvPr/>
        </p:nvSpPr>
        <p:spPr>
          <a:xfrm>
            <a:off x="612648" y="3063240"/>
            <a:ext cx="2743200" cy="292608"/>
          </a:xfrm>
          <a:prstGeom prst="rect">
            <a:avLst/>
          </a:prstGeom>
          <a:noFill/>
          <a:ln/>
        </p:spPr>
        <p:txBody>
          <a:bodyPr wrap="square" lIns="0" tIns="0" rIns="0" bIns="0" rtlCol="0" anchor="ctr"/>
          <a:lstStyle/>
          <a:p>
            <a:pPr indent="0" marL="0">
              <a:buNone/>
            </a:pPr>
            <a:r>
              <a:rPr lang="en-US" sz="1000" b="1" spc="80" kern="0" dirty="0">
                <a:solidFill>
                  <a:srgbClr val="FFFFFF"/>
                </a:solidFill>
                <a:latin typeface="Calibri" pitchFamily="34" charset="0"/>
                <a:ea typeface="Calibri" pitchFamily="34" charset="-122"/>
                <a:cs typeface="Calibri" pitchFamily="34" charset="-120"/>
              </a:rPr>
              <a:t>TEAM MEMBER</a:t>
            </a:r>
            <a:endParaRPr lang="en-US" sz="1000" dirty="0"/>
          </a:p>
        </p:txBody>
      </p:sp>
      <p:sp>
        <p:nvSpPr>
          <p:cNvPr id="12" name="Text 9"/>
          <p:cNvSpPr txBox="1"/>
          <p:nvPr/>
        </p:nvSpPr>
        <p:spPr>
          <a:xfrm>
            <a:off x="3447288" y="3063240"/>
            <a:ext cx="1371600" cy="292608"/>
          </a:xfrm>
          <a:prstGeom prst="rect">
            <a:avLst/>
          </a:prstGeom>
          <a:noFill/>
          <a:ln/>
        </p:spPr>
        <p:txBody>
          <a:bodyPr wrap="square" lIns="0" tIns="0" rIns="0" bIns="0" rtlCol="0" anchor="ctr"/>
          <a:lstStyle/>
          <a:p>
            <a:pPr indent="0" marL="0">
              <a:buNone/>
            </a:pPr>
            <a:r>
              <a:rPr lang="en-US" sz="1000" b="1" spc="80" kern="0" dirty="0">
                <a:solidFill>
                  <a:srgbClr val="FFFFFF"/>
                </a:solidFill>
                <a:latin typeface="Calibri" pitchFamily="34" charset="0"/>
                <a:ea typeface="Calibri" pitchFamily="34" charset="-122"/>
                <a:cs typeface="Calibri" pitchFamily="34" charset="-120"/>
              </a:rPr>
              <a:t>ID NUMBER</a:t>
            </a:r>
            <a:endParaRPr lang="en-US" sz="1000" dirty="0"/>
          </a:p>
        </p:txBody>
      </p:sp>
      <p:sp>
        <p:nvSpPr>
          <p:cNvPr id="13" name="Text 10"/>
          <p:cNvSpPr txBox="1"/>
          <p:nvPr/>
        </p:nvSpPr>
        <p:spPr>
          <a:xfrm>
            <a:off x="5394960" y="3035808"/>
            <a:ext cx="4114800" cy="256032"/>
          </a:xfrm>
          <a:prstGeom prst="rect">
            <a:avLst/>
          </a:prstGeom>
          <a:noFill/>
          <a:ln/>
        </p:spPr>
        <p:txBody>
          <a:bodyPr wrap="square" lIns="0" tIns="0" rIns="0" bIns="0" rtlCol="0" anchor="ctr"/>
          <a:lstStyle/>
          <a:p>
            <a:pPr indent="0" marL="0">
              <a:buNone/>
            </a:pPr>
            <a:r>
              <a:rPr lang="en-US" sz="1000" b="1" spc="120" kern="0" dirty="0">
                <a:solidFill>
                  <a:srgbClr val="0A5D50"/>
                </a:solidFill>
                <a:latin typeface="Calibri" pitchFamily="34" charset="0"/>
                <a:ea typeface="Calibri" pitchFamily="34" charset="-122"/>
                <a:cs typeface="Calibri" pitchFamily="34" charset="-120"/>
              </a:rPr>
              <a:t>UNDER THE GUIDANCE OF</a:t>
            </a:r>
            <a:endParaRPr lang="en-US" sz="1000" dirty="0"/>
          </a:p>
        </p:txBody>
      </p:sp>
      <p:sp>
        <p:nvSpPr>
          <p:cNvPr id="14" name="Text 11"/>
          <p:cNvSpPr txBox="1"/>
          <p:nvPr/>
        </p:nvSpPr>
        <p:spPr>
          <a:xfrm>
            <a:off x="5376672" y="3328416"/>
            <a:ext cx="4114800" cy="384048"/>
          </a:xfrm>
          <a:prstGeom prst="rect">
            <a:avLst/>
          </a:prstGeom>
          <a:noFill/>
          <a:ln/>
        </p:spPr>
        <p:txBody>
          <a:bodyPr wrap="square" lIns="0" tIns="0" rIns="0" bIns="0" rtlCol="0" anchor="ctr"/>
          <a:lstStyle/>
          <a:p>
            <a:pPr indent="0" marL="0">
              <a:buNone/>
            </a:pPr>
            <a:r>
              <a:rPr lang="en-US" sz="2000" b="1" dirty="0">
                <a:solidFill>
                  <a:srgbClr val="14303B"/>
                </a:solidFill>
                <a:latin typeface="Cambria" pitchFamily="34" charset="0"/>
                <a:ea typeface="Cambria" pitchFamily="34" charset="-122"/>
                <a:cs typeface="Cambria" pitchFamily="34" charset="-120"/>
              </a:rPr>
              <a:t>Dr. Y Prasanthi</a:t>
            </a:r>
            <a:endParaRPr lang="en-US" sz="2000" dirty="0"/>
          </a:p>
        </p:txBody>
      </p:sp>
      <p:sp>
        <p:nvSpPr>
          <p:cNvPr id="15" name="Text 12"/>
          <p:cNvSpPr txBox="1"/>
          <p:nvPr/>
        </p:nvSpPr>
        <p:spPr>
          <a:xfrm>
            <a:off x="5394960" y="3730752"/>
            <a:ext cx="4572000" cy="548640"/>
          </a:xfrm>
          <a:prstGeom prst="rect">
            <a:avLst/>
          </a:prstGeom>
          <a:noFill/>
          <a:ln/>
        </p:spPr>
        <p:txBody>
          <a:bodyPr wrap="square" lIns="0" tIns="0" rIns="0" bIns="0" rtlCol="0" anchor="ctr"/>
          <a:lstStyle/>
          <a:p>
            <a:pPr indent="0" marL="0">
              <a:lnSpc>
                <a:spcPct val="115000"/>
              </a:lnSpc>
              <a:buNone/>
            </a:pPr>
            <a:r>
              <a:rPr lang="en-US" sz="1100" dirty="0">
                <a:solidFill>
                  <a:srgbClr val="8A969C"/>
                </a:solidFill>
                <a:latin typeface="Calibri" pitchFamily="34" charset="0"/>
                <a:ea typeface="Calibri" pitchFamily="34" charset="-122"/>
                <a:cs typeface="Calibri" pitchFamily="34" charset="-120"/>
              </a:rPr>
              <a:t>Assistant Professor</a:t>
            </a:r>
            <a:endParaRPr lang="en-US" sz="1100" dirty="0"/>
          </a:p>
          <a:p>
            <a:pPr indent="0" marL="0">
              <a:lnSpc>
                <a:spcPct val="115000"/>
              </a:lnSpc>
              <a:buNone/>
            </a:pPr>
            <a:r>
              <a:rPr lang="en-US" sz="1100" dirty="0">
                <a:solidFill>
                  <a:srgbClr val="8A969C"/>
                </a:solidFill>
                <a:latin typeface="Calibri" pitchFamily="34" charset="0"/>
                <a:ea typeface="Calibri" pitchFamily="34" charset="-122"/>
                <a:cs typeface="Calibri" pitchFamily="34" charset="-120"/>
              </a:rPr>
              <a:t>Department of Computer Science and Engineering</a:t>
            </a:r>
            <a:endParaRPr lang="en-US" sz="1100" dirty="0"/>
          </a:p>
        </p:txBody>
      </p:sp>
      <p:sp>
        <p:nvSpPr>
          <p:cNvPr id="16" name="Shape 13"/>
          <p:cNvSpPr/>
          <p:nvPr/>
        </p:nvSpPr>
        <p:spPr>
          <a:xfrm>
            <a:off x="502920" y="4800600"/>
            <a:ext cx="566928" cy="566928"/>
          </a:xfrm>
          <a:prstGeom prst="roundRect">
            <a:avLst>
              <a:gd name="adj" fmla="val 22581"/>
            </a:avLst>
          </a:prstGeom>
          <a:solidFill>
            <a:srgbClr val="0E7C6B"/>
          </a:solidFill>
          <a:ln/>
        </p:spPr>
      </p:sp>
      <p:pic>
        <p:nvPicPr>
          <p:cNvPr id="17" name="Image 0" descr="preencoded.png">    </p:cNvPr>
          <p:cNvPicPr>
            <a:picLocks noChangeAspect="1"/>
          </p:cNvPicPr>
          <p:nvPr/>
        </p:nvPicPr>
        <p:blipFill>
          <a:blip r:embed="rId1"/>
          <a:stretch>
            <a:fillRect/>
          </a:stretch>
        </p:blipFill>
        <p:spPr>
          <a:xfrm>
            <a:off x="655991" y="4953671"/>
            <a:ext cx="260787" cy="260787"/>
          </a:xfrm>
          <a:prstGeom prst="rect">
            <a:avLst/>
          </a:prstGeom>
        </p:spPr>
      </p:pic>
      <p:pic>
        <p:nvPicPr>
          <p:cNvPr id="18" name="Image 1" descr="klu.png">    </p:cNvPr>
          <p:cNvPicPr>
            <a:picLocks noChangeAspect="1"/>
          </p:cNvPicPr>
          <p:nvPr/>
        </p:nvPicPr>
        <p:blipFill>
          <a:blip r:embed="rId2"/>
          <a:stretch>
            <a:fillRect/>
          </a:stretch>
        </p:blipFill>
        <p:spPr>
          <a:xfrm>
            <a:off x="1371600" y="4773168"/>
            <a:ext cx="1572768" cy="749808"/>
          </a:xfrm>
          <a:prstGeom prst="rect">
            <a:avLst/>
          </a:prstGeom>
        </p:spPr>
      </p:pic>
      <p:sp>
        <p:nvSpPr>
          <p:cNvPr id="19" name="Text 14"/>
          <p:cNvSpPr txBox="1"/>
          <p:nvPr/>
        </p:nvSpPr>
        <p:spPr>
          <a:xfrm>
            <a:off x="502920" y="5650992"/>
            <a:ext cx="5029200" cy="274320"/>
          </a:xfrm>
          <a:prstGeom prst="rect">
            <a:avLst/>
          </a:prstGeom>
          <a:noFill/>
          <a:ln/>
        </p:spPr>
        <p:txBody>
          <a:bodyPr wrap="square" lIns="0" tIns="0" rIns="0" bIns="0" rtlCol="0" anchor="ctr"/>
          <a:lstStyle/>
          <a:p>
            <a:pPr indent="0" marL="0">
              <a:buNone/>
            </a:pPr>
            <a:r>
              <a:rPr lang="en-US" sz="900" b="1" spc="110" kern="0" dirty="0">
                <a:solidFill>
                  <a:srgbClr val="14303B"/>
                </a:solidFill>
                <a:latin typeface="Calibri" pitchFamily="34" charset="0"/>
                <a:ea typeface="Calibri" pitchFamily="34" charset="-122"/>
                <a:cs typeface="Calibri" pitchFamily="34" charset="-120"/>
              </a:rPr>
              <a:t>KONERU LAKSHMAIAH EDUCATION FOUNDATION</a:t>
            </a:r>
            <a:endParaRPr lang="en-US" sz="900" dirty="0"/>
          </a:p>
        </p:txBody>
      </p:sp>
      <p:sp>
        <p:nvSpPr>
          <p:cNvPr id="20" name="Text 15"/>
          <p:cNvSpPr txBox="1"/>
          <p:nvPr/>
        </p:nvSpPr>
        <p:spPr>
          <a:xfrm>
            <a:off x="502920" y="6355080"/>
            <a:ext cx="6400800" cy="274320"/>
          </a:xfrm>
          <a:prstGeom prst="rect">
            <a:avLst/>
          </a:prstGeom>
          <a:noFill/>
          <a:ln/>
        </p:spPr>
        <p:txBody>
          <a:bodyPr wrap="square" lIns="0" tIns="0" rIns="0" bIns="0" rtlCol="0" anchor="ctr"/>
          <a:lstStyle/>
          <a:p>
            <a:pPr indent="0" marL="0">
              <a:buNone/>
            </a:pPr>
            <a:r>
              <a:rPr lang="en-US" sz="800" spc="160" kern="0" dirty="0">
                <a:solidFill>
                  <a:srgbClr val="8A969C"/>
                </a:solidFill>
                <a:latin typeface="Calibri" pitchFamily="34" charset="0"/>
                <a:ea typeface="Calibri" pitchFamily="34" charset="-122"/>
                <a:cs typeface="Calibri" pitchFamily="34" charset="-120"/>
              </a:rPr>
              <a:t>LIFELOG  ·  PERSONAL ACTIVITY INTELLIGENCE DATABASE</a:t>
            </a:r>
            <a:endParaRPr lang="en-US" sz="800" dirty="0"/>
          </a:p>
        </p:txBody>
      </p:sp>
      <p:sp>
        <p:nvSpPr>
          <p:cNvPr id="21" name="Text 16"/>
          <p:cNvSpPr txBox="1"/>
          <p:nvPr/>
        </p:nvSpPr>
        <p:spPr>
          <a:xfrm>
            <a:off x="10881360" y="6355080"/>
            <a:ext cx="777240" cy="274320"/>
          </a:xfrm>
          <a:prstGeom prst="rect">
            <a:avLst/>
          </a:prstGeom>
          <a:noFill/>
          <a:ln/>
        </p:spPr>
        <p:txBody>
          <a:bodyPr wrap="square" lIns="0" tIns="0" rIns="0" bIns="0" rtlCol="0" anchor="ctr"/>
          <a:lstStyle/>
          <a:p>
            <a:pPr algn="r" indent="0" marL="0">
              <a:buNone/>
            </a:pPr>
            <a:r>
              <a:rPr lang="en-US" sz="900" dirty="0">
                <a:solidFill>
                  <a:srgbClr val="8A969C"/>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561320" y="-1051560"/>
            <a:ext cx="3017520" cy="3017520"/>
          </a:xfrm>
          <a:prstGeom prst="ellipse">
            <a:avLst/>
          </a:prstGeom>
          <a:solidFill>
            <a:srgbClr val="D9EDE7"/>
          </a:solidFill>
          <a:ln/>
        </p:spPr>
      </p:sp>
      <p:sp>
        <p:nvSpPr>
          <p:cNvPr id="3" name="Shape 1"/>
          <p:cNvSpPr/>
          <p:nvPr/>
        </p:nvSpPr>
        <p:spPr>
          <a:xfrm>
            <a:off x="-594360" y="6172200"/>
            <a:ext cx="1325880" cy="1325880"/>
          </a:xfrm>
          <a:prstGeom prst="ellipse">
            <a:avLst/>
          </a:prstGeom>
          <a:solidFill>
            <a:srgbClr val="D9EDE7"/>
          </a:solidFill>
          <a:ln/>
        </p:spPr>
      </p:sp>
      <p:sp>
        <p:nvSpPr>
          <p:cNvPr id="4" name="Shape 2"/>
          <p:cNvSpPr/>
          <p:nvPr/>
        </p:nvSpPr>
        <p:spPr>
          <a:xfrm>
            <a:off x="502920" y="457200"/>
            <a:ext cx="1673352" cy="320040"/>
          </a:xfrm>
          <a:prstGeom prst="roundRect">
            <a:avLst>
              <a:gd name="adj" fmla="val 48571"/>
            </a:avLst>
          </a:prstGeom>
          <a:solidFill>
            <a:srgbClr val="D9EDE7"/>
          </a:solidFill>
          <a:ln/>
        </p:spPr>
      </p:sp>
      <p:sp>
        <p:nvSpPr>
          <p:cNvPr id="5" name="Text 3"/>
          <p:cNvSpPr txBox="1"/>
          <p:nvPr/>
        </p:nvSpPr>
        <p:spPr>
          <a:xfrm>
            <a:off x="502920" y="457200"/>
            <a:ext cx="1673352" cy="320040"/>
          </a:xfrm>
          <a:prstGeom prst="rect">
            <a:avLst/>
          </a:prstGeom>
          <a:noFill/>
          <a:ln/>
        </p:spPr>
        <p:txBody>
          <a:bodyPr wrap="square" lIns="0" tIns="0" rIns="0" bIns="0" rtlCol="0" anchor="ctr"/>
          <a:lstStyle/>
          <a:p>
            <a:pPr algn="ctr" indent="0" marL="0">
              <a:buNone/>
            </a:pPr>
            <a:r>
              <a:rPr lang="en-US" sz="1000" b="1" spc="140" kern="0" dirty="0">
                <a:solidFill>
                  <a:srgbClr val="0A5D50"/>
                </a:solidFill>
                <a:latin typeface="Calibri" pitchFamily="34" charset="0"/>
                <a:ea typeface="Calibri" pitchFamily="34" charset="-122"/>
                <a:cs typeface="Calibri" pitchFamily="34" charset="-120"/>
              </a:rPr>
              <a:t>OVERVIEW</a:t>
            </a:r>
            <a:endParaRPr lang="en-US" sz="1000" dirty="0"/>
          </a:p>
        </p:txBody>
      </p:sp>
      <p:sp>
        <p:nvSpPr>
          <p:cNvPr id="6" name="Text 4"/>
          <p:cNvSpPr txBox="1"/>
          <p:nvPr/>
        </p:nvSpPr>
        <p:spPr>
          <a:xfrm>
            <a:off x="448056" y="896112"/>
            <a:ext cx="9601200" cy="658368"/>
          </a:xfrm>
          <a:prstGeom prst="rect">
            <a:avLst/>
          </a:prstGeom>
          <a:noFill/>
          <a:ln/>
        </p:spPr>
        <p:txBody>
          <a:bodyPr wrap="square" lIns="0" tIns="0" rIns="0" bIns="0" rtlCol="0" anchor="ctr"/>
          <a:lstStyle/>
          <a:p>
            <a:pPr indent="0" marL="0">
              <a:buNone/>
            </a:pPr>
            <a:r>
              <a:rPr lang="en-US" sz="3800" b="1" dirty="0">
                <a:solidFill>
                  <a:srgbClr val="14303B"/>
                </a:solidFill>
                <a:latin typeface="Cambria" pitchFamily="34" charset="0"/>
                <a:ea typeface="Cambria" pitchFamily="34" charset="-122"/>
                <a:cs typeface="Cambria" pitchFamily="34" charset="-120"/>
              </a:rPr>
              <a:t>Abstract</a:t>
            </a:r>
            <a:endParaRPr lang="en-US" sz="3800" dirty="0"/>
          </a:p>
        </p:txBody>
      </p:sp>
      <p:sp>
        <p:nvSpPr>
          <p:cNvPr id="7" name="Text 5"/>
          <p:cNvSpPr txBox="1"/>
          <p:nvPr/>
        </p:nvSpPr>
        <p:spPr>
          <a:xfrm>
            <a:off x="502920" y="6355080"/>
            <a:ext cx="6400800" cy="274320"/>
          </a:xfrm>
          <a:prstGeom prst="rect">
            <a:avLst/>
          </a:prstGeom>
          <a:noFill/>
          <a:ln/>
        </p:spPr>
        <p:txBody>
          <a:bodyPr wrap="square" lIns="0" tIns="0" rIns="0" bIns="0" rtlCol="0" anchor="ctr"/>
          <a:lstStyle/>
          <a:p>
            <a:pPr indent="0" marL="0">
              <a:buNone/>
            </a:pPr>
            <a:r>
              <a:rPr lang="en-US" sz="800" spc="160" kern="0" dirty="0">
                <a:solidFill>
                  <a:srgbClr val="8A969C"/>
                </a:solidFill>
                <a:latin typeface="Calibri" pitchFamily="34" charset="0"/>
                <a:ea typeface="Calibri" pitchFamily="34" charset="-122"/>
                <a:cs typeface="Calibri" pitchFamily="34" charset="-120"/>
              </a:rPr>
              <a:t>LIFELOG  ·  PERSONAL ACTIVITY INTELLIGENCE DATABASE</a:t>
            </a:r>
            <a:endParaRPr lang="en-US" sz="800" dirty="0"/>
          </a:p>
        </p:txBody>
      </p:sp>
      <p:sp>
        <p:nvSpPr>
          <p:cNvPr id="8" name="Text 6"/>
          <p:cNvSpPr txBox="1"/>
          <p:nvPr/>
        </p:nvSpPr>
        <p:spPr>
          <a:xfrm>
            <a:off x="10881360" y="6355080"/>
            <a:ext cx="777240" cy="274320"/>
          </a:xfrm>
          <a:prstGeom prst="rect">
            <a:avLst/>
          </a:prstGeom>
          <a:noFill/>
          <a:ln/>
        </p:spPr>
        <p:txBody>
          <a:bodyPr wrap="square" lIns="0" tIns="0" rIns="0" bIns="0" rtlCol="0" anchor="ctr"/>
          <a:lstStyle/>
          <a:p>
            <a:pPr algn="r" indent="0" marL="0">
              <a:buNone/>
            </a:pPr>
            <a:r>
              <a:rPr lang="en-US" sz="900" dirty="0">
                <a:solidFill>
                  <a:srgbClr val="8A969C"/>
                </a:solidFill>
                <a:latin typeface="Calibri" pitchFamily="34" charset="0"/>
                <a:ea typeface="Calibri" pitchFamily="34" charset="-122"/>
                <a:cs typeface="Calibri" pitchFamily="34" charset="-120"/>
              </a:rPr>
              <a:t>2</a:t>
            </a:r>
            <a:endParaRPr lang="en-US" sz="900" dirty="0"/>
          </a:p>
        </p:txBody>
      </p:sp>
      <p:sp>
        <p:nvSpPr>
          <p:cNvPr id="9" name="Text 7"/>
          <p:cNvSpPr txBox="1"/>
          <p:nvPr/>
        </p:nvSpPr>
        <p:spPr>
          <a:xfrm>
            <a:off x="502920" y="1783080"/>
            <a:ext cx="6400800" cy="4023360"/>
          </a:xfrm>
          <a:prstGeom prst="rect">
            <a:avLst/>
          </a:prstGeom>
          <a:noFill/>
          <a:ln/>
        </p:spPr>
        <p:txBody>
          <a:bodyPr wrap="square" lIns="0" tIns="0" rIns="0" bIns="0" rtlCol="0" anchor="t"/>
          <a:lstStyle/>
          <a:p>
            <a:pPr indent="0" marL="0">
              <a:lnSpc>
                <a:spcPct val="132000"/>
              </a:lnSpc>
              <a:spcAft>
                <a:spcPts val="1200"/>
              </a:spcAft>
              <a:buNone/>
            </a:pPr>
            <a:r>
              <a:rPr lang="en-US" sz="1350" dirty="0">
                <a:solidFill>
                  <a:srgbClr val="3F4C53"/>
                </a:solidFill>
                <a:latin typeface="Calibri" pitchFamily="34" charset="0"/>
                <a:ea typeface="Calibri" pitchFamily="34" charset="-122"/>
                <a:cs typeface="Calibri" pitchFamily="34" charset="-120"/>
              </a:rPr>
              <a:t>LifeLog is a unified personal activity tracking and analytics system built on a single relational database. It records daily activities, study sessions, expenses, food intake, transport, screen time, mood, sleep, locations and personal goals in one place.</a:t>
            </a:r>
            <a:endParaRPr lang="en-US" sz="1350" dirty="0"/>
          </a:p>
          <a:p>
            <a:pPr indent="0" marL="0">
              <a:lnSpc>
                <a:spcPct val="132000"/>
              </a:lnSpc>
              <a:spcAft>
                <a:spcPts val="1200"/>
              </a:spcAft>
              <a:buNone/>
            </a:pPr>
            <a:r>
              <a:rPr lang="en-US" sz="1350" dirty="0">
                <a:solidFill>
                  <a:srgbClr val="3F4C53"/>
                </a:solidFill>
                <a:latin typeface="Calibri" pitchFamily="34" charset="0"/>
                <a:ea typeface="Calibri" pitchFamily="34" charset="-122"/>
                <a:cs typeface="Calibri" pitchFamily="34" charset="-120"/>
              </a:rPr>
              <a:t>Instead of leaving this information scattered across notebooks and unrelated apps, the system stores every entry as structured, validated data owned by a single authenticated user. SQL joins, aggregate queries and views then turn those raw rows into daily summaries, trends and reports.</a:t>
            </a:r>
            <a:endParaRPr lang="en-US" sz="1350" dirty="0"/>
          </a:p>
          <a:p>
            <a:pPr indent="0" marL="0">
              <a:lnSpc>
                <a:spcPct val="132000"/>
              </a:lnSpc>
              <a:buNone/>
            </a:pPr>
            <a:r>
              <a:rPr lang="en-US" sz="1350" dirty="0">
                <a:solidFill>
                  <a:srgbClr val="3F4C53"/>
                </a:solidFill>
                <a:latin typeface="Calibri" pitchFamily="34" charset="0"/>
                <a:ea typeface="Calibri" pitchFamily="34" charset="-122"/>
                <a:cs typeface="Calibri" pitchFamily="34" charset="-120"/>
              </a:rPr>
              <a:t>The project is implemented with a MySQL database, a Spring Boot REST backend and an HTML, CSS and JavaScript dashboard, demonstrating normalization, constraints, keys, views, stored procedures, triggers and transactions in a working application.</a:t>
            </a:r>
            <a:endParaRPr lang="en-US" sz="1350" dirty="0"/>
          </a:p>
        </p:txBody>
      </p:sp>
      <p:sp>
        <p:nvSpPr>
          <p:cNvPr id="10" name="Shape 8"/>
          <p:cNvSpPr/>
          <p:nvPr/>
        </p:nvSpPr>
        <p:spPr>
          <a:xfrm>
            <a:off x="7360920" y="1783080"/>
            <a:ext cx="4315968" cy="1078992"/>
          </a:xfrm>
          <a:prstGeom prst="roundRect">
            <a:avLst>
              <a:gd name="adj" fmla="val 5085"/>
            </a:avLst>
          </a:prstGeom>
          <a:solidFill>
            <a:srgbClr val="F1F6F4"/>
          </a:solidFill>
          <a:ln/>
        </p:spPr>
      </p:sp>
      <p:sp>
        <p:nvSpPr>
          <p:cNvPr id="11" name="Text 9"/>
          <p:cNvSpPr txBox="1"/>
          <p:nvPr/>
        </p:nvSpPr>
        <p:spPr>
          <a:xfrm>
            <a:off x="7635240" y="1911096"/>
            <a:ext cx="3657600" cy="457200"/>
          </a:xfrm>
          <a:prstGeom prst="rect">
            <a:avLst/>
          </a:prstGeom>
          <a:noFill/>
          <a:ln/>
        </p:spPr>
        <p:txBody>
          <a:bodyPr wrap="square" lIns="0" tIns="0" rIns="0" bIns="0" rtlCol="0" anchor="ctr"/>
          <a:lstStyle/>
          <a:p>
            <a:pPr indent="0" marL="0">
              <a:buNone/>
            </a:pPr>
            <a:r>
              <a:rPr lang="en-US" sz="2600" b="1" dirty="0">
                <a:solidFill>
                  <a:srgbClr val="0E7C6B"/>
                </a:solidFill>
                <a:latin typeface="Cambria" pitchFamily="34" charset="0"/>
                <a:ea typeface="Cambria" pitchFamily="34" charset="-122"/>
                <a:cs typeface="Cambria" pitchFamily="34" charset="-120"/>
              </a:rPr>
              <a:t>14</a:t>
            </a:r>
            <a:endParaRPr lang="en-US" sz="2600" dirty="0"/>
          </a:p>
        </p:txBody>
      </p:sp>
      <p:sp>
        <p:nvSpPr>
          <p:cNvPr id="12" name="Text 10"/>
          <p:cNvSpPr txBox="1"/>
          <p:nvPr/>
        </p:nvSpPr>
        <p:spPr>
          <a:xfrm>
            <a:off x="7635240" y="2386584"/>
            <a:ext cx="3749040" cy="292608"/>
          </a:xfrm>
          <a:prstGeom prst="rect">
            <a:avLst/>
          </a:prstGeom>
          <a:noFill/>
          <a:ln/>
        </p:spPr>
        <p:txBody>
          <a:bodyPr wrap="square" lIns="0" tIns="0" rIns="0" bIns="0" rtlCol="0" anchor="ctr"/>
          <a:lstStyle/>
          <a:p>
            <a:pPr indent="0" marL="0">
              <a:buNone/>
            </a:pPr>
            <a:r>
              <a:rPr lang="en-US" sz="1150" dirty="0">
                <a:solidFill>
                  <a:srgbClr val="8A969C"/>
                </a:solidFill>
                <a:latin typeface="Calibri" pitchFamily="34" charset="0"/>
                <a:ea typeface="Calibri" pitchFamily="34" charset="-122"/>
                <a:cs typeface="Calibri" pitchFamily="34" charset="-120"/>
              </a:rPr>
              <a:t>Normalized relational tables</a:t>
            </a:r>
            <a:endParaRPr lang="en-US" sz="1150" dirty="0"/>
          </a:p>
        </p:txBody>
      </p:sp>
      <p:sp>
        <p:nvSpPr>
          <p:cNvPr id="13" name="Shape 11"/>
          <p:cNvSpPr/>
          <p:nvPr/>
        </p:nvSpPr>
        <p:spPr>
          <a:xfrm>
            <a:off x="7360920" y="3108960"/>
            <a:ext cx="4315968" cy="1078992"/>
          </a:xfrm>
          <a:prstGeom prst="roundRect">
            <a:avLst>
              <a:gd name="adj" fmla="val 5085"/>
            </a:avLst>
          </a:prstGeom>
          <a:solidFill>
            <a:srgbClr val="F1F6F4"/>
          </a:solidFill>
          <a:ln/>
        </p:spPr>
      </p:sp>
      <p:sp>
        <p:nvSpPr>
          <p:cNvPr id="14" name="Text 12"/>
          <p:cNvSpPr txBox="1"/>
          <p:nvPr/>
        </p:nvSpPr>
        <p:spPr>
          <a:xfrm>
            <a:off x="7635240" y="3236976"/>
            <a:ext cx="3657600" cy="457200"/>
          </a:xfrm>
          <a:prstGeom prst="rect">
            <a:avLst/>
          </a:prstGeom>
          <a:noFill/>
          <a:ln/>
        </p:spPr>
        <p:txBody>
          <a:bodyPr wrap="square" lIns="0" tIns="0" rIns="0" bIns="0" rtlCol="0" anchor="ctr"/>
          <a:lstStyle/>
          <a:p>
            <a:pPr indent="0" marL="0">
              <a:buNone/>
            </a:pPr>
            <a:r>
              <a:rPr lang="en-US" sz="2600" b="1" dirty="0">
                <a:solidFill>
                  <a:srgbClr val="0E7C6B"/>
                </a:solidFill>
                <a:latin typeface="Cambria" pitchFamily="34" charset="0"/>
                <a:ea typeface="Cambria" pitchFamily="34" charset="-122"/>
                <a:cs typeface="Cambria" pitchFamily="34" charset="-120"/>
              </a:rPr>
              <a:t>100%</a:t>
            </a:r>
            <a:endParaRPr lang="en-US" sz="2600" dirty="0"/>
          </a:p>
        </p:txBody>
      </p:sp>
      <p:sp>
        <p:nvSpPr>
          <p:cNvPr id="15" name="Text 13"/>
          <p:cNvSpPr txBox="1"/>
          <p:nvPr/>
        </p:nvSpPr>
        <p:spPr>
          <a:xfrm>
            <a:off x="7635240" y="3712464"/>
            <a:ext cx="3749040" cy="292608"/>
          </a:xfrm>
          <a:prstGeom prst="rect">
            <a:avLst/>
          </a:prstGeom>
          <a:noFill/>
          <a:ln/>
        </p:spPr>
        <p:txBody>
          <a:bodyPr wrap="square" lIns="0" tIns="0" rIns="0" bIns="0" rtlCol="0" anchor="ctr"/>
          <a:lstStyle/>
          <a:p>
            <a:pPr indent="0" marL="0">
              <a:buNone/>
            </a:pPr>
            <a:r>
              <a:rPr lang="en-US" sz="1150" dirty="0">
                <a:solidFill>
                  <a:srgbClr val="8A969C"/>
                </a:solidFill>
                <a:latin typeface="Calibri" pitchFamily="34" charset="0"/>
                <a:ea typeface="Calibri" pitchFamily="34" charset="-122"/>
                <a:cs typeface="Calibri" pitchFamily="34" charset="-120"/>
              </a:rPr>
              <a:t>Centralized personal records</a:t>
            </a:r>
            <a:endParaRPr lang="en-US" sz="1150" dirty="0"/>
          </a:p>
        </p:txBody>
      </p:sp>
      <p:sp>
        <p:nvSpPr>
          <p:cNvPr id="16" name="Shape 14"/>
          <p:cNvSpPr/>
          <p:nvPr/>
        </p:nvSpPr>
        <p:spPr>
          <a:xfrm>
            <a:off x="7360920" y="4434840"/>
            <a:ext cx="4315968" cy="1078992"/>
          </a:xfrm>
          <a:prstGeom prst="roundRect">
            <a:avLst>
              <a:gd name="adj" fmla="val 5085"/>
            </a:avLst>
          </a:prstGeom>
          <a:solidFill>
            <a:srgbClr val="F1F6F4"/>
          </a:solidFill>
          <a:ln/>
        </p:spPr>
      </p:sp>
      <p:sp>
        <p:nvSpPr>
          <p:cNvPr id="17" name="Text 15"/>
          <p:cNvSpPr txBox="1"/>
          <p:nvPr/>
        </p:nvSpPr>
        <p:spPr>
          <a:xfrm>
            <a:off x="7635240" y="4562856"/>
            <a:ext cx="3657600" cy="457200"/>
          </a:xfrm>
          <a:prstGeom prst="rect">
            <a:avLst/>
          </a:prstGeom>
          <a:noFill/>
          <a:ln/>
        </p:spPr>
        <p:txBody>
          <a:bodyPr wrap="square" lIns="0" tIns="0" rIns="0" bIns="0" rtlCol="0" anchor="ctr"/>
          <a:lstStyle/>
          <a:p>
            <a:pPr indent="0" marL="0">
              <a:buNone/>
            </a:pPr>
            <a:r>
              <a:rPr lang="en-US" sz="2600" b="1" dirty="0">
                <a:solidFill>
                  <a:srgbClr val="0E7C6B"/>
                </a:solidFill>
                <a:latin typeface="Cambria" pitchFamily="34" charset="0"/>
                <a:ea typeface="Cambria" pitchFamily="34" charset="-122"/>
                <a:cs typeface="Cambria" pitchFamily="34" charset="-120"/>
              </a:rPr>
              <a:t>SQL</a:t>
            </a:r>
            <a:endParaRPr lang="en-US" sz="2600" dirty="0"/>
          </a:p>
        </p:txBody>
      </p:sp>
      <p:sp>
        <p:nvSpPr>
          <p:cNvPr id="18" name="Text 16"/>
          <p:cNvSpPr txBox="1"/>
          <p:nvPr/>
        </p:nvSpPr>
        <p:spPr>
          <a:xfrm>
            <a:off x="7635240" y="5038344"/>
            <a:ext cx="3749040" cy="292608"/>
          </a:xfrm>
          <a:prstGeom prst="rect">
            <a:avLst/>
          </a:prstGeom>
          <a:noFill/>
          <a:ln/>
        </p:spPr>
        <p:txBody>
          <a:bodyPr wrap="square" lIns="0" tIns="0" rIns="0" bIns="0" rtlCol="0" anchor="ctr"/>
          <a:lstStyle/>
          <a:p>
            <a:pPr indent="0" marL="0">
              <a:buNone/>
            </a:pPr>
            <a:r>
              <a:rPr lang="en-US" sz="1150" dirty="0">
                <a:solidFill>
                  <a:srgbClr val="8A969C"/>
                </a:solidFill>
                <a:latin typeface="Calibri" pitchFamily="34" charset="0"/>
                <a:ea typeface="Calibri" pitchFamily="34" charset="-122"/>
                <a:cs typeface="Calibri" pitchFamily="34" charset="-120"/>
              </a:rPr>
              <a:t>Views, procedures &amp; triggers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561320" y="-1051560"/>
            <a:ext cx="3017520" cy="3017520"/>
          </a:xfrm>
          <a:prstGeom prst="ellipse">
            <a:avLst/>
          </a:prstGeom>
          <a:solidFill>
            <a:srgbClr val="D9EDE7"/>
          </a:solidFill>
          <a:ln/>
        </p:spPr>
      </p:sp>
      <p:sp>
        <p:nvSpPr>
          <p:cNvPr id="3" name="Shape 1"/>
          <p:cNvSpPr/>
          <p:nvPr/>
        </p:nvSpPr>
        <p:spPr>
          <a:xfrm>
            <a:off x="-594360" y="6172200"/>
            <a:ext cx="1325880" cy="1325880"/>
          </a:xfrm>
          <a:prstGeom prst="ellipse">
            <a:avLst/>
          </a:prstGeom>
          <a:solidFill>
            <a:srgbClr val="D9EDE7"/>
          </a:solidFill>
          <a:ln/>
        </p:spPr>
      </p:sp>
      <p:sp>
        <p:nvSpPr>
          <p:cNvPr id="4" name="Shape 2"/>
          <p:cNvSpPr/>
          <p:nvPr/>
        </p:nvSpPr>
        <p:spPr>
          <a:xfrm>
            <a:off x="502920" y="457200"/>
            <a:ext cx="1965960" cy="320040"/>
          </a:xfrm>
          <a:prstGeom prst="roundRect">
            <a:avLst>
              <a:gd name="adj" fmla="val 48571"/>
            </a:avLst>
          </a:prstGeom>
          <a:solidFill>
            <a:srgbClr val="D9EDE7"/>
          </a:solidFill>
          <a:ln/>
        </p:spPr>
      </p:sp>
      <p:sp>
        <p:nvSpPr>
          <p:cNvPr id="5" name="Text 3"/>
          <p:cNvSpPr txBox="1"/>
          <p:nvPr/>
        </p:nvSpPr>
        <p:spPr>
          <a:xfrm>
            <a:off x="502920" y="457200"/>
            <a:ext cx="1965960" cy="320040"/>
          </a:xfrm>
          <a:prstGeom prst="rect">
            <a:avLst/>
          </a:prstGeom>
          <a:noFill/>
          <a:ln/>
        </p:spPr>
        <p:txBody>
          <a:bodyPr wrap="square" lIns="0" tIns="0" rIns="0" bIns="0" rtlCol="0" anchor="ctr"/>
          <a:lstStyle/>
          <a:p>
            <a:pPr algn="ctr" indent="0" marL="0">
              <a:buNone/>
            </a:pPr>
            <a:r>
              <a:rPr lang="en-US" sz="1000" b="1" spc="140" kern="0" dirty="0">
                <a:solidFill>
                  <a:srgbClr val="0A5D50"/>
                </a:solidFill>
                <a:latin typeface="Calibri" pitchFamily="34" charset="0"/>
                <a:ea typeface="Calibri" pitchFamily="34" charset="-122"/>
                <a:cs typeface="Calibri" pitchFamily="34" charset="-120"/>
              </a:rPr>
              <a:t>BACKGROUND</a:t>
            </a:r>
            <a:endParaRPr lang="en-US" sz="1000" dirty="0"/>
          </a:p>
        </p:txBody>
      </p:sp>
      <p:sp>
        <p:nvSpPr>
          <p:cNvPr id="6" name="Text 4"/>
          <p:cNvSpPr txBox="1"/>
          <p:nvPr/>
        </p:nvSpPr>
        <p:spPr>
          <a:xfrm>
            <a:off x="448056" y="896112"/>
            <a:ext cx="9601200" cy="658368"/>
          </a:xfrm>
          <a:prstGeom prst="rect">
            <a:avLst/>
          </a:prstGeom>
          <a:noFill/>
          <a:ln/>
        </p:spPr>
        <p:txBody>
          <a:bodyPr wrap="square" lIns="0" tIns="0" rIns="0" bIns="0" rtlCol="0" anchor="ctr"/>
          <a:lstStyle/>
          <a:p>
            <a:pPr indent="0" marL="0">
              <a:buNone/>
            </a:pPr>
            <a:r>
              <a:rPr lang="en-US" sz="3800" b="1" dirty="0">
                <a:solidFill>
                  <a:srgbClr val="14303B"/>
                </a:solidFill>
                <a:latin typeface="Cambria" pitchFamily="34" charset="0"/>
                <a:ea typeface="Cambria" pitchFamily="34" charset="-122"/>
                <a:cs typeface="Cambria" pitchFamily="34" charset="-120"/>
              </a:rPr>
              <a:t>Introduction</a:t>
            </a:r>
            <a:endParaRPr lang="en-US" sz="3800" dirty="0"/>
          </a:p>
        </p:txBody>
      </p:sp>
      <p:sp>
        <p:nvSpPr>
          <p:cNvPr id="7" name="Text 5"/>
          <p:cNvSpPr txBox="1"/>
          <p:nvPr/>
        </p:nvSpPr>
        <p:spPr>
          <a:xfrm>
            <a:off x="502920" y="6355080"/>
            <a:ext cx="6400800" cy="274320"/>
          </a:xfrm>
          <a:prstGeom prst="rect">
            <a:avLst/>
          </a:prstGeom>
          <a:noFill/>
          <a:ln/>
        </p:spPr>
        <p:txBody>
          <a:bodyPr wrap="square" lIns="0" tIns="0" rIns="0" bIns="0" rtlCol="0" anchor="ctr"/>
          <a:lstStyle/>
          <a:p>
            <a:pPr indent="0" marL="0">
              <a:buNone/>
            </a:pPr>
            <a:r>
              <a:rPr lang="en-US" sz="800" spc="160" kern="0" dirty="0">
                <a:solidFill>
                  <a:srgbClr val="8A969C"/>
                </a:solidFill>
                <a:latin typeface="Calibri" pitchFamily="34" charset="0"/>
                <a:ea typeface="Calibri" pitchFamily="34" charset="-122"/>
                <a:cs typeface="Calibri" pitchFamily="34" charset="-120"/>
              </a:rPr>
              <a:t>LIFELOG  ·  PERSONAL ACTIVITY INTELLIGENCE DATABASE</a:t>
            </a:r>
            <a:endParaRPr lang="en-US" sz="800" dirty="0"/>
          </a:p>
        </p:txBody>
      </p:sp>
      <p:sp>
        <p:nvSpPr>
          <p:cNvPr id="8" name="Text 6"/>
          <p:cNvSpPr txBox="1"/>
          <p:nvPr/>
        </p:nvSpPr>
        <p:spPr>
          <a:xfrm>
            <a:off x="10881360" y="6355080"/>
            <a:ext cx="777240" cy="274320"/>
          </a:xfrm>
          <a:prstGeom prst="rect">
            <a:avLst/>
          </a:prstGeom>
          <a:noFill/>
          <a:ln/>
        </p:spPr>
        <p:txBody>
          <a:bodyPr wrap="square" lIns="0" tIns="0" rIns="0" bIns="0" rtlCol="0" anchor="ctr"/>
          <a:lstStyle/>
          <a:p>
            <a:pPr algn="r" indent="0" marL="0">
              <a:buNone/>
            </a:pPr>
            <a:r>
              <a:rPr lang="en-US" sz="900" dirty="0">
                <a:solidFill>
                  <a:srgbClr val="8A969C"/>
                </a:solidFill>
                <a:latin typeface="Calibri" pitchFamily="34" charset="0"/>
                <a:ea typeface="Calibri" pitchFamily="34" charset="-122"/>
                <a:cs typeface="Calibri" pitchFamily="34" charset="-120"/>
              </a:rPr>
              <a:t>3</a:t>
            </a:r>
            <a:endParaRPr lang="en-US" sz="900" dirty="0"/>
          </a:p>
        </p:txBody>
      </p:sp>
      <p:sp>
        <p:nvSpPr>
          <p:cNvPr id="9" name="Text 7"/>
          <p:cNvSpPr txBox="1"/>
          <p:nvPr/>
        </p:nvSpPr>
        <p:spPr>
          <a:xfrm>
            <a:off x="502920" y="1783080"/>
            <a:ext cx="6126480" cy="3931920"/>
          </a:xfrm>
          <a:prstGeom prst="rect">
            <a:avLst/>
          </a:prstGeom>
          <a:noFill/>
          <a:ln/>
        </p:spPr>
        <p:txBody>
          <a:bodyPr wrap="square" lIns="0" tIns="0" rIns="0" bIns="0" rtlCol="0" anchor="t"/>
          <a:lstStyle/>
          <a:p>
            <a:pPr indent="0" marL="0">
              <a:lnSpc>
                <a:spcPct val="132000"/>
              </a:lnSpc>
              <a:spcAft>
                <a:spcPts val="1200"/>
              </a:spcAft>
              <a:buNone/>
            </a:pPr>
            <a:r>
              <a:rPr lang="en-US" sz="1350" dirty="0">
                <a:solidFill>
                  <a:srgbClr val="3F4C53"/>
                </a:solidFill>
                <a:latin typeface="Calibri" pitchFamily="34" charset="0"/>
                <a:ea typeface="Calibri" pitchFamily="34" charset="-122"/>
                <a:cs typeface="Calibri" pitchFamily="34" charset="-120"/>
              </a:rPr>
              <a:t>People generate a large amount of personal data every day — what they studied, what they spent, what they ate, how they travelled, how long they stared at a screen, how they slept and how they felt. This information is usually recorded in separate apps or not recorded at all.</a:t>
            </a:r>
            <a:endParaRPr lang="en-US" sz="1350" dirty="0"/>
          </a:p>
          <a:p>
            <a:pPr indent="0" marL="0">
              <a:lnSpc>
                <a:spcPct val="132000"/>
              </a:lnSpc>
              <a:spcAft>
                <a:spcPts val="1200"/>
              </a:spcAft>
              <a:buNone/>
            </a:pPr>
            <a:r>
              <a:rPr lang="en-US" sz="1350" dirty="0">
                <a:solidFill>
                  <a:srgbClr val="3F4C53"/>
                </a:solidFill>
                <a:latin typeface="Calibri" pitchFamily="34" charset="0"/>
                <a:ea typeface="Calibri" pitchFamily="34" charset="-122"/>
                <a:cs typeface="Calibri" pitchFamily="34" charset="-120"/>
              </a:rPr>
              <a:t>Because the data lives in silos, no single question can be answered across it. A student cannot easily see whether poor sleep affected study focus, or how much of a month's spending went to food.</a:t>
            </a:r>
            <a:endParaRPr lang="en-US" sz="1350" dirty="0"/>
          </a:p>
          <a:p>
            <a:pPr indent="0" marL="0">
              <a:lnSpc>
                <a:spcPct val="132000"/>
              </a:lnSpc>
              <a:buNone/>
            </a:pPr>
            <a:r>
              <a:rPr lang="en-US" sz="1350" dirty="0">
                <a:solidFill>
                  <a:srgbClr val="3F4C53"/>
                </a:solidFill>
                <a:latin typeface="Calibri" pitchFamily="34" charset="0"/>
                <a:ea typeface="Calibri" pitchFamily="34" charset="-122"/>
                <a:cs typeface="Calibri" pitchFamily="34" charset="-120"/>
              </a:rPr>
              <a:t>LifeLog solves this by modelling every domain as a related table inside one normalized MySQL database, with a common user and daily-log backbone linking them together.</a:t>
            </a:r>
            <a:endParaRPr lang="en-US" sz="1350" dirty="0"/>
          </a:p>
        </p:txBody>
      </p:sp>
      <p:sp>
        <p:nvSpPr>
          <p:cNvPr id="10" name="Shape 8"/>
          <p:cNvSpPr/>
          <p:nvPr/>
        </p:nvSpPr>
        <p:spPr>
          <a:xfrm>
            <a:off x="7086600" y="1783080"/>
            <a:ext cx="4590288" cy="3977640"/>
          </a:xfrm>
          <a:prstGeom prst="roundRect">
            <a:avLst>
              <a:gd name="adj" fmla="val 1149"/>
            </a:avLst>
          </a:prstGeom>
          <a:solidFill>
            <a:srgbClr val="14303B"/>
          </a:solidFill>
          <a:ln/>
        </p:spPr>
      </p:sp>
      <p:sp>
        <p:nvSpPr>
          <p:cNvPr id="11" name="Text 9"/>
          <p:cNvSpPr txBox="1"/>
          <p:nvPr/>
        </p:nvSpPr>
        <p:spPr>
          <a:xfrm>
            <a:off x="7406640" y="2011680"/>
            <a:ext cx="402336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Built on core DBMS concepts</a:t>
            </a:r>
            <a:endParaRPr lang="en-US" sz="1800" dirty="0"/>
          </a:p>
        </p:txBody>
      </p:sp>
      <p:sp>
        <p:nvSpPr>
          <p:cNvPr id="12" name="Text 10"/>
          <p:cNvSpPr txBox="1"/>
          <p:nvPr/>
        </p:nvSpPr>
        <p:spPr>
          <a:xfrm>
            <a:off x="7406640" y="2542032"/>
            <a:ext cx="3977640" cy="3017520"/>
          </a:xfrm>
          <a:prstGeom prst="rect">
            <a:avLst/>
          </a:prstGeom>
          <a:noFill/>
          <a:ln/>
        </p:spPr>
        <p:txBody>
          <a:bodyPr wrap="square" lIns="0" tIns="0" rIns="0" bIns="0" rtlCol="0" anchor="t"/>
          <a:lstStyle/>
          <a:p>
            <a:pPr marL="342900" indent="-342900">
              <a:spcAft>
                <a:spcPts val="2000"/>
              </a:spcAft>
              <a:buSzPct val="100000"/>
              <a:buChar char="•"/>
            </a:pPr>
            <a:r>
              <a:rPr lang="en-US" sz="1250" dirty="0">
                <a:solidFill>
                  <a:srgbClr val="E4EEF0"/>
                </a:solidFill>
                <a:latin typeface="Calibri" pitchFamily="34" charset="0"/>
                <a:ea typeface="Calibri" pitchFamily="34" charset="-122"/>
                <a:cs typeface="Calibri" pitchFamily="34" charset="-120"/>
              </a:rPr>
              <a:t>Normalization up to 3NF</a:t>
            </a:r>
            <a:endParaRPr lang="en-US" sz="1250" dirty="0"/>
          </a:p>
          <a:p>
            <a:pPr marL="342900" indent="-342900">
              <a:spcAft>
                <a:spcPts val="2000"/>
              </a:spcAft>
              <a:buSzPct val="100000"/>
              <a:buChar char="•"/>
            </a:pPr>
            <a:r>
              <a:rPr lang="en-US" sz="1250" dirty="0">
                <a:solidFill>
                  <a:srgbClr val="E4EEF0"/>
                </a:solidFill>
                <a:latin typeface="Calibri" pitchFamily="34" charset="0"/>
                <a:ea typeface="Calibri" pitchFamily="34" charset="-122"/>
                <a:cs typeface="Calibri" pitchFamily="34" charset="-120"/>
              </a:rPr>
              <a:t>Primary, foreign &amp; composite keys</a:t>
            </a:r>
            <a:endParaRPr lang="en-US" sz="1250" dirty="0"/>
          </a:p>
          <a:p>
            <a:pPr marL="342900" indent="-342900">
              <a:spcAft>
                <a:spcPts val="2000"/>
              </a:spcAft>
              <a:buSzPct val="100000"/>
              <a:buChar char="•"/>
            </a:pPr>
            <a:r>
              <a:rPr lang="en-US" sz="1250" dirty="0">
                <a:solidFill>
                  <a:srgbClr val="E4EEF0"/>
                </a:solidFill>
                <a:latin typeface="Calibri" pitchFamily="34" charset="0"/>
                <a:ea typeface="Calibri" pitchFamily="34" charset="-122"/>
                <a:cs typeface="Calibri" pitchFamily="34" charset="-120"/>
              </a:rPr>
              <a:t>Joins, subqueries &amp; aggregation</a:t>
            </a:r>
            <a:endParaRPr lang="en-US" sz="1250" dirty="0"/>
          </a:p>
          <a:p>
            <a:pPr marL="342900" indent="-342900">
              <a:spcAft>
                <a:spcPts val="2000"/>
              </a:spcAft>
              <a:buSzPct val="100000"/>
              <a:buChar char="•"/>
            </a:pPr>
            <a:r>
              <a:rPr lang="en-US" sz="1250" dirty="0">
                <a:solidFill>
                  <a:srgbClr val="E4EEF0"/>
                </a:solidFill>
                <a:latin typeface="Calibri" pitchFamily="34" charset="0"/>
                <a:ea typeface="Calibri" pitchFamily="34" charset="-122"/>
                <a:cs typeface="Calibri" pitchFamily="34" charset="-120"/>
              </a:rPr>
              <a:t>Views and stored procedures</a:t>
            </a:r>
            <a:endParaRPr lang="en-US" sz="1250" dirty="0"/>
          </a:p>
          <a:p>
            <a:pPr marL="342900" indent="-342900">
              <a:spcAft>
                <a:spcPts val="2000"/>
              </a:spcAft>
              <a:buSzPct val="100000"/>
              <a:buChar char="•"/>
            </a:pPr>
            <a:r>
              <a:rPr lang="en-US" sz="1250" dirty="0">
                <a:solidFill>
                  <a:srgbClr val="E4EEF0"/>
                </a:solidFill>
                <a:latin typeface="Calibri" pitchFamily="34" charset="0"/>
                <a:ea typeface="Calibri" pitchFamily="34" charset="-122"/>
                <a:cs typeface="Calibri" pitchFamily="34" charset="-120"/>
              </a:rPr>
              <a:t>Triggers and transactions</a:t>
            </a:r>
            <a:endParaRPr lang="en-US" sz="1250" dirty="0"/>
          </a:p>
          <a:p>
            <a:pPr marL="342900" indent="-342900">
              <a:spcAft>
                <a:spcPts val="2000"/>
              </a:spcAft>
              <a:buSzPct val="100000"/>
              <a:buChar char="•"/>
            </a:pPr>
            <a:r>
              <a:rPr lang="en-US" sz="1250" dirty="0">
                <a:solidFill>
                  <a:srgbClr val="E4EEF0"/>
                </a:solidFill>
                <a:latin typeface="Calibri" pitchFamily="34" charset="0"/>
                <a:ea typeface="Calibri" pitchFamily="34" charset="-122"/>
                <a:cs typeface="Calibri" pitchFamily="34" charset="-120"/>
              </a:rPr>
              <a:t>Indexing and referential integrity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561320" y="-1051560"/>
            <a:ext cx="3017520" cy="3017520"/>
          </a:xfrm>
          <a:prstGeom prst="ellipse">
            <a:avLst/>
          </a:prstGeom>
          <a:solidFill>
            <a:srgbClr val="D9EDE7"/>
          </a:solidFill>
          <a:ln/>
        </p:spPr>
      </p:sp>
      <p:sp>
        <p:nvSpPr>
          <p:cNvPr id="3" name="Shape 1"/>
          <p:cNvSpPr/>
          <p:nvPr/>
        </p:nvSpPr>
        <p:spPr>
          <a:xfrm>
            <a:off x="-594360" y="6172200"/>
            <a:ext cx="1325880" cy="1325880"/>
          </a:xfrm>
          <a:prstGeom prst="ellipse">
            <a:avLst/>
          </a:prstGeom>
          <a:solidFill>
            <a:srgbClr val="D9EDE7"/>
          </a:solidFill>
          <a:ln/>
        </p:spPr>
      </p:sp>
      <p:sp>
        <p:nvSpPr>
          <p:cNvPr id="4" name="Shape 2"/>
          <p:cNvSpPr/>
          <p:nvPr/>
        </p:nvSpPr>
        <p:spPr>
          <a:xfrm>
            <a:off x="502920" y="457200"/>
            <a:ext cx="2404872" cy="320040"/>
          </a:xfrm>
          <a:prstGeom prst="roundRect">
            <a:avLst>
              <a:gd name="adj" fmla="val 48571"/>
            </a:avLst>
          </a:prstGeom>
          <a:solidFill>
            <a:srgbClr val="D9EDE7"/>
          </a:solidFill>
          <a:ln/>
        </p:spPr>
      </p:sp>
      <p:sp>
        <p:nvSpPr>
          <p:cNvPr id="5" name="Text 3"/>
          <p:cNvSpPr txBox="1"/>
          <p:nvPr/>
        </p:nvSpPr>
        <p:spPr>
          <a:xfrm>
            <a:off x="502920" y="457200"/>
            <a:ext cx="2404872" cy="320040"/>
          </a:xfrm>
          <a:prstGeom prst="rect">
            <a:avLst/>
          </a:prstGeom>
          <a:noFill/>
          <a:ln/>
        </p:spPr>
        <p:txBody>
          <a:bodyPr wrap="square" lIns="0" tIns="0" rIns="0" bIns="0" rtlCol="0" anchor="ctr"/>
          <a:lstStyle/>
          <a:p>
            <a:pPr algn="ctr" indent="0" marL="0">
              <a:buNone/>
            </a:pPr>
            <a:r>
              <a:rPr lang="en-US" sz="1000" b="1" spc="140" kern="0" dirty="0">
                <a:solidFill>
                  <a:srgbClr val="0A5D50"/>
                </a:solidFill>
                <a:latin typeface="Calibri" pitchFamily="34" charset="0"/>
                <a:ea typeface="Calibri" pitchFamily="34" charset="-122"/>
                <a:cs typeface="Calibri" pitchFamily="34" charset="-120"/>
              </a:rPr>
              <a:t>CURRENT STATE</a:t>
            </a:r>
            <a:endParaRPr lang="en-US" sz="1000" dirty="0"/>
          </a:p>
        </p:txBody>
      </p:sp>
      <p:sp>
        <p:nvSpPr>
          <p:cNvPr id="6" name="Text 4"/>
          <p:cNvSpPr txBox="1"/>
          <p:nvPr/>
        </p:nvSpPr>
        <p:spPr>
          <a:xfrm>
            <a:off x="448056" y="896112"/>
            <a:ext cx="9601200" cy="658368"/>
          </a:xfrm>
          <a:prstGeom prst="rect">
            <a:avLst/>
          </a:prstGeom>
          <a:noFill/>
          <a:ln/>
        </p:spPr>
        <p:txBody>
          <a:bodyPr wrap="square" lIns="0" tIns="0" rIns="0" bIns="0" rtlCol="0" anchor="ctr"/>
          <a:lstStyle/>
          <a:p>
            <a:pPr indent="0" marL="0">
              <a:buNone/>
            </a:pPr>
            <a:r>
              <a:rPr lang="en-US" sz="3800" b="1" dirty="0">
                <a:solidFill>
                  <a:srgbClr val="14303B"/>
                </a:solidFill>
                <a:latin typeface="Cambria" pitchFamily="34" charset="0"/>
                <a:ea typeface="Cambria" pitchFamily="34" charset="-122"/>
                <a:cs typeface="Cambria" pitchFamily="34" charset="-120"/>
              </a:rPr>
              <a:t>Existing System</a:t>
            </a:r>
            <a:endParaRPr lang="en-US" sz="3800" dirty="0"/>
          </a:p>
        </p:txBody>
      </p:sp>
      <p:sp>
        <p:nvSpPr>
          <p:cNvPr id="7" name="Text 5"/>
          <p:cNvSpPr txBox="1"/>
          <p:nvPr/>
        </p:nvSpPr>
        <p:spPr>
          <a:xfrm>
            <a:off x="502920" y="6355080"/>
            <a:ext cx="6400800" cy="274320"/>
          </a:xfrm>
          <a:prstGeom prst="rect">
            <a:avLst/>
          </a:prstGeom>
          <a:noFill/>
          <a:ln/>
        </p:spPr>
        <p:txBody>
          <a:bodyPr wrap="square" lIns="0" tIns="0" rIns="0" bIns="0" rtlCol="0" anchor="ctr"/>
          <a:lstStyle/>
          <a:p>
            <a:pPr indent="0" marL="0">
              <a:buNone/>
            </a:pPr>
            <a:r>
              <a:rPr lang="en-US" sz="800" spc="160" kern="0" dirty="0">
                <a:solidFill>
                  <a:srgbClr val="8A969C"/>
                </a:solidFill>
                <a:latin typeface="Calibri" pitchFamily="34" charset="0"/>
                <a:ea typeface="Calibri" pitchFamily="34" charset="-122"/>
                <a:cs typeface="Calibri" pitchFamily="34" charset="-120"/>
              </a:rPr>
              <a:t>LIFELOG  ·  PERSONAL ACTIVITY INTELLIGENCE DATABASE</a:t>
            </a:r>
            <a:endParaRPr lang="en-US" sz="800" dirty="0"/>
          </a:p>
        </p:txBody>
      </p:sp>
      <p:sp>
        <p:nvSpPr>
          <p:cNvPr id="8" name="Text 6"/>
          <p:cNvSpPr txBox="1"/>
          <p:nvPr/>
        </p:nvSpPr>
        <p:spPr>
          <a:xfrm>
            <a:off x="10881360" y="6355080"/>
            <a:ext cx="777240" cy="274320"/>
          </a:xfrm>
          <a:prstGeom prst="rect">
            <a:avLst/>
          </a:prstGeom>
          <a:noFill/>
          <a:ln/>
        </p:spPr>
        <p:txBody>
          <a:bodyPr wrap="square" lIns="0" tIns="0" rIns="0" bIns="0" rtlCol="0" anchor="ctr"/>
          <a:lstStyle/>
          <a:p>
            <a:pPr algn="r" indent="0" marL="0">
              <a:buNone/>
            </a:pPr>
            <a:r>
              <a:rPr lang="en-US" sz="900" dirty="0">
                <a:solidFill>
                  <a:srgbClr val="8A969C"/>
                </a:solidFill>
                <a:latin typeface="Calibri" pitchFamily="34" charset="0"/>
                <a:ea typeface="Calibri" pitchFamily="34" charset="-122"/>
                <a:cs typeface="Calibri" pitchFamily="34" charset="-120"/>
              </a:rPr>
              <a:t>4</a:t>
            </a:r>
            <a:endParaRPr lang="en-US" sz="900" dirty="0"/>
          </a:p>
        </p:txBody>
      </p:sp>
      <p:sp>
        <p:nvSpPr>
          <p:cNvPr id="9" name="Shape 7"/>
          <p:cNvSpPr/>
          <p:nvPr/>
        </p:nvSpPr>
        <p:spPr>
          <a:xfrm>
            <a:off x="502920" y="1828800"/>
            <a:ext cx="3602736" cy="1737360"/>
          </a:xfrm>
          <a:prstGeom prst="roundRect">
            <a:avLst>
              <a:gd name="adj" fmla="val 3158"/>
            </a:avLst>
          </a:prstGeom>
          <a:solidFill>
            <a:srgbClr val="F1F6F4"/>
          </a:solidFill>
          <a:ln/>
        </p:spPr>
      </p:sp>
      <p:sp>
        <p:nvSpPr>
          <p:cNvPr id="10" name="Shape 8"/>
          <p:cNvSpPr/>
          <p:nvPr/>
        </p:nvSpPr>
        <p:spPr>
          <a:xfrm>
            <a:off x="777240" y="2103120"/>
            <a:ext cx="566928" cy="566928"/>
          </a:xfrm>
          <a:prstGeom prst="roundRect">
            <a:avLst>
              <a:gd name="adj" fmla="val 22581"/>
            </a:avLst>
          </a:prstGeom>
          <a:solidFill>
            <a:srgbClr val="0E7C6B"/>
          </a:solidFill>
          <a:ln/>
        </p:spPr>
      </p:sp>
      <p:pic>
        <p:nvPicPr>
          <p:cNvPr id="11" name="Image 0" descr="preencoded.png">    </p:cNvPr>
          <p:cNvPicPr>
            <a:picLocks noChangeAspect="1"/>
          </p:cNvPicPr>
          <p:nvPr/>
        </p:nvPicPr>
        <p:blipFill>
          <a:blip r:embed="rId1"/>
          <a:stretch>
            <a:fillRect/>
          </a:stretch>
        </p:blipFill>
        <p:spPr>
          <a:xfrm>
            <a:off x="930311" y="2256191"/>
            <a:ext cx="260787" cy="260787"/>
          </a:xfrm>
          <a:prstGeom prst="rect">
            <a:avLst/>
          </a:prstGeom>
        </p:spPr>
      </p:pic>
      <p:sp>
        <p:nvSpPr>
          <p:cNvPr id="12" name="Text 9"/>
          <p:cNvSpPr txBox="1"/>
          <p:nvPr/>
        </p:nvSpPr>
        <p:spPr>
          <a:xfrm>
            <a:off x="777240" y="2788920"/>
            <a:ext cx="3054096" cy="658368"/>
          </a:xfrm>
          <a:prstGeom prst="rect">
            <a:avLst/>
          </a:prstGeom>
          <a:noFill/>
          <a:ln/>
        </p:spPr>
        <p:txBody>
          <a:bodyPr wrap="square" lIns="0" tIns="0" rIns="0" bIns="0" rtlCol="0" anchor="t"/>
          <a:lstStyle/>
          <a:p>
            <a:pPr indent="0" marL="0">
              <a:lnSpc>
                <a:spcPct val="120000"/>
              </a:lnSpc>
              <a:buNone/>
            </a:pPr>
            <a:r>
              <a:rPr lang="en-US" sz="1200" dirty="0">
                <a:solidFill>
                  <a:srgbClr val="3F4C53"/>
                </a:solidFill>
                <a:latin typeface="Calibri" pitchFamily="34" charset="0"/>
                <a:ea typeface="Calibri" pitchFamily="34" charset="-122"/>
                <a:cs typeface="Calibri" pitchFamily="34" charset="-120"/>
              </a:rPr>
              <a:t>Activities, expenses and study hours are noted in diaries or random notes.</a:t>
            </a:r>
            <a:endParaRPr lang="en-US" sz="1200" dirty="0"/>
          </a:p>
        </p:txBody>
      </p:sp>
      <p:sp>
        <p:nvSpPr>
          <p:cNvPr id="13" name="Shape 10"/>
          <p:cNvSpPr/>
          <p:nvPr/>
        </p:nvSpPr>
        <p:spPr>
          <a:xfrm>
            <a:off x="4343400" y="1828800"/>
            <a:ext cx="3602736" cy="1737360"/>
          </a:xfrm>
          <a:prstGeom prst="roundRect">
            <a:avLst>
              <a:gd name="adj" fmla="val 3158"/>
            </a:avLst>
          </a:prstGeom>
          <a:solidFill>
            <a:srgbClr val="F1F6F4"/>
          </a:solidFill>
          <a:ln/>
        </p:spPr>
      </p:sp>
      <p:sp>
        <p:nvSpPr>
          <p:cNvPr id="14" name="Shape 11"/>
          <p:cNvSpPr/>
          <p:nvPr/>
        </p:nvSpPr>
        <p:spPr>
          <a:xfrm>
            <a:off x="4617720" y="2103120"/>
            <a:ext cx="566928" cy="566928"/>
          </a:xfrm>
          <a:prstGeom prst="roundRect">
            <a:avLst>
              <a:gd name="adj" fmla="val 22581"/>
            </a:avLst>
          </a:prstGeom>
          <a:solidFill>
            <a:srgbClr val="0E7C6B"/>
          </a:solidFill>
          <a:ln/>
        </p:spPr>
      </p:sp>
      <p:pic>
        <p:nvPicPr>
          <p:cNvPr id="15" name="Image 1" descr="preencoded.png">    </p:cNvPr>
          <p:cNvPicPr>
            <a:picLocks noChangeAspect="1"/>
          </p:cNvPicPr>
          <p:nvPr/>
        </p:nvPicPr>
        <p:blipFill>
          <a:blip r:embed="rId2"/>
          <a:stretch>
            <a:fillRect/>
          </a:stretch>
        </p:blipFill>
        <p:spPr>
          <a:xfrm>
            <a:off x="4770791" y="2256191"/>
            <a:ext cx="260787" cy="260787"/>
          </a:xfrm>
          <a:prstGeom prst="rect">
            <a:avLst/>
          </a:prstGeom>
        </p:spPr>
      </p:pic>
      <p:sp>
        <p:nvSpPr>
          <p:cNvPr id="16" name="Text 12"/>
          <p:cNvSpPr txBox="1"/>
          <p:nvPr/>
        </p:nvSpPr>
        <p:spPr>
          <a:xfrm>
            <a:off x="4617720" y="2788920"/>
            <a:ext cx="3054096" cy="658368"/>
          </a:xfrm>
          <a:prstGeom prst="rect">
            <a:avLst/>
          </a:prstGeom>
          <a:noFill/>
          <a:ln/>
        </p:spPr>
        <p:txBody>
          <a:bodyPr wrap="square" lIns="0" tIns="0" rIns="0" bIns="0" rtlCol="0" anchor="t"/>
          <a:lstStyle/>
          <a:p>
            <a:pPr indent="0" marL="0">
              <a:lnSpc>
                <a:spcPct val="120000"/>
              </a:lnSpc>
              <a:buNone/>
            </a:pPr>
            <a:r>
              <a:rPr lang="en-US" sz="1200" dirty="0">
                <a:solidFill>
                  <a:srgbClr val="3F4C53"/>
                </a:solidFill>
                <a:latin typeface="Calibri" pitchFamily="34" charset="0"/>
                <a:ea typeface="Calibri" pitchFamily="34" charset="-122"/>
                <a:cs typeface="Calibri" pitchFamily="34" charset="-120"/>
              </a:rPr>
              <a:t>Separate apps are used for each domain, with no shared data model.</a:t>
            </a:r>
            <a:endParaRPr lang="en-US" sz="1200" dirty="0"/>
          </a:p>
        </p:txBody>
      </p:sp>
      <p:sp>
        <p:nvSpPr>
          <p:cNvPr id="17" name="Shape 13"/>
          <p:cNvSpPr/>
          <p:nvPr/>
        </p:nvSpPr>
        <p:spPr>
          <a:xfrm>
            <a:off x="8183880" y="1828800"/>
            <a:ext cx="3602736" cy="1737360"/>
          </a:xfrm>
          <a:prstGeom prst="roundRect">
            <a:avLst>
              <a:gd name="adj" fmla="val 3158"/>
            </a:avLst>
          </a:prstGeom>
          <a:solidFill>
            <a:srgbClr val="F1F6F4"/>
          </a:solidFill>
          <a:ln/>
        </p:spPr>
      </p:sp>
      <p:sp>
        <p:nvSpPr>
          <p:cNvPr id="18" name="Shape 14"/>
          <p:cNvSpPr/>
          <p:nvPr/>
        </p:nvSpPr>
        <p:spPr>
          <a:xfrm>
            <a:off x="8458200" y="2103120"/>
            <a:ext cx="566928" cy="566928"/>
          </a:xfrm>
          <a:prstGeom prst="roundRect">
            <a:avLst>
              <a:gd name="adj" fmla="val 22581"/>
            </a:avLst>
          </a:prstGeom>
          <a:solidFill>
            <a:srgbClr val="0E7C6B"/>
          </a:solidFill>
          <a:ln/>
        </p:spPr>
      </p:sp>
      <p:pic>
        <p:nvPicPr>
          <p:cNvPr id="19" name="Image 2" descr="preencoded.png">    </p:cNvPr>
          <p:cNvPicPr>
            <a:picLocks noChangeAspect="1"/>
          </p:cNvPicPr>
          <p:nvPr/>
        </p:nvPicPr>
        <p:blipFill>
          <a:blip r:embed="rId3"/>
          <a:stretch>
            <a:fillRect/>
          </a:stretch>
        </p:blipFill>
        <p:spPr>
          <a:xfrm>
            <a:off x="8611271" y="2256191"/>
            <a:ext cx="260787" cy="260787"/>
          </a:xfrm>
          <a:prstGeom prst="rect">
            <a:avLst/>
          </a:prstGeom>
        </p:spPr>
      </p:pic>
      <p:sp>
        <p:nvSpPr>
          <p:cNvPr id="20" name="Text 15"/>
          <p:cNvSpPr txBox="1"/>
          <p:nvPr/>
        </p:nvSpPr>
        <p:spPr>
          <a:xfrm>
            <a:off x="8458200" y="2788920"/>
            <a:ext cx="3054096" cy="658368"/>
          </a:xfrm>
          <a:prstGeom prst="rect">
            <a:avLst/>
          </a:prstGeom>
          <a:noFill/>
          <a:ln/>
        </p:spPr>
        <p:txBody>
          <a:bodyPr wrap="square" lIns="0" tIns="0" rIns="0" bIns="0" rtlCol="0" anchor="t"/>
          <a:lstStyle/>
          <a:p>
            <a:pPr indent="0" marL="0">
              <a:lnSpc>
                <a:spcPct val="120000"/>
              </a:lnSpc>
              <a:buNone/>
            </a:pPr>
            <a:r>
              <a:rPr lang="en-US" sz="1200" dirty="0">
                <a:solidFill>
                  <a:srgbClr val="3F4C53"/>
                </a:solidFill>
                <a:latin typeface="Calibri" pitchFamily="34" charset="0"/>
                <a:ea typeface="Calibri" pitchFamily="34" charset="-122"/>
                <a:cs typeface="Calibri" pitchFamily="34" charset="-120"/>
              </a:rPr>
              <a:t>No relationship exists between sleep, mood, study and spending records.</a:t>
            </a:r>
            <a:endParaRPr lang="en-US" sz="1200" dirty="0"/>
          </a:p>
        </p:txBody>
      </p:sp>
      <p:sp>
        <p:nvSpPr>
          <p:cNvPr id="21" name="Shape 16"/>
          <p:cNvSpPr/>
          <p:nvPr/>
        </p:nvSpPr>
        <p:spPr>
          <a:xfrm>
            <a:off x="502920" y="3840480"/>
            <a:ext cx="3602736" cy="1737360"/>
          </a:xfrm>
          <a:prstGeom prst="roundRect">
            <a:avLst>
              <a:gd name="adj" fmla="val 3158"/>
            </a:avLst>
          </a:prstGeom>
          <a:solidFill>
            <a:srgbClr val="F1F6F4"/>
          </a:solidFill>
          <a:ln/>
        </p:spPr>
      </p:sp>
      <p:sp>
        <p:nvSpPr>
          <p:cNvPr id="22" name="Shape 17"/>
          <p:cNvSpPr/>
          <p:nvPr/>
        </p:nvSpPr>
        <p:spPr>
          <a:xfrm>
            <a:off x="777240" y="4114800"/>
            <a:ext cx="566928" cy="566928"/>
          </a:xfrm>
          <a:prstGeom prst="roundRect">
            <a:avLst>
              <a:gd name="adj" fmla="val 22581"/>
            </a:avLst>
          </a:prstGeom>
          <a:solidFill>
            <a:srgbClr val="0E7C6B"/>
          </a:solidFill>
          <a:ln/>
        </p:spPr>
      </p:sp>
      <p:pic>
        <p:nvPicPr>
          <p:cNvPr id="23" name="Image 3" descr="preencoded.png">    </p:cNvPr>
          <p:cNvPicPr>
            <a:picLocks noChangeAspect="1"/>
          </p:cNvPicPr>
          <p:nvPr/>
        </p:nvPicPr>
        <p:blipFill>
          <a:blip r:embed="rId4"/>
          <a:stretch>
            <a:fillRect/>
          </a:stretch>
        </p:blipFill>
        <p:spPr>
          <a:xfrm>
            <a:off x="930311" y="4267871"/>
            <a:ext cx="260787" cy="260787"/>
          </a:xfrm>
          <a:prstGeom prst="rect">
            <a:avLst/>
          </a:prstGeom>
        </p:spPr>
      </p:pic>
      <p:sp>
        <p:nvSpPr>
          <p:cNvPr id="24" name="Text 18"/>
          <p:cNvSpPr txBox="1"/>
          <p:nvPr/>
        </p:nvSpPr>
        <p:spPr>
          <a:xfrm>
            <a:off x="777240" y="4800600"/>
            <a:ext cx="3054096" cy="658368"/>
          </a:xfrm>
          <a:prstGeom prst="rect">
            <a:avLst/>
          </a:prstGeom>
          <a:noFill/>
          <a:ln/>
        </p:spPr>
        <p:txBody>
          <a:bodyPr wrap="square" lIns="0" tIns="0" rIns="0" bIns="0" rtlCol="0" anchor="t"/>
          <a:lstStyle/>
          <a:p>
            <a:pPr indent="0" marL="0">
              <a:lnSpc>
                <a:spcPct val="120000"/>
              </a:lnSpc>
              <a:buNone/>
            </a:pPr>
            <a:r>
              <a:rPr lang="en-US" sz="1200" dirty="0">
                <a:solidFill>
                  <a:srgbClr val="3F4C53"/>
                </a:solidFill>
                <a:latin typeface="Calibri" pitchFamily="34" charset="0"/>
                <a:ea typeface="Calibri" pitchFamily="34" charset="-122"/>
                <a:cs typeface="Calibri" pitchFamily="34" charset="-120"/>
              </a:rPr>
              <a:t>Trends and summaries must be calculated manually by the user.</a:t>
            </a:r>
            <a:endParaRPr lang="en-US" sz="1200" dirty="0"/>
          </a:p>
        </p:txBody>
      </p:sp>
      <p:sp>
        <p:nvSpPr>
          <p:cNvPr id="25" name="Shape 19"/>
          <p:cNvSpPr/>
          <p:nvPr/>
        </p:nvSpPr>
        <p:spPr>
          <a:xfrm>
            <a:off x="4343400" y="3840480"/>
            <a:ext cx="3602736" cy="1737360"/>
          </a:xfrm>
          <a:prstGeom prst="roundRect">
            <a:avLst>
              <a:gd name="adj" fmla="val 3158"/>
            </a:avLst>
          </a:prstGeom>
          <a:solidFill>
            <a:srgbClr val="F1F6F4"/>
          </a:solidFill>
          <a:ln/>
        </p:spPr>
      </p:sp>
      <p:sp>
        <p:nvSpPr>
          <p:cNvPr id="26" name="Shape 20"/>
          <p:cNvSpPr/>
          <p:nvPr/>
        </p:nvSpPr>
        <p:spPr>
          <a:xfrm>
            <a:off x="4617720" y="4114800"/>
            <a:ext cx="566928" cy="566928"/>
          </a:xfrm>
          <a:prstGeom prst="roundRect">
            <a:avLst>
              <a:gd name="adj" fmla="val 22581"/>
            </a:avLst>
          </a:prstGeom>
          <a:solidFill>
            <a:srgbClr val="0E7C6B"/>
          </a:solidFill>
          <a:ln/>
        </p:spPr>
      </p:sp>
      <p:pic>
        <p:nvPicPr>
          <p:cNvPr id="27" name="Image 4" descr="preencoded.png">    </p:cNvPr>
          <p:cNvPicPr>
            <a:picLocks noChangeAspect="1"/>
          </p:cNvPicPr>
          <p:nvPr/>
        </p:nvPicPr>
        <p:blipFill>
          <a:blip r:embed="rId5"/>
          <a:stretch>
            <a:fillRect/>
          </a:stretch>
        </p:blipFill>
        <p:spPr>
          <a:xfrm>
            <a:off x="4770791" y="4267871"/>
            <a:ext cx="260787" cy="260787"/>
          </a:xfrm>
          <a:prstGeom prst="rect">
            <a:avLst/>
          </a:prstGeom>
        </p:spPr>
      </p:pic>
      <p:sp>
        <p:nvSpPr>
          <p:cNvPr id="28" name="Text 21"/>
          <p:cNvSpPr txBox="1"/>
          <p:nvPr/>
        </p:nvSpPr>
        <p:spPr>
          <a:xfrm>
            <a:off x="4617720" y="4800600"/>
            <a:ext cx="3054096" cy="658368"/>
          </a:xfrm>
          <a:prstGeom prst="rect">
            <a:avLst/>
          </a:prstGeom>
          <a:noFill/>
          <a:ln/>
        </p:spPr>
        <p:txBody>
          <a:bodyPr wrap="square" lIns="0" tIns="0" rIns="0" bIns="0" rtlCol="0" anchor="t"/>
          <a:lstStyle/>
          <a:p>
            <a:pPr indent="0" marL="0">
              <a:lnSpc>
                <a:spcPct val="120000"/>
              </a:lnSpc>
              <a:buNone/>
            </a:pPr>
            <a:r>
              <a:rPr lang="en-US" sz="1200" dirty="0">
                <a:solidFill>
                  <a:srgbClr val="3F4C53"/>
                </a:solidFill>
                <a:latin typeface="Calibri" pitchFamily="34" charset="0"/>
                <a:ea typeface="Calibri" pitchFamily="34" charset="-122"/>
                <a:cs typeface="Calibri" pitchFamily="34" charset="-120"/>
              </a:rPr>
              <a:t>Retrieving past entries for a specific date range is slow and tedious.</a:t>
            </a:r>
            <a:endParaRPr lang="en-US" sz="1200" dirty="0"/>
          </a:p>
        </p:txBody>
      </p:sp>
      <p:sp>
        <p:nvSpPr>
          <p:cNvPr id="29" name="Shape 22"/>
          <p:cNvSpPr/>
          <p:nvPr/>
        </p:nvSpPr>
        <p:spPr>
          <a:xfrm>
            <a:off x="8183880" y="3840480"/>
            <a:ext cx="3602736" cy="1737360"/>
          </a:xfrm>
          <a:prstGeom prst="roundRect">
            <a:avLst>
              <a:gd name="adj" fmla="val 3158"/>
            </a:avLst>
          </a:prstGeom>
          <a:solidFill>
            <a:srgbClr val="F1F6F4"/>
          </a:solidFill>
          <a:ln/>
        </p:spPr>
      </p:sp>
      <p:sp>
        <p:nvSpPr>
          <p:cNvPr id="30" name="Shape 23"/>
          <p:cNvSpPr/>
          <p:nvPr/>
        </p:nvSpPr>
        <p:spPr>
          <a:xfrm>
            <a:off x="8458200" y="4114800"/>
            <a:ext cx="566928" cy="566928"/>
          </a:xfrm>
          <a:prstGeom prst="roundRect">
            <a:avLst>
              <a:gd name="adj" fmla="val 22581"/>
            </a:avLst>
          </a:prstGeom>
          <a:solidFill>
            <a:srgbClr val="0E7C6B"/>
          </a:solidFill>
          <a:ln/>
        </p:spPr>
      </p:sp>
      <p:pic>
        <p:nvPicPr>
          <p:cNvPr id="31" name="Image 5" descr="preencoded.png">    </p:cNvPr>
          <p:cNvPicPr>
            <a:picLocks noChangeAspect="1"/>
          </p:cNvPicPr>
          <p:nvPr/>
        </p:nvPicPr>
        <p:blipFill>
          <a:blip r:embed="rId6"/>
          <a:stretch>
            <a:fillRect/>
          </a:stretch>
        </p:blipFill>
        <p:spPr>
          <a:xfrm>
            <a:off x="8611271" y="4267871"/>
            <a:ext cx="260787" cy="260787"/>
          </a:xfrm>
          <a:prstGeom prst="rect">
            <a:avLst/>
          </a:prstGeom>
        </p:spPr>
      </p:pic>
      <p:sp>
        <p:nvSpPr>
          <p:cNvPr id="32" name="Text 24"/>
          <p:cNvSpPr txBox="1"/>
          <p:nvPr/>
        </p:nvSpPr>
        <p:spPr>
          <a:xfrm>
            <a:off x="8458200" y="4800600"/>
            <a:ext cx="3054096" cy="658368"/>
          </a:xfrm>
          <a:prstGeom prst="rect">
            <a:avLst/>
          </a:prstGeom>
          <a:noFill/>
          <a:ln/>
        </p:spPr>
        <p:txBody>
          <a:bodyPr wrap="square" lIns="0" tIns="0" rIns="0" bIns="0" rtlCol="0" anchor="t"/>
          <a:lstStyle/>
          <a:p>
            <a:pPr indent="0" marL="0">
              <a:lnSpc>
                <a:spcPct val="120000"/>
              </a:lnSpc>
              <a:buNone/>
            </a:pPr>
            <a:r>
              <a:rPr lang="en-US" sz="1200" dirty="0">
                <a:solidFill>
                  <a:srgbClr val="3F4C53"/>
                </a:solidFill>
                <a:latin typeface="Calibri" pitchFamily="34" charset="0"/>
                <a:ea typeface="Calibri" pitchFamily="34" charset="-122"/>
                <a:cs typeface="Calibri" pitchFamily="34" charset="-120"/>
              </a:rPr>
              <a:t>Records are easily lost, duplicated or entered in inconsistent formats.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561320" y="-1051560"/>
            <a:ext cx="3017520" cy="3017520"/>
          </a:xfrm>
          <a:prstGeom prst="ellipse">
            <a:avLst/>
          </a:prstGeom>
          <a:solidFill>
            <a:srgbClr val="D9EDE7"/>
          </a:solidFill>
          <a:ln/>
        </p:spPr>
      </p:sp>
      <p:sp>
        <p:nvSpPr>
          <p:cNvPr id="3" name="Shape 1"/>
          <p:cNvSpPr/>
          <p:nvPr/>
        </p:nvSpPr>
        <p:spPr>
          <a:xfrm>
            <a:off x="-594360" y="6172200"/>
            <a:ext cx="1325880" cy="1325880"/>
          </a:xfrm>
          <a:prstGeom prst="ellipse">
            <a:avLst/>
          </a:prstGeom>
          <a:solidFill>
            <a:srgbClr val="D9EDE7"/>
          </a:solidFill>
          <a:ln/>
        </p:spPr>
      </p:sp>
      <p:sp>
        <p:nvSpPr>
          <p:cNvPr id="4" name="Shape 2"/>
          <p:cNvSpPr/>
          <p:nvPr/>
        </p:nvSpPr>
        <p:spPr>
          <a:xfrm>
            <a:off x="502920" y="457200"/>
            <a:ext cx="1965960" cy="320040"/>
          </a:xfrm>
          <a:prstGeom prst="roundRect">
            <a:avLst>
              <a:gd name="adj" fmla="val 48571"/>
            </a:avLst>
          </a:prstGeom>
          <a:solidFill>
            <a:srgbClr val="D9EDE7"/>
          </a:solidFill>
          <a:ln/>
        </p:spPr>
      </p:sp>
      <p:sp>
        <p:nvSpPr>
          <p:cNvPr id="5" name="Text 3"/>
          <p:cNvSpPr txBox="1"/>
          <p:nvPr/>
        </p:nvSpPr>
        <p:spPr>
          <a:xfrm>
            <a:off x="502920" y="457200"/>
            <a:ext cx="1965960" cy="320040"/>
          </a:xfrm>
          <a:prstGeom prst="rect">
            <a:avLst/>
          </a:prstGeom>
          <a:noFill/>
          <a:ln/>
        </p:spPr>
        <p:txBody>
          <a:bodyPr wrap="square" lIns="0" tIns="0" rIns="0" bIns="0" rtlCol="0" anchor="ctr"/>
          <a:lstStyle/>
          <a:p>
            <a:pPr algn="ctr" indent="0" marL="0">
              <a:buNone/>
            </a:pPr>
            <a:r>
              <a:rPr lang="en-US" sz="1000" b="1" spc="140" kern="0" dirty="0">
                <a:solidFill>
                  <a:srgbClr val="0A5D50"/>
                </a:solidFill>
                <a:latin typeface="Calibri" pitchFamily="34" charset="0"/>
                <a:ea typeface="Calibri" pitchFamily="34" charset="-122"/>
                <a:cs typeface="Calibri" pitchFamily="34" charset="-120"/>
              </a:rPr>
              <a:t>MOTIVATION</a:t>
            </a:r>
            <a:endParaRPr lang="en-US" sz="1000" dirty="0"/>
          </a:p>
        </p:txBody>
      </p:sp>
      <p:sp>
        <p:nvSpPr>
          <p:cNvPr id="6" name="Text 4"/>
          <p:cNvSpPr txBox="1"/>
          <p:nvPr/>
        </p:nvSpPr>
        <p:spPr>
          <a:xfrm>
            <a:off x="448056" y="896112"/>
            <a:ext cx="9601200" cy="658368"/>
          </a:xfrm>
          <a:prstGeom prst="rect">
            <a:avLst/>
          </a:prstGeom>
          <a:noFill/>
          <a:ln/>
        </p:spPr>
        <p:txBody>
          <a:bodyPr wrap="square" lIns="0" tIns="0" rIns="0" bIns="0" rtlCol="0" anchor="ctr"/>
          <a:lstStyle/>
          <a:p>
            <a:pPr indent="0" marL="0">
              <a:buNone/>
            </a:pPr>
            <a:r>
              <a:rPr lang="en-US" sz="3800" b="1" dirty="0">
                <a:solidFill>
                  <a:srgbClr val="14303B"/>
                </a:solidFill>
                <a:latin typeface="Cambria" pitchFamily="34" charset="0"/>
                <a:ea typeface="Cambria" pitchFamily="34" charset="-122"/>
                <a:cs typeface="Cambria" pitchFamily="34" charset="-120"/>
              </a:rPr>
              <a:t>Problem</a:t>
            </a:r>
            <a:endParaRPr lang="en-US" sz="3800" dirty="0"/>
          </a:p>
        </p:txBody>
      </p:sp>
      <p:sp>
        <p:nvSpPr>
          <p:cNvPr id="7" name="Text 5"/>
          <p:cNvSpPr txBox="1"/>
          <p:nvPr/>
        </p:nvSpPr>
        <p:spPr>
          <a:xfrm>
            <a:off x="502920" y="6355080"/>
            <a:ext cx="6400800" cy="274320"/>
          </a:xfrm>
          <a:prstGeom prst="rect">
            <a:avLst/>
          </a:prstGeom>
          <a:noFill/>
          <a:ln/>
        </p:spPr>
        <p:txBody>
          <a:bodyPr wrap="square" lIns="0" tIns="0" rIns="0" bIns="0" rtlCol="0" anchor="ctr"/>
          <a:lstStyle/>
          <a:p>
            <a:pPr indent="0" marL="0">
              <a:buNone/>
            </a:pPr>
            <a:r>
              <a:rPr lang="en-US" sz="800" spc="160" kern="0" dirty="0">
                <a:solidFill>
                  <a:srgbClr val="8A969C"/>
                </a:solidFill>
                <a:latin typeface="Calibri" pitchFamily="34" charset="0"/>
                <a:ea typeface="Calibri" pitchFamily="34" charset="-122"/>
                <a:cs typeface="Calibri" pitchFamily="34" charset="-120"/>
              </a:rPr>
              <a:t>LIFELOG  ·  PERSONAL ACTIVITY INTELLIGENCE DATABASE</a:t>
            </a:r>
            <a:endParaRPr lang="en-US" sz="800" dirty="0"/>
          </a:p>
        </p:txBody>
      </p:sp>
      <p:sp>
        <p:nvSpPr>
          <p:cNvPr id="8" name="Text 6"/>
          <p:cNvSpPr txBox="1"/>
          <p:nvPr/>
        </p:nvSpPr>
        <p:spPr>
          <a:xfrm>
            <a:off x="10881360" y="6355080"/>
            <a:ext cx="777240" cy="274320"/>
          </a:xfrm>
          <a:prstGeom prst="rect">
            <a:avLst/>
          </a:prstGeom>
          <a:noFill/>
          <a:ln/>
        </p:spPr>
        <p:txBody>
          <a:bodyPr wrap="square" lIns="0" tIns="0" rIns="0" bIns="0" rtlCol="0" anchor="ctr"/>
          <a:lstStyle/>
          <a:p>
            <a:pPr algn="r" indent="0" marL="0">
              <a:buNone/>
            </a:pPr>
            <a:r>
              <a:rPr lang="en-US" sz="900" dirty="0">
                <a:solidFill>
                  <a:srgbClr val="8A969C"/>
                </a:solidFill>
                <a:latin typeface="Calibri" pitchFamily="34" charset="0"/>
                <a:ea typeface="Calibri" pitchFamily="34" charset="-122"/>
                <a:cs typeface="Calibri" pitchFamily="34" charset="-120"/>
              </a:rPr>
              <a:t>5</a:t>
            </a:r>
            <a:endParaRPr lang="en-US" sz="900" dirty="0"/>
          </a:p>
        </p:txBody>
      </p:sp>
      <p:sp>
        <p:nvSpPr>
          <p:cNvPr id="9" name="Text 7"/>
          <p:cNvSpPr txBox="1"/>
          <p:nvPr/>
        </p:nvSpPr>
        <p:spPr>
          <a:xfrm>
            <a:off x="502920" y="1965960"/>
            <a:ext cx="5943600" cy="3291840"/>
          </a:xfrm>
          <a:prstGeom prst="rect">
            <a:avLst/>
          </a:prstGeom>
          <a:noFill/>
          <a:ln/>
        </p:spPr>
        <p:txBody>
          <a:bodyPr wrap="square" lIns="0" tIns="0" rIns="0" bIns="0" rtlCol="0" anchor="t"/>
          <a:lstStyle/>
          <a:p>
            <a:pPr indent="0" marL="0">
              <a:lnSpc>
                <a:spcPct val="132000"/>
              </a:lnSpc>
              <a:spcAft>
                <a:spcPts val="1400"/>
              </a:spcAft>
              <a:buNone/>
            </a:pPr>
            <a:r>
              <a:rPr lang="en-US" sz="1350" dirty="0">
                <a:solidFill>
                  <a:srgbClr val="3F4C53"/>
                </a:solidFill>
                <a:latin typeface="Calibri" pitchFamily="34" charset="0"/>
                <a:ea typeface="Calibri" pitchFamily="34" charset="-122"/>
                <a:cs typeface="Calibri" pitchFamily="34" charset="-120"/>
              </a:rPr>
              <a:t>Personal activity data is fragmented. Because each type of record is stored separately — or only in memory — it is impossible to query across domains, and the effort of maintaining the records manually outweighs the benefit.</a:t>
            </a:r>
            <a:endParaRPr lang="en-US" sz="1350" dirty="0"/>
          </a:p>
          <a:p>
            <a:pPr indent="0" marL="0">
              <a:lnSpc>
                <a:spcPct val="132000"/>
              </a:lnSpc>
              <a:spcAft>
                <a:spcPts val="1400"/>
              </a:spcAft>
              <a:buNone/>
            </a:pPr>
            <a:r>
              <a:rPr lang="en-US" sz="1350" dirty="0">
                <a:solidFill>
                  <a:srgbClr val="3F4C53"/>
                </a:solidFill>
                <a:latin typeface="Calibri" pitchFamily="34" charset="0"/>
                <a:ea typeface="Calibri" pitchFamily="34" charset="-122"/>
                <a:cs typeface="Calibri" pitchFamily="34" charset="-120"/>
              </a:rPr>
              <a:t>There is no single source of truth that links a day to the activities, expenses, meals, study sessions, journeys, screen usage, mood, sleep and goal progress that belong to it.</a:t>
            </a:r>
            <a:endParaRPr lang="en-US" sz="1350" dirty="0"/>
          </a:p>
          <a:p>
            <a:pPr indent="0" marL="0">
              <a:lnSpc>
                <a:spcPct val="132000"/>
              </a:lnSpc>
              <a:buNone/>
            </a:pPr>
            <a:r>
              <a:rPr lang="en-US" sz="1350" dirty="0">
                <a:solidFill>
                  <a:srgbClr val="3F4C53"/>
                </a:solidFill>
                <a:latin typeface="Calibri" pitchFamily="34" charset="0"/>
                <a:ea typeface="Calibri" pitchFamily="34" charset="-122"/>
                <a:cs typeface="Calibri" pitchFamily="34" charset="-120"/>
              </a:rPr>
              <a:t>What is needed is a properly designed relational database, with validated inputs and secure per-user access, that can answer analytical questions in a single query.</a:t>
            </a:r>
            <a:endParaRPr lang="en-US" sz="1350" dirty="0"/>
          </a:p>
        </p:txBody>
      </p:sp>
      <p:sp>
        <p:nvSpPr>
          <p:cNvPr id="10" name="Shape 8"/>
          <p:cNvSpPr/>
          <p:nvPr/>
        </p:nvSpPr>
        <p:spPr>
          <a:xfrm>
            <a:off x="7772400" y="1874520"/>
            <a:ext cx="2743200" cy="2743200"/>
          </a:xfrm>
          <a:prstGeom prst="ellipse">
            <a:avLst/>
          </a:prstGeom>
          <a:solidFill>
            <a:srgbClr val="D9EDE7"/>
          </a:solidFill>
          <a:ln/>
        </p:spPr>
      </p:sp>
      <p:pic>
        <p:nvPicPr>
          <p:cNvPr id="11" name="Image 0" descr="preencoded.png">    </p:cNvPr>
          <p:cNvPicPr>
            <a:picLocks noChangeAspect="1"/>
          </p:cNvPicPr>
          <p:nvPr/>
        </p:nvPicPr>
        <p:blipFill>
          <a:blip r:embed="rId1"/>
          <a:stretch>
            <a:fillRect/>
          </a:stretch>
        </p:blipFill>
        <p:spPr>
          <a:xfrm>
            <a:off x="8503920" y="2606040"/>
            <a:ext cx="1280160" cy="12801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561320" y="-1051560"/>
            <a:ext cx="3017520" cy="3017520"/>
          </a:xfrm>
          <a:prstGeom prst="ellipse">
            <a:avLst/>
          </a:prstGeom>
          <a:solidFill>
            <a:srgbClr val="D9EDE7"/>
          </a:solidFill>
          <a:ln/>
        </p:spPr>
      </p:sp>
      <p:sp>
        <p:nvSpPr>
          <p:cNvPr id="3" name="Shape 1"/>
          <p:cNvSpPr/>
          <p:nvPr/>
        </p:nvSpPr>
        <p:spPr>
          <a:xfrm>
            <a:off x="-594360" y="6172200"/>
            <a:ext cx="1325880" cy="1325880"/>
          </a:xfrm>
          <a:prstGeom prst="ellipse">
            <a:avLst/>
          </a:prstGeom>
          <a:solidFill>
            <a:srgbClr val="D9EDE7"/>
          </a:solidFill>
          <a:ln/>
        </p:spPr>
      </p:sp>
      <p:sp>
        <p:nvSpPr>
          <p:cNvPr id="4" name="Shape 2"/>
          <p:cNvSpPr/>
          <p:nvPr/>
        </p:nvSpPr>
        <p:spPr>
          <a:xfrm>
            <a:off x="502920" y="457200"/>
            <a:ext cx="2258568" cy="320040"/>
          </a:xfrm>
          <a:prstGeom prst="roundRect">
            <a:avLst>
              <a:gd name="adj" fmla="val 48571"/>
            </a:avLst>
          </a:prstGeom>
          <a:solidFill>
            <a:srgbClr val="D9EDE7"/>
          </a:solidFill>
          <a:ln/>
        </p:spPr>
      </p:sp>
      <p:sp>
        <p:nvSpPr>
          <p:cNvPr id="5" name="Text 3"/>
          <p:cNvSpPr txBox="1"/>
          <p:nvPr/>
        </p:nvSpPr>
        <p:spPr>
          <a:xfrm>
            <a:off x="502920" y="457200"/>
            <a:ext cx="2258568" cy="320040"/>
          </a:xfrm>
          <a:prstGeom prst="rect">
            <a:avLst/>
          </a:prstGeom>
          <a:noFill/>
          <a:ln/>
        </p:spPr>
        <p:txBody>
          <a:bodyPr wrap="square" lIns="0" tIns="0" rIns="0" bIns="0" rtlCol="0" anchor="ctr"/>
          <a:lstStyle/>
          <a:p>
            <a:pPr algn="ctr" indent="0" marL="0">
              <a:buNone/>
            </a:pPr>
            <a:r>
              <a:rPr lang="en-US" sz="1000" b="1" spc="140" kern="0" dirty="0">
                <a:solidFill>
                  <a:srgbClr val="0A5D50"/>
                </a:solidFill>
                <a:latin typeface="Calibri" pitchFamily="34" charset="0"/>
                <a:ea typeface="Calibri" pitchFamily="34" charset="-122"/>
                <a:cs typeface="Calibri" pitchFamily="34" charset="-120"/>
              </a:rPr>
              <a:t>CONTRIBUTION</a:t>
            </a:r>
            <a:endParaRPr lang="en-US" sz="1000" dirty="0"/>
          </a:p>
        </p:txBody>
      </p:sp>
      <p:sp>
        <p:nvSpPr>
          <p:cNvPr id="6" name="Text 4"/>
          <p:cNvSpPr txBox="1"/>
          <p:nvPr/>
        </p:nvSpPr>
        <p:spPr>
          <a:xfrm>
            <a:off x="448056" y="896112"/>
            <a:ext cx="9601200" cy="658368"/>
          </a:xfrm>
          <a:prstGeom prst="rect">
            <a:avLst/>
          </a:prstGeom>
          <a:noFill/>
          <a:ln/>
        </p:spPr>
        <p:txBody>
          <a:bodyPr wrap="square" lIns="0" tIns="0" rIns="0" bIns="0" rtlCol="0" anchor="ctr"/>
          <a:lstStyle/>
          <a:p>
            <a:pPr indent="0" marL="0">
              <a:buNone/>
            </a:pPr>
            <a:r>
              <a:rPr lang="en-US" sz="3800" b="1" dirty="0">
                <a:solidFill>
                  <a:srgbClr val="14303B"/>
                </a:solidFill>
                <a:latin typeface="Cambria" pitchFamily="34" charset="0"/>
                <a:ea typeface="Cambria" pitchFamily="34" charset="-122"/>
                <a:cs typeface="Cambria" pitchFamily="34" charset="-120"/>
              </a:rPr>
              <a:t>Solution</a:t>
            </a:r>
            <a:endParaRPr lang="en-US" sz="3800" dirty="0"/>
          </a:p>
        </p:txBody>
      </p:sp>
      <p:sp>
        <p:nvSpPr>
          <p:cNvPr id="7" name="Text 5"/>
          <p:cNvSpPr txBox="1"/>
          <p:nvPr/>
        </p:nvSpPr>
        <p:spPr>
          <a:xfrm>
            <a:off x="502920" y="6355080"/>
            <a:ext cx="6400800" cy="274320"/>
          </a:xfrm>
          <a:prstGeom prst="rect">
            <a:avLst/>
          </a:prstGeom>
          <a:noFill/>
          <a:ln/>
        </p:spPr>
        <p:txBody>
          <a:bodyPr wrap="square" lIns="0" tIns="0" rIns="0" bIns="0" rtlCol="0" anchor="ctr"/>
          <a:lstStyle/>
          <a:p>
            <a:pPr indent="0" marL="0">
              <a:buNone/>
            </a:pPr>
            <a:r>
              <a:rPr lang="en-US" sz="800" spc="160" kern="0" dirty="0">
                <a:solidFill>
                  <a:srgbClr val="8A969C"/>
                </a:solidFill>
                <a:latin typeface="Calibri" pitchFamily="34" charset="0"/>
                <a:ea typeface="Calibri" pitchFamily="34" charset="-122"/>
                <a:cs typeface="Calibri" pitchFamily="34" charset="-120"/>
              </a:rPr>
              <a:t>LIFELOG  ·  PERSONAL ACTIVITY INTELLIGENCE DATABASE</a:t>
            </a:r>
            <a:endParaRPr lang="en-US" sz="800" dirty="0"/>
          </a:p>
        </p:txBody>
      </p:sp>
      <p:sp>
        <p:nvSpPr>
          <p:cNvPr id="8" name="Text 6"/>
          <p:cNvSpPr txBox="1"/>
          <p:nvPr/>
        </p:nvSpPr>
        <p:spPr>
          <a:xfrm>
            <a:off x="10881360" y="6355080"/>
            <a:ext cx="777240" cy="274320"/>
          </a:xfrm>
          <a:prstGeom prst="rect">
            <a:avLst/>
          </a:prstGeom>
          <a:noFill/>
          <a:ln/>
        </p:spPr>
        <p:txBody>
          <a:bodyPr wrap="square" lIns="0" tIns="0" rIns="0" bIns="0" rtlCol="0" anchor="ctr"/>
          <a:lstStyle/>
          <a:p>
            <a:pPr algn="r" indent="0" marL="0">
              <a:buNone/>
            </a:pPr>
            <a:r>
              <a:rPr lang="en-US" sz="900" dirty="0">
                <a:solidFill>
                  <a:srgbClr val="8A969C"/>
                </a:solidFill>
                <a:latin typeface="Calibri" pitchFamily="34" charset="0"/>
                <a:ea typeface="Calibri" pitchFamily="34" charset="-122"/>
                <a:cs typeface="Calibri" pitchFamily="34" charset="-120"/>
              </a:rPr>
              <a:t>6</a:t>
            </a:r>
            <a:endParaRPr lang="en-US" sz="900" dirty="0"/>
          </a:p>
        </p:txBody>
      </p:sp>
      <p:sp>
        <p:nvSpPr>
          <p:cNvPr id="9" name="Text 7"/>
          <p:cNvSpPr txBox="1"/>
          <p:nvPr/>
        </p:nvSpPr>
        <p:spPr>
          <a:xfrm>
            <a:off x="502920" y="1664208"/>
            <a:ext cx="10424160" cy="347472"/>
          </a:xfrm>
          <a:prstGeom prst="rect">
            <a:avLst/>
          </a:prstGeom>
          <a:noFill/>
          <a:ln/>
        </p:spPr>
        <p:txBody>
          <a:bodyPr wrap="square" lIns="0" tIns="0" rIns="0" bIns="0" rtlCol="0" anchor="ctr"/>
          <a:lstStyle/>
          <a:p>
            <a:pPr indent="0" marL="0">
              <a:buNone/>
            </a:pPr>
            <a:r>
              <a:rPr lang="en-US" sz="1300" dirty="0">
                <a:solidFill>
                  <a:srgbClr val="3F4C53"/>
                </a:solidFill>
                <a:latin typeface="Calibri" pitchFamily="34" charset="0"/>
                <a:ea typeface="Calibri" pitchFamily="34" charset="-122"/>
                <a:cs typeface="Calibri" pitchFamily="34" charset="-120"/>
              </a:rPr>
              <a:t>LifeLog provides one normalized MySQL database, a secure REST API and an analytics dashboard over every category of personal activity.</a:t>
            </a:r>
            <a:endParaRPr lang="en-US" sz="1300" dirty="0"/>
          </a:p>
        </p:txBody>
      </p:sp>
      <p:sp>
        <p:nvSpPr>
          <p:cNvPr id="10" name="Shape 8"/>
          <p:cNvSpPr/>
          <p:nvPr/>
        </p:nvSpPr>
        <p:spPr>
          <a:xfrm>
            <a:off x="502920" y="2194560"/>
            <a:ext cx="2670048" cy="1691640"/>
          </a:xfrm>
          <a:prstGeom prst="roundRect">
            <a:avLst>
              <a:gd name="adj" fmla="val 3243"/>
            </a:avLst>
          </a:prstGeom>
          <a:solidFill>
            <a:srgbClr val="F1F6F4"/>
          </a:solidFill>
          <a:ln/>
        </p:spPr>
      </p:sp>
      <p:sp>
        <p:nvSpPr>
          <p:cNvPr id="11" name="Shape 9"/>
          <p:cNvSpPr/>
          <p:nvPr/>
        </p:nvSpPr>
        <p:spPr>
          <a:xfrm>
            <a:off x="758952" y="2450592"/>
            <a:ext cx="512064" cy="512064"/>
          </a:xfrm>
          <a:prstGeom prst="roundRect">
            <a:avLst>
              <a:gd name="adj" fmla="val 23214"/>
            </a:avLst>
          </a:prstGeom>
          <a:solidFill>
            <a:srgbClr val="0E7C6B"/>
          </a:solidFill>
          <a:ln/>
        </p:spPr>
      </p:sp>
      <p:pic>
        <p:nvPicPr>
          <p:cNvPr id="12" name="Image 0" descr="preencoded.png">    </p:cNvPr>
          <p:cNvPicPr>
            <a:picLocks noChangeAspect="1"/>
          </p:cNvPicPr>
          <p:nvPr/>
        </p:nvPicPr>
        <p:blipFill>
          <a:blip r:embed="rId1"/>
          <a:stretch>
            <a:fillRect/>
          </a:stretch>
        </p:blipFill>
        <p:spPr>
          <a:xfrm>
            <a:off x="897209" y="2588849"/>
            <a:ext cx="235549" cy="235549"/>
          </a:xfrm>
          <a:prstGeom prst="rect">
            <a:avLst/>
          </a:prstGeom>
        </p:spPr>
      </p:pic>
      <p:sp>
        <p:nvSpPr>
          <p:cNvPr id="13" name="Text 10"/>
          <p:cNvSpPr txBox="1"/>
          <p:nvPr/>
        </p:nvSpPr>
        <p:spPr>
          <a:xfrm>
            <a:off x="758952" y="3072384"/>
            <a:ext cx="2157984" cy="658368"/>
          </a:xfrm>
          <a:prstGeom prst="rect">
            <a:avLst/>
          </a:prstGeom>
          <a:noFill/>
          <a:ln/>
        </p:spPr>
        <p:txBody>
          <a:bodyPr wrap="square" lIns="0" tIns="0" rIns="0" bIns="0" rtlCol="0" anchor="t"/>
          <a:lstStyle/>
          <a:p>
            <a:pPr indent="0" marL="0">
              <a:lnSpc>
                <a:spcPct val="120000"/>
              </a:lnSpc>
              <a:buNone/>
            </a:pPr>
            <a:r>
              <a:rPr lang="en-US" sz="1150" dirty="0">
                <a:solidFill>
                  <a:srgbClr val="3F4C53"/>
                </a:solidFill>
                <a:latin typeface="Calibri" pitchFamily="34" charset="0"/>
                <a:ea typeface="Calibri" pitchFamily="34" charset="-122"/>
                <a:cs typeface="Calibri" pitchFamily="34" charset="-120"/>
              </a:rPr>
              <a:t>Single centralized relational database</a:t>
            </a:r>
            <a:endParaRPr lang="en-US" sz="1150" dirty="0"/>
          </a:p>
        </p:txBody>
      </p:sp>
      <p:sp>
        <p:nvSpPr>
          <p:cNvPr id="14" name="Shape 11"/>
          <p:cNvSpPr/>
          <p:nvPr/>
        </p:nvSpPr>
        <p:spPr>
          <a:xfrm>
            <a:off x="3392424" y="2194560"/>
            <a:ext cx="2670048" cy="1691640"/>
          </a:xfrm>
          <a:prstGeom prst="roundRect">
            <a:avLst>
              <a:gd name="adj" fmla="val 3243"/>
            </a:avLst>
          </a:prstGeom>
          <a:solidFill>
            <a:srgbClr val="F1F6F4"/>
          </a:solidFill>
          <a:ln/>
        </p:spPr>
      </p:sp>
      <p:sp>
        <p:nvSpPr>
          <p:cNvPr id="15" name="Shape 12"/>
          <p:cNvSpPr/>
          <p:nvPr/>
        </p:nvSpPr>
        <p:spPr>
          <a:xfrm>
            <a:off x="3648456" y="2450592"/>
            <a:ext cx="512064" cy="512064"/>
          </a:xfrm>
          <a:prstGeom prst="roundRect">
            <a:avLst>
              <a:gd name="adj" fmla="val 23214"/>
            </a:avLst>
          </a:prstGeom>
          <a:solidFill>
            <a:srgbClr val="0E7C6B"/>
          </a:solidFill>
          <a:ln/>
        </p:spPr>
      </p:sp>
      <p:pic>
        <p:nvPicPr>
          <p:cNvPr id="16" name="Image 1" descr="preencoded.png">    </p:cNvPr>
          <p:cNvPicPr>
            <a:picLocks noChangeAspect="1"/>
          </p:cNvPicPr>
          <p:nvPr/>
        </p:nvPicPr>
        <p:blipFill>
          <a:blip r:embed="rId2"/>
          <a:stretch>
            <a:fillRect/>
          </a:stretch>
        </p:blipFill>
        <p:spPr>
          <a:xfrm>
            <a:off x="3786713" y="2588849"/>
            <a:ext cx="235549" cy="235549"/>
          </a:xfrm>
          <a:prstGeom prst="rect">
            <a:avLst/>
          </a:prstGeom>
        </p:spPr>
      </p:pic>
      <p:sp>
        <p:nvSpPr>
          <p:cNvPr id="17" name="Text 13"/>
          <p:cNvSpPr txBox="1"/>
          <p:nvPr/>
        </p:nvSpPr>
        <p:spPr>
          <a:xfrm>
            <a:off x="3648456" y="3072384"/>
            <a:ext cx="2157984" cy="658368"/>
          </a:xfrm>
          <a:prstGeom prst="rect">
            <a:avLst/>
          </a:prstGeom>
          <a:noFill/>
          <a:ln/>
        </p:spPr>
        <p:txBody>
          <a:bodyPr wrap="square" lIns="0" tIns="0" rIns="0" bIns="0" rtlCol="0" anchor="t"/>
          <a:lstStyle/>
          <a:p>
            <a:pPr indent="0" marL="0">
              <a:lnSpc>
                <a:spcPct val="120000"/>
              </a:lnSpc>
              <a:buNone/>
            </a:pPr>
            <a:r>
              <a:rPr lang="en-US" sz="1150" dirty="0">
                <a:solidFill>
                  <a:srgbClr val="3F4C53"/>
                </a:solidFill>
                <a:latin typeface="Calibri" pitchFamily="34" charset="0"/>
                <a:ea typeface="Calibri" pitchFamily="34" charset="-122"/>
                <a:cs typeface="Calibri" pitchFamily="34" charset="-120"/>
              </a:rPr>
              <a:t>Daily logs linking every record to a date</a:t>
            </a:r>
            <a:endParaRPr lang="en-US" sz="1150" dirty="0"/>
          </a:p>
        </p:txBody>
      </p:sp>
      <p:sp>
        <p:nvSpPr>
          <p:cNvPr id="18" name="Shape 14"/>
          <p:cNvSpPr/>
          <p:nvPr/>
        </p:nvSpPr>
        <p:spPr>
          <a:xfrm>
            <a:off x="6281928" y="2194560"/>
            <a:ext cx="2670048" cy="1691640"/>
          </a:xfrm>
          <a:prstGeom prst="roundRect">
            <a:avLst>
              <a:gd name="adj" fmla="val 3243"/>
            </a:avLst>
          </a:prstGeom>
          <a:solidFill>
            <a:srgbClr val="F1F6F4"/>
          </a:solidFill>
          <a:ln/>
        </p:spPr>
      </p:sp>
      <p:sp>
        <p:nvSpPr>
          <p:cNvPr id="19" name="Shape 15"/>
          <p:cNvSpPr/>
          <p:nvPr/>
        </p:nvSpPr>
        <p:spPr>
          <a:xfrm>
            <a:off x="6537960" y="2450592"/>
            <a:ext cx="512064" cy="512064"/>
          </a:xfrm>
          <a:prstGeom prst="roundRect">
            <a:avLst>
              <a:gd name="adj" fmla="val 23214"/>
            </a:avLst>
          </a:prstGeom>
          <a:solidFill>
            <a:srgbClr val="0E7C6B"/>
          </a:solidFill>
          <a:ln/>
        </p:spPr>
      </p:sp>
      <p:pic>
        <p:nvPicPr>
          <p:cNvPr id="20" name="Image 2" descr="preencoded.png">    </p:cNvPr>
          <p:cNvPicPr>
            <a:picLocks noChangeAspect="1"/>
          </p:cNvPicPr>
          <p:nvPr/>
        </p:nvPicPr>
        <p:blipFill>
          <a:blip r:embed="rId3"/>
          <a:stretch>
            <a:fillRect/>
          </a:stretch>
        </p:blipFill>
        <p:spPr>
          <a:xfrm>
            <a:off x="6676217" y="2588849"/>
            <a:ext cx="235549" cy="235549"/>
          </a:xfrm>
          <a:prstGeom prst="rect">
            <a:avLst/>
          </a:prstGeom>
        </p:spPr>
      </p:pic>
      <p:sp>
        <p:nvSpPr>
          <p:cNvPr id="21" name="Text 16"/>
          <p:cNvSpPr txBox="1"/>
          <p:nvPr/>
        </p:nvSpPr>
        <p:spPr>
          <a:xfrm>
            <a:off x="6537960" y="3072384"/>
            <a:ext cx="2157984" cy="658368"/>
          </a:xfrm>
          <a:prstGeom prst="rect">
            <a:avLst/>
          </a:prstGeom>
          <a:noFill/>
          <a:ln/>
        </p:spPr>
        <p:txBody>
          <a:bodyPr wrap="square" lIns="0" tIns="0" rIns="0" bIns="0" rtlCol="0" anchor="t"/>
          <a:lstStyle/>
          <a:p>
            <a:pPr indent="0" marL="0">
              <a:lnSpc>
                <a:spcPct val="120000"/>
              </a:lnSpc>
              <a:buNone/>
            </a:pPr>
            <a:r>
              <a:rPr lang="en-US" sz="1150" dirty="0">
                <a:solidFill>
                  <a:srgbClr val="3F4C53"/>
                </a:solidFill>
                <a:latin typeface="Calibri" pitchFamily="34" charset="0"/>
                <a:ea typeface="Calibri" pitchFamily="34" charset="-122"/>
                <a:cs typeface="Calibri" pitchFamily="34" charset="-120"/>
              </a:rPr>
              <a:t>Expense tracking by category and method</a:t>
            </a:r>
            <a:endParaRPr lang="en-US" sz="1150" dirty="0"/>
          </a:p>
        </p:txBody>
      </p:sp>
      <p:sp>
        <p:nvSpPr>
          <p:cNvPr id="22" name="Shape 17"/>
          <p:cNvSpPr/>
          <p:nvPr/>
        </p:nvSpPr>
        <p:spPr>
          <a:xfrm>
            <a:off x="9171432" y="2194560"/>
            <a:ext cx="2670048" cy="1691640"/>
          </a:xfrm>
          <a:prstGeom prst="roundRect">
            <a:avLst>
              <a:gd name="adj" fmla="val 3243"/>
            </a:avLst>
          </a:prstGeom>
          <a:solidFill>
            <a:srgbClr val="F1F6F4"/>
          </a:solidFill>
          <a:ln/>
        </p:spPr>
      </p:sp>
      <p:sp>
        <p:nvSpPr>
          <p:cNvPr id="23" name="Shape 18"/>
          <p:cNvSpPr/>
          <p:nvPr/>
        </p:nvSpPr>
        <p:spPr>
          <a:xfrm>
            <a:off x="9427464" y="2450592"/>
            <a:ext cx="512064" cy="512064"/>
          </a:xfrm>
          <a:prstGeom prst="roundRect">
            <a:avLst>
              <a:gd name="adj" fmla="val 23214"/>
            </a:avLst>
          </a:prstGeom>
          <a:solidFill>
            <a:srgbClr val="0E7C6B"/>
          </a:solidFill>
          <a:ln/>
        </p:spPr>
      </p:sp>
      <p:pic>
        <p:nvPicPr>
          <p:cNvPr id="24" name="Image 3" descr="preencoded.png">    </p:cNvPr>
          <p:cNvPicPr>
            <a:picLocks noChangeAspect="1"/>
          </p:cNvPicPr>
          <p:nvPr/>
        </p:nvPicPr>
        <p:blipFill>
          <a:blip r:embed="rId4"/>
          <a:stretch>
            <a:fillRect/>
          </a:stretch>
        </p:blipFill>
        <p:spPr>
          <a:xfrm>
            <a:off x="9565721" y="2588849"/>
            <a:ext cx="235549" cy="235549"/>
          </a:xfrm>
          <a:prstGeom prst="rect">
            <a:avLst/>
          </a:prstGeom>
        </p:spPr>
      </p:pic>
      <p:sp>
        <p:nvSpPr>
          <p:cNvPr id="25" name="Text 19"/>
          <p:cNvSpPr txBox="1"/>
          <p:nvPr/>
        </p:nvSpPr>
        <p:spPr>
          <a:xfrm>
            <a:off x="9427464" y="3072384"/>
            <a:ext cx="2157984" cy="658368"/>
          </a:xfrm>
          <a:prstGeom prst="rect">
            <a:avLst/>
          </a:prstGeom>
          <a:noFill/>
          <a:ln/>
        </p:spPr>
        <p:txBody>
          <a:bodyPr wrap="square" lIns="0" tIns="0" rIns="0" bIns="0" rtlCol="0" anchor="t"/>
          <a:lstStyle/>
          <a:p>
            <a:pPr indent="0" marL="0">
              <a:lnSpc>
                <a:spcPct val="120000"/>
              </a:lnSpc>
              <a:buNone/>
            </a:pPr>
            <a:r>
              <a:rPr lang="en-US" sz="1150" dirty="0">
                <a:solidFill>
                  <a:srgbClr val="3F4C53"/>
                </a:solidFill>
                <a:latin typeface="Calibri" pitchFamily="34" charset="0"/>
                <a:ea typeface="Calibri" pitchFamily="34" charset="-122"/>
                <a:cs typeface="Calibri" pitchFamily="34" charset="-120"/>
              </a:rPr>
              <a:t>Study sessions with focus ratings</a:t>
            </a:r>
            <a:endParaRPr lang="en-US" sz="1150" dirty="0"/>
          </a:p>
        </p:txBody>
      </p:sp>
      <p:sp>
        <p:nvSpPr>
          <p:cNvPr id="26" name="Shape 20"/>
          <p:cNvSpPr/>
          <p:nvPr/>
        </p:nvSpPr>
        <p:spPr>
          <a:xfrm>
            <a:off x="502920" y="4160520"/>
            <a:ext cx="2670048" cy="1691640"/>
          </a:xfrm>
          <a:prstGeom prst="roundRect">
            <a:avLst>
              <a:gd name="adj" fmla="val 3243"/>
            </a:avLst>
          </a:prstGeom>
          <a:solidFill>
            <a:srgbClr val="F1F6F4"/>
          </a:solidFill>
          <a:ln/>
        </p:spPr>
      </p:sp>
      <p:sp>
        <p:nvSpPr>
          <p:cNvPr id="27" name="Shape 21"/>
          <p:cNvSpPr/>
          <p:nvPr/>
        </p:nvSpPr>
        <p:spPr>
          <a:xfrm>
            <a:off x="758952" y="4416552"/>
            <a:ext cx="512064" cy="512064"/>
          </a:xfrm>
          <a:prstGeom prst="roundRect">
            <a:avLst>
              <a:gd name="adj" fmla="val 23214"/>
            </a:avLst>
          </a:prstGeom>
          <a:solidFill>
            <a:srgbClr val="0E7C6B"/>
          </a:solidFill>
          <a:ln/>
        </p:spPr>
      </p:sp>
      <p:pic>
        <p:nvPicPr>
          <p:cNvPr id="28" name="Image 4" descr="preencoded.png">    </p:cNvPr>
          <p:cNvPicPr>
            <a:picLocks noChangeAspect="1"/>
          </p:cNvPicPr>
          <p:nvPr/>
        </p:nvPicPr>
        <p:blipFill>
          <a:blip r:embed="rId5"/>
          <a:stretch>
            <a:fillRect/>
          </a:stretch>
        </p:blipFill>
        <p:spPr>
          <a:xfrm>
            <a:off x="897209" y="4554809"/>
            <a:ext cx="235549" cy="235549"/>
          </a:xfrm>
          <a:prstGeom prst="rect">
            <a:avLst/>
          </a:prstGeom>
        </p:spPr>
      </p:pic>
      <p:sp>
        <p:nvSpPr>
          <p:cNvPr id="29" name="Text 22"/>
          <p:cNvSpPr txBox="1"/>
          <p:nvPr/>
        </p:nvSpPr>
        <p:spPr>
          <a:xfrm>
            <a:off x="758952" y="5038344"/>
            <a:ext cx="2157984" cy="658368"/>
          </a:xfrm>
          <a:prstGeom prst="rect">
            <a:avLst/>
          </a:prstGeom>
          <a:noFill/>
          <a:ln/>
        </p:spPr>
        <p:txBody>
          <a:bodyPr wrap="square" lIns="0" tIns="0" rIns="0" bIns="0" rtlCol="0" anchor="t"/>
          <a:lstStyle/>
          <a:p>
            <a:pPr indent="0" marL="0">
              <a:lnSpc>
                <a:spcPct val="120000"/>
              </a:lnSpc>
              <a:buNone/>
            </a:pPr>
            <a:r>
              <a:rPr lang="en-US" sz="1150" dirty="0">
                <a:solidFill>
                  <a:srgbClr val="3F4C53"/>
                </a:solidFill>
                <a:latin typeface="Calibri" pitchFamily="34" charset="0"/>
                <a:ea typeface="Calibri" pitchFamily="34" charset="-122"/>
                <a:cs typeface="Calibri" pitchFamily="34" charset="-120"/>
              </a:rPr>
              <a:t>Food, sleep and mood in one health view</a:t>
            </a:r>
            <a:endParaRPr lang="en-US" sz="1150" dirty="0"/>
          </a:p>
        </p:txBody>
      </p:sp>
      <p:sp>
        <p:nvSpPr>
          <p:cNvPr id="30" name="Shape 23"/>
          <p:cNvSpPr/>
          <p:nvPr/>
        </p:nvSpPr>
        <p:spPr>
          <a:xfrm>
            <a:off x="3392424" y="4160520"/>
            <a:ext cx="2670048" cy="1691640"/>
          </a:xfrm>
          <a:prstGeom prst="roundRect">
            <a:avLst>
              <a:gd name="adj" fmla="val 3243"/>
            </a:avLst>
          </a:prstGeom>
          <a:solidFill>
            <a:srgbClr val="F1F6F4"/>
          </a:solidFill>
          <a:ln/>
        </p:spPr>
      </p:sp>
      <p:sp>
        <p:nvSpPr>
          <p:cNvPr id="31" name="Shape 24"/>
          <p:cNvSpPr/>
          <p:nvPr/>
        </p:nvSpPr>
        <p:spPr>
          <a:xfrm>
            <a:off x="3648456" y="4416552"/>
            <a:ext cx="512064" cy="512064"/>
          </a:xfrm>
          <a:prstGeom prst="roundRect">
            <a:avLst>
              <a:gd name="adj" fmla="val 23214"/>
            </a:avLst>
          </a:prstGeom>
          <a:solidFill>
            <a:srgbClr val="0E7C6B"/>
          </a:solidFill>
          <a:ln/>
        </p:spPr>
      </p:sp>
      <p:pic>
        <p:nvPicPr>
          <p:cNvPr id="32" name="Image 5" descr="preencoded.png">    </p:cNvPr>
          <p:cNvPicPr>
            <a:picLocks noChangeAspect="1"/>
          </p:cNvPicPr>
          <p:nvPr/>
        </p:nvPicPr>
        <p:blipFill>
          <a:blip r:embed="rId6"/>
          <a:stretch>
            <a:fillRect/>
          </a:stretch>
        </p:blipFill>
        <p:spPr>
          <a:xfrm>
            <a:off x="3786713" y="4554809"/>
            <a:ext cx="235549" cy="235549"/>
          </a:xfrm>
          <a:prstGeom prst="rect">
            <a:avLst/>
          </a:prstGeom>
        </p:spPr>
      </p:pic>
      <p:sp>
        <p:nvSpPr>
          <p:cNvPr id="33" name="Text 25"/>
          <p:cNvSpPr txBox="1"/>
          <p:nvPr/>
        </p:nvSpPr>
        <p:spPr>
          <a:xfrm>
            <a:off x="3648456" y="5038344"/>
            <a:ext cx="2157984" cy="658368"/>
          </a:xfrm>
          <a:prstGeom prst="rect">
            <a:avLst/>
          </a:prstGeom>
          <a:noFill/>
          <a:ln/>
        </p:spPr>
        <p:txBody>
          <a:bodyPr wrap="square" lIns="0" tIns="0" rIns="0" bIns="0" rtlCol="0" anchor="t"/>
          <a:lstStyle/>
          <a:p>
            <a:pPr indent="0" marL="0">
              <a:lnSpc>
                <a:spcPct val="120000"/>
              </a:lnSpc>
              <a:buNone/>
            </a:pPr>
            <a:r>
              <a:rPr lang="en-US" sz="1150" dirty="0">
                <a:solidFill>
                  <a:srgbClr val="3F4C53"/>
                </a:solidFill>
                <a:latin typeface="Calibri" pitchFamily="34" charset="0"/>
                <a:ea typeface="Calibri" pitchFamily="34" charset="-122"/>
                <a:cs typeface="Calibri" pitchFamily="34" charset="-120"/>
              </a:rPr>
              <a:t>Goals with automatic progress updates</a:t>
            </a:r>
            <a:endParaRPr lang="en-US" sz="1150" dirty="0"/>
          </a:p>
        </p:txBody>
      </p:sp>
      <p:sp>
        <p:nvSpPr>
          <p:cNvPr id="34" name="Shape 26"/>
          <p:cNvSpPr/>
          <p:nvPr/>
        </p:nvSpPr>
        <p:spPr>
          <a:xfrm>
            <a:off x="6281928" y="4160520"/>
            <a:ext cx="2670048" cy="1691640"/>
          </a:xfrm>
          <a:prstGeom prst="roundRect">
            <a:avLst>
              <a:gd name="adj" fmla="val 3243"/>
            </a:avLst>
          </a:prstGeom>
          <a:solidFill>
            <a:srgbClr val="F1F6F4"/>
          </a:solidFill>
          <a:ln/>
        </p:spPr>
      </p:sp>
      <p:sp>
        <p:nvSpPr>
          <p:cNvPr id="35" name="Shape 27"/>
          <p:cNvSpPr/>
          <p:nvPr/>
        </p:nvSpPr>
        <p:spPr>
          <a:xfrm>
            <a:off x="6537960" y="4416552"/>
            <a:ext cx="512064" cy="512064"/>
          </a:xfrm>
          <a:prstGeom prst="roundRect">
            <a:avLst>
              <a:gd name="adj" fmla="val 23214"/>
            </a:avLst>
          </a:prstGeom>
          <a:solidFill>
            <a:srgbClr val="0E7C6B"/>
          </a:solidFill>
          <a:ln/>
        </p:spPr>
      </p:sp>
      <p:pic>
        <p:nvPicPr>
          <p:cNvPr id="36" name="Image 6" descr="preencoded.png">    </p:cNvPr>
          <p:cNvPicPr>
            <a:picLocks noChangeAspect="1"/>
          </p:cNvPicPr>
          <p:nvPr/>
        </p:nvPicPr>
        <p:blipFill>
          <a:blip r:embed="rId7"/>
          <a:stretch>
            <a:fillRect/>
          </a:stretch>
        </p:blipFill>
        <p:spPr>
          <a:xfrm>
            <a:off x="6676217" y="4554809"/>
            <a:ext cx="235549" cy="235549"/>
          </a:xfrm>
          <a:prstGeom prst="rect">
            <a:avLst/>
          </a:prstGeom>
        </p:spPr>
      </p:pic>
      <p:sp>
        <p:nvSpPr>
          <p:cNvPr id="37" name="Text 28"/>
          <p:cNvSpPr txBox="1"/>
          <p:nvPr/>
        </p:nvSpPr>
        <p:spPr>
          <a:xfrm>
            <a:off x="6537960" y="5038344"/>
            <a:ext cx="2157984" cy="658368"/>
          </a:xfrm>
          <a:prstGeom prst="rect">
            <a:avLst/>
          </a:prstGeom>
          <a:noFill/>
          <a:ln/>
        </p:spPr>
        <p:txBody>
          <a:bodyPr wrap="square" lIns="0" tIns="0" rIns="0" bIns="0" rtlCol="0" anchor="t"/>
          <a:lstStyle/>
          <a:p>
            <a:pPr indent="0" marL="0">
              <a:lnSpc>
                <a:spcPct val="120000"/>
              </a:lnSpc>
              <a:buNone/>
            </a:pPr>
            <a:r>
              <a:rPr lang="en-US" sz="1150" dirty="0">
                <a:solidFill>
                  <a:srgbClr val="3F4C53"/>
                </a:solidFill>
                <a:latin typeface="Calibri" pitchFamily="34" charset="0"/>
                <a:ea typeface="Calibri" pitchFamily="34" charset="-122"/>
                <a:cs typeface="Calibri" pitchFamily="34" charset="-120"/>
              </a:rPr>
              <a:t>Charts and reports driven by SQL views</a:t>
            </a:r>
            <a:endParaRPr lang="en-US" sz="1150" dirty="0"/>
          </a:p>
        </p:txBody>
      </p:sp>
      <p:sp>
        <p:nvSpPr>
          <p:cNvPr id="38" name="Shape 29"/>
          <p:cNvSpPr/>
          <p:nvPr/>
        </p:nvSpPr>
        <p:spPr>
          <a:xfrm>
            <a:off x="9171432" y="4160520"/>
            <a:ext cx="2670048" cy="1691640"/>
          </a:xfrm>
          <a:prstGeom prst="roundRect">
            <a:avLst>
              <a:gd name="adj" fmla="val 3243"/>
            </a:avLst>
          </a:prstGeom>
          <a:solidFill>
            <a:srgbClr val="F1F6F4"/>
          </a:solidFill>
          <a:ln/>
        </p:spPr>
      </p:sp>
      <p:sp>
        <p:nvSpPr>
          <p:cNvPr id="39" name="Shape 30"/>
          <p:cNvSpPr/>
          <p:nvPr/>
        </p:nvSpPr>
        <p:spPr>
          <a:xfrm>
            <a:off x="9427464" y="4416552"/>
            <a:ext cx="512064" cy="512064"/>
          </a:xfrm>
          <a:prstGeom prst="roundRect">
            <a:avLst>
              <a:gd name="adj" fmla="val 23214"/>
            </a:avLst>
          </a:prstGeom>
          <a:solidFill>
            <a:srgbClr val="0E7C6B"/>
          </a:solidFill>
          <a:ln/>
        </p:spPr>
      </p:sp>
      <p:pic>
        <p:nvPicPr>
          <p:cNvPr id="40" name="Image 7" descr="preencoded.png">    </p:cNvPr>
          <p:cNvPicPr>
            <a:picLocks noChangeAspect="1"/>
          </p:cNvPicPr>
          <p:nvPr/>
        </p:nvPicPr>
        <p:blipFill>
          <a:blip r:embed="rId8"/>
          <a:stretch>
            <a:fillRect/>
          </a:stretch>
        </p:blipFill>
        <p:spPr>
          <a:xfrm>
            <a:off x="9565721" y="4554809"/>
            <a:ext cx="235549" cy="235549"/>
          </a:xfrm>
          <a:prstGeom prst="rect">
            <a:avLst/>
          </a:prstGeom>
        </p:spPr>
      </p:pic>
      <p:sp>
        <p:nvSpPr>
          <p:cNvPr id="41" name="Text 31"/>
          <p:cNvSpPr txBox="1"/>
          <p:nvPr/>
        </p:nvSpPr>
        <p:spPr>
          <a:xfrm>
            <a:off x="9427464" y="5038344"/>
            <a:ext cx="2157984" cy="658368"/>
          </a:xfrm>
          <a:prstGeom prst="rect">
            <a:avLst/>
          </a:prstGeom>
          <a:noFill/>
          <a:ln/>
        </p:spPr>
        <p:txBody>
          <a:bodyPr wrap="square" lIns="0" tIns="0" rIns="0" bIns="0" rtlCol="0" anchor="t"/>
          <a:lstStyle/>
          <a:p>
            <a:pPr indent="0" marL="0">
              <a:lnSpc>
                <a:spcPct val="120000"/>
              </a:lnSpc>
              <a:buNone/>
            </a:pPr>
            <a:r>
              <a:rPr lang="en-US" sz="1150" dirty="0">
                <a:solidFill>
                  <a:srgbClr val="3F4C53"/>
                </a:solidFill>
                <a:latin typeface="Calibri" pitchFamily="34" charset="0"/>
                <a:ea typeface="Calibri" pitchFamily="34" charset="-122"/>
                <a:cs typeface="Calibri" pitchFamily="34" charset="-120"/>
              </a:rPr>
              <a:t>Per-user isolation with hashed passwords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561320" y="-1051560"/>
            <a:ext cx="3017520" cy="3017520"/>
          </a:xfrm>
          <a:prstGeom prst="ellipse">
            <a:avLst/>
          </a:prstGeom>
          <a:solidFill>
            <a:srgbClr val="D9EDE7"/>
          </a:solidFill>
          <a:ln/>
        </p:spPr>
      </p:sp>
      <p:sp>
        <p:nvSpPr>
          <p:cNvPr id="3" name="Shape 1"/>
          <p:cNvSpPr/>
          <p:nvPr/>
        </p:nvSpPr>
        <p:spPr>
          <a:xfrm>
            <a:off x="-594360" y="6172200"/>
            <a:ext cx="1325880" cy="1325880"/>
          </a:xfrm>
          <a:prstGeom prst="ellipse">
            <a:avLst/>
          </a:prstGeom>
          <a:solidFill>
            <a:srgbClr val="D9EDE7"/>
          </a:solidFill>
          <a:ln/>
        </p:spPr>
      </p:sp>
      <p:sp>
        <p:nvSpPr>
          <p:cNvPr id="4" name="Shape 2"/>
          <p:cNvSpPr/>
          <p:nvPr/>
        </p:nvSpPr>
        <p:spPr>
          <a:xfrm>
            <a:off x="502920" y="457200"/>
            <a:ext cx="1234440" cy="320040"/>
          </a:xfrm>
          <a:prstGeom prst="roundRect">
            <a:avLst>
              <a:gd name="adj" fmla="val 48571"/>
            </a:avLst>
          </a:prstGeom>
          <a:solidFill>
            <a:srgbClr val="D9EDE7"/>
          </a:solidFill>
          <a:ln/>
        </p:spPr>
      </p:sp>
      <p:sp>
        <p:nvSpPr>
          <p:cNvPr id="5" name="Text 3"/>
          <p:cNvSpPr txBox="1"/>
          <p:nvPr/>
        </p:nvSpPr>
        <p:spPr>
          <a:xfrm>
            <a:off x="502920" y="457200"/>
            <a:ext cx="1234440" cy="320040"/>
          </a:xfrm>
          <a:prstGeom prst="rect">
            <a:avLst/>
          </a:prstGeom>
          <a:noFill/>
          <a:ln/>
        </p:spPr>
        <p:txBody>
          <a:bodyPr wrap="square" lIns="0" tIns="0" rIns="0" bIns="0" rtlCol="0" anchor="ctr"/>
          <a:lstStyle/>
          <a:p>
            <a:pPr algn="ctr" indent="0" marL="0">
              <a:buNone/>
            </a:pPr>
            <a:r>
              <a:rPr lang="en-US" sz="1000" b="1" spc="140" kern="0" dirty="0">
                <a:solidFill>
                  <a:srgbClr val="0A5D50"/>
                </a:solidFill>
                <a:latin typeface="Calibri" pitchFamily="34" charset="0"/>
                <a:ea typeface="Calibri" pitchFamily="34" charset="-122"/>
                <a:cs typeface="Calibri" pitchFamily="34" charset="-120"/>
              </a:rPr>
              <a:t>GOALS</a:t>
            </a:r>
            <a:endParaRPr lang="en-US" sz="1000" dirty="0"/>
          </a:p>
        </p:txBody>
      </p:sp>
      <p:sp>
        <p:nvSpPr>
          <p:cNvPr id="6" name="Text 4"/>
          <p:cNvSpPr txBox="1"/>
          <p:nvPr/>
        </p:nvSpPr>
        <p:spPr>
          <a:xfrm>
            <a:off x="448056" y="896112"/>
            <a:ext cx="9601200" cy="658368"/>
          </a:xfrm>
          <a:prstGeom prst="rect">
            <a:avLst/>
          </a:prstGeom>
          <a:noFill/>
          <a:ln/>
        </p:spPr>
        <p:txBody>
          <a:bodyPr wrap="square" lIns="0" tIns="0" rIns="0" bIns="0" rtlCol="0" anchor="ctr"/>
          <a:lstStyle/>
          <a:p>
            <a:pPr indent="0" marL="0">
              <a:buNone/>
            </a:pPr>
            <a:r>
              <a:rPr lang="en-US" sz="3800" b="1" dirty="0">
                <a:solidFill>
                  <a:srgbClr val="14303B"/>
                </a:solidFill>
                <a:latin typeface="Cambria" pitchFamily="34" charset="0"/>
                <a:ea typeface="Cambria" pitchFamily="34" charset="-122"/>
                <a:cs typeface="Cambria" pitchFamily="34" charset="-120"/>
              </a:rPr>
              <a:t>Objectives</a:t>
            </a:r>
            <a:endParaRPr lang="en-US" sz="3800" dirty="0"/>
          </a:p>
        </p:txBody>
      </p:sp>
      <p:sp>
        <p:nvSpPr>
          <p:cNvPr id="7" name="Text 5"/>
          <p:cNvSpPr txBox="1"/>
          <p:nvPr/>
        </p:nvSpPr>
        <p:spPr>
          <a:xfrm>
            <a:off x="502920" y="6355080"/>
            <a:ext cx="6400800" cy="274320"/>
          </a:xfrm>
          <a:prstGeom prst="rect">
            <a:avLst/>
          </a:prstGeom>
          <a:noFill/>
          <a:ln/>
        </p:spPr>
        <p:txBody>
          <a:bodyPr wrap="square" lIns="0" tIns="0" rIns="0" bIns="0" rtlCol="0" anchor="ctr"/>
          <a:lstStyle/>
          <a:p>
            <a:pPr indent="0" marL="0">
              <a:buNone/>
            </a:pPr>
            <a:r>
              <a:rPr lang="en-US" sz="800" spc="160" kern="0" dirty="0">
                <a:solidFill>
                  <a:srgbClr val="8A969C"/>
                </a:solidFill>
                <a:latin typeface="Calibri" pitchFamily="34" charset="0"/>
                <a:ea typeface="Calibri" pitchFamily="34" charset="-122"/>
                <a:cs typeface="Calibri" pitchFamily="34" charset="-120"/>
              </a:rPr>
              <a:t>LIFELOG  ·  PERSONAL ACTIVITY INTELLIGENCE DATABASE</a:t>
            </a:r>
            <a:endParaRPr lang="en-US" sz="800" dirty="0"/>
          </a:p>
        </p:txBody>
      </p:sp>
      <p:sp>
        <p:nvSpPr>
          <p:cNvPr id="8" name="Text 6"/>
          <p:cNvSpPr txBox="1"/>
          <p:nvPr/>
        </p:nvSpPr>
        <p:spPr>
          <a:xfrm>
            <a:off x="10881360" y="6355080"/>
            <a:ext cx="777240" cy="274320"/>
          </a:xfrm>
          <a:prstGeom prst="rect">
            <a:avLst/>
          </a:prstGeom>
          <a:noFill/>
          <a:ln/>
        </p:spPr>
        <p:txBody>
          <a:bodyPr wrap="square" lIns="0" tIns="0" rIns="0" bIns="0" rtlCol="0" anchor="ctr"/>
          <a:lstStyle/>
          <a:p>
            <a:pPr algn="r" indent="0" marL="0">
              <a:buNone/>
            </a:pPr>
            <a:r>
              <a:rPr lang="en-US" sz="900" dirty="0">
                <a:solidFill>
                  <a:srgbClr val="8A969C"/>
                </a:solidFill>
                <a:latin typeface="Calibri" pitchFamily="34" charset="0"/>
                <a:ea typeface="Calibri" pitchFamily="34" charset="-122"/>
                <a:cs typeface="Calibri" pitchFamily="34" charset="-120"/>
              </a:rPr>
              <a:t>7</a:t>
            </a:r>
            <a:endParaRPr lang="en-US" sz="900" dirty="0"/>
          </a:p>
        </p:txBody>
      </p:sp>
      <p:sp>
        <p:nvSpPr>
          <p:cNvPr id="9" name="Shape 7"/>
          <p:cNvSpPr/>
          <p:nvPr/>
        </p:nvSpPr>
        <p:spPr>
          <a:xfrm>
            <a:off x="502920" y="1737360"/>
            <a:ext cx="5330952" cy="914400"/>
          </a:xfrm>
          <a:prstGeom prst="roundRect">
            <a:avLst>
              <a:gd name="adj" fmla="val 6000"/>
            </a:avLst>
          </a:prstGeom>
          <a:solidFill>
            <a:srgbClr val="F1F6F4"/>
          </a:solidFill>
          <a:ln/>
        </p:spPr>
      </p:sp>
      <p:sp>
        <p:nvSpPr>
          <p:cNvPr id="10" name="Shape 8"/>
          <p:cNvSpPr/>
          <p:nvPr/>
        </p:nvSpPr>
        <p:spPr>
          <a:xfrm>
            <a:off x="740664" y="1956816"/>
            <a:ext cx="493776" cy="493776"/>
          </a:xfrm>
          <a:prstGeom prst="roundRect">
            <a:avLst>
              <a:gd name="adj" fmla="val 24074"/>
            </a:avLst>
          </a:prstGeom>
          <a:solidFill>
            <a:srgbClr val="0E7C6B"/>
          </a:solidFill>
          <a:ln/>
        </p:spPr>
      </p:sp>
      <p:pic>
        <p:nvPicPr>
          <p:cNvPr id="11" name="Image 0" descr="preencoded.png">    </p:cNvPr>
          <p:cNvPicPr>
            <a:picLocks noChangeAspect="1"/>
          </p:cNvPicPr>
          <p:nvPr/>
        </p:nvPicPr>
        <p:blipFill>
          <a:blip r:embed="rId1"/>
          <a:stretch>
            <a:fillRect/>
          </a:stretch>
        </p:blipFill>
        <p:spPr>
          <a:xfrm>
            <a:off x="873984" y="2090136"/>
            <a:ext cx="227137" cy="227137"/>
          </a:xfrm>
          <a:prstGeom prst="rect">
            <a:avLst/>
          </a:prstGeom>
        </p:spPr>
      </p:pic>
      <p:sp>
        <p:nvSpPr>
          <p:cNvPr id="12" name="Text 9"/>
          <p:cNvSpPr txBox="1"/>
          <p:nvPr/>
        </p:nvSpPr>
        <p:spPr>
          <a:xfrm>
            <a:off x="1399032" y="1883664"/>
            <a:ext cx="4197096" cy="640080"/>
          </a:xfrm>
          <a:prstGeom prst="rect">
            <a:avLst/>
          </a:prstGeom>
          <a:noFill/>
          <a:ln/>
        </p:spPr>
        <p:txBody>
          <a:bodyPr wrap="square" lIns="0" tIns="0" rIns="0" bIns="0" rtlCol="0" anchor="ctr"/>
          <a:lstStyle/>
          <a:p>
            <a:pPr indent="0" marL="0">
              <a:lnSpc>
                <a:spcPct val="118000"/>
              </a:lnSpc>
              <a:buNone/>
            </a:pPr>
            <a:r>
              <a:rPr lang="en-US" sz="1200" dirty="0">
                <a:solidFill>
                  <a:srgbClr val="3F4C53"/>
                </a:solidFill>
                <a:latin typeface="Calibri" pitchFamily="34" charset="0"/>
                <a:ea typeface="Calibri" pitchFamily="34" charset="-122"/>
                <a:cs typeface="Calibri" pitchFamily="34" charset="-120"/>
              </a:rPr>
              <a:t>To design a normalized relational database for personal activity data.</a:t>
            </a:r>
            <a:endParaRPr lang="en-US" sz="1200" dirty="0"/>
          </a:p>
        </p:txBody>
      </p:sp>
      <p:sp>
        <p:nvSpPr>
          <p:cNvPr id="13" name="Shape 10"/>
          <p:cNvSpPr/>
          <p:nvPr/>
        </p:nvSpPr>
        <p:spPr>
          <a:xfrm>
            <a:off x="6108192" y="1737360"/>
            <a:ext cx="5330952" cy="914400"/>
          </a:xfrm>
          <a:prstGeom prst="roundRect">
            <a:avLst>
              <a:gd name="adj" fmla="val 6000"/>
            </a:avLst>
          </a:prstGeom>
          <a:solidFill>
            <a:srgbClr val="F1F6F4"/>
          </a:solidFill>
          <a:ln/>
        </p:spPr>
      </p:sp>
      <p:sp>
        <p:nvSpPr>
          <p:cNvPr id="14" name="Shape 11"/>
          <p:cNvSpPr/>
          <p:nvPr/>
        </p:nvSpPr>
        <p:spPr>
          <a:xfrm>
            <a:off x="6345936" y="1956816"/>
            <a:ext cx="493776" cy="493776"/>
          </a:xfrm>
          <a:prstGeom prst="roundRect">
            <a:avLst>
              <a:gd name="adj" fmla="val 24074"/>
            </a:avLst>
          </a:prstGeom>
          <a:solidFill>
            <a:srgbClr val="0E7C6B"/>
          </a:solidFill>
          <a:ln/>
        </p:spPr>
      </p:sp>
      <p:pic>
        <p:nvPicPr>
          <p:cNvPr id="15" name="Image 1" descr="preencoded.png">    </p:cNvPr>
          <p:cNvPicPr>
            <a:picLocks noChangeAspect="1"/>
          </p:cNvPicPr>
          <p:nvPr/>
        </p:nvPicPr>
        <p:blipFill>
          <a:blip r:embed="rId2"/>
          <a:stretch>
            <a:fillRect/>
          </a:stretch>
        </p:blipFill>
        <p:spPr>
          <a:xfrm>
            <a:off x="6479256" y="2090136"/>
            <a:ext cx="227137" cy="227137"/>
          </a:xfrm>
          <a:prstGeom prst="rect">
            <a:avLst/>
          </a:prstGeom>
        </p:spPr>
      </p:pic>
      <p:sp>
        <p:nvSpPr>
          <p:cNvPr id="16" name="Text 12"/>
          <p:cNvSpPr txBox="1"/>
          <p:nvPr/>
        </p:nvSpPr>
        <p:spPr>
          <a:xfrm>
            <a:off x="7004304" y="1883664"/>
            <a:ext cx="4197096" cy="640080"/>
          </a:xfrm>
          <a:prstGeom prst="rect">
            <a:avLst/>
          </a:prstGeom>
          <a:noFill/>
          <a:ln/>
        </p:spPr>
        <p:txBody>
          <a:bodyPr wrap="square" lIns="0" tIns="0" rIns="0" bIns="0" rtlCol="0" anchor="ctr"/>
          <a:lstStyle/>
          <a:p>
            <a:pPr indent="0" marL="0">
              <a:lnSpc>
                <a:spcPct val="118000"/>
              </a:lnSpc>
              <a:buNone/>
            </a:pPr>
            <a:r>
              <a:rPr lang="en-US" sz="1200" dirty="0">
                <a:solidFill>
                  <a:srgbClr val="3F4C53"/>
                </a:solidFill>
                <a:latin typeface="Calibri" pitchFamily="34" charset="0"/>
                <a:ea typeface="Calibri" pitchFamily="34" charset="-122"/>
                <a:cs typeface="Calibri" pitchFamily="34" charset="-120"/>
              </a:rPr>
              <a:t>To record activities, study, expenses, food and transport reliably.</a:t>
            </a:r>
            <a:endParaRPr lang="en-US" sz="1200" dirty="0"/>
          </a:p>
        </p:txBody>
      </p:sp>
      <p:sp>
        <p:nvSpPr>
          <p:cNvPr id="17" name="Shape 13"/>
          <p:cNvSpPr/>
          <p:nvPr/>
        </p:nvSpPr>
        <p:spPr>
          <a:xfrm>
            <a:off x="502920" y="2852928"/>
            <a:ext cx="5330952" cy="914400"/>
          </a:xfrm>
          <a:prstGeom prst="roundRect">
            <a:avLst>
              <a:gd name="adj" fmla="val 6000"/>
            </a:avLst>
          </a:prstGeom>
          <a:solidFill>
            <a:srgbClr val="F1F6F4"/>
          </a:solidFill>
          <a:ln/>
        </p:spPr>
      </p:sp>
      <p:sp>
        <p:nvSpPr>
          <p:cNvPr id="18" name="Shape 14"/>
          <p:cNvSpPr/>
          <p:nvPr/>
        </p:nvSpPr>
        <p:spPr>
          <a:xfrm>
            <a:off x="740664" y="3072384"/>
            <a:ext cx="493776" cy="493776"/>
          </a:xfrm>
          <a:prstGeom prst="roundRect">
            <a:avLst>
              <a:gd name="adj" fmla="val 24074"/>
            </a:avLst>
          </a:prstGeom>
          <a:solidFill>
            <a:srgbClr val="0E7C6B"/>
          </a:solidFill>
          <a:ln/>
        </p:spPr>
      </p:sp>
      <p:pic>
        <p:nvPicPr>
          <p:cNvPr id="19" name="Image 2" descr="preencoded.png">    </p:cNvPr>
          <p:cNvPicPr>
            <a:picLocks noChangeAspect="1"/>
          </p:cNvPicPr>
          <p:nvPr/>
        </p:nvPicPr>
        <p:blipFill>
          <a:blip r:embed="rId3"/>
          <a:stretch>
            <a:fillRect/>
          </a:stretch>
        </p:blipFill>
        <p:spPr>
          <a:xfrm>
            <a:off x="873984" y="3205704"/>
            <a:ext cx="227137" cy="227137"/>
          </a:xfrm>
          <a:prstGeom prst="rect">
            <a:avLst/>
          </a:prstGeom>
        </p:spPr>
      </p:pic>
      <p:sp>
        <p:nvSpPr>
          <p:cNvPr id="20" name="Text 15"/>
          <p:cNvSpPr txBox="1"/>
          <p:nvPr/>
        </p:nvSpPr>
        <p:spPr>
          <a:xfrm>
            <a:off x="1399032" y="2999232"/>
            <a:ext cx="4197096" cy="640080"/>
          </a:xfrm>
          <a:prstGeom prst="rect">
            <a:avLst/>
          </a:prstGeom>
          <a:noFill/>
          <a:ln/>
        </p:spPr>
        <p:txBody>
          <a:bodyPr wrap="square" lIns="0" tIns="0" rIns="0" bIns="0" rtlCol="0" anchor="ctr"/>
          <a:lstStyle/>
          <a:p>
            <a:pPr indent="0" marL="0">
              <a:lnSpc>
                <a:spcPct val="118000"/>
              </a:lnSpc>
              <a:buNone/>
            </a:pPr>
            <a:r>
              <a:rPr lang="en-US" sz="1200" dirty="0">
                <a:solidFill>
                  <a:srgbClr val="3F4C53"/>
                </a:solidFill>
                <a:latin typeface="Calibri" pitchFamily="34" charset="0"/>
                <a:ea typeface="Calibri" pitchFamily="34" charset="-122"/>
                <a:cs typeface="Calibri" pitchFamily="34" charset="-120"/>
              </a:rPr>
              <a:t>To track health indicators such as sleep, mood and screen time.</a:t>
            </a:r>
            <a:endParaRPr lang="en-US" sz="1200" dirty="0"/>
          </a:p>
        </p:txBody>
      </p:sp>
      <p:sp>
        <p:nvSpPr>
          <p:cNvPr id="21" name="Shape 16"/>
          <p:cNvSpPr/>
          <p:nvPr/>
        </p:nvSpPr>
        <p:spPr>
          <a:xfrm>
            <a:off x="6108192" y="2852928"/>
            <a:ext cx="5330952" cy="914400"/>
          </a:xfrm>
          <a:prstGeom prst="roundRect">
            <a:avLst>
              <a:gd name="adj" fmla="val 6000"/>
            </a:avLst>
          </a:prstGeom>
          <a:solidFill>
            <a:srgbClr val="F1F6F4"/>
          </a:solidFill>
          <a:ln/>
        </p:spPr>
      </p:sp>
      <p:sp>
        <p:nvSpPr>
          <p:cNvPr id="22" name="Shape 17"/>
          <p:cNvSpPr/>
          <p:nvPr/>
        </p:nvSpPr>
        <p:spPr>
          <a:xfrm>
            <a:off x="6345936" y="3072384"/>
            <a:ext cx="493776" cy="493776"/>
          </a:xfrm>
          <a:prstGeom prst="roundRect">
            <a:avLst>
              <a:gd name="adj" fmla="val 24074"/>
            </a:avLst>
          </a:prstGeom>
          <a:solidFill>
            <a:srgbClr val="0E7C6B"/>
          </a:solidFill>
          <a:ln/>
        </p:spPr>
      </p:sp>
      <p:pic>
        <p:nvPicPr>
          <p:cNvPr id="23" name="Image 3" descr="preencoded.png">    </p:cNvPr>
          <p:cNvPicPr>
            <a:picLocks noChangeAspect="1"/>
          </p:cNvPicPr>
          <p:nvPr/>
        </p:nvPicPr>
        <p:blipFill>
          <a:blip r:embed="rId4"/>
          <a:stretch>
            <a:fillRect/>
          </a:stretch>
        </p:blipFill>
        <p:spPr>
          <a:xfrm>
            <a:off x="6479256" y="3205704"/>
            <a:ext cx="227137" cy="227137"/>
          </a:xfrm>
          <a:prstGeom prst="rect">
            <a:avLst/>
          </a:prstGeom>
        </p:spPr>
      </p:pic>
      <p:sp>
        <p:nvSpPr>
          <p:cNvPr id="24" name="Text 18"/>
          <p:cNvSpPr txBox="1"/>
          <p:nvPr/>
        </p:nvSpPr>
        <p:spPr>
          <a:xfrm>
            <a:off x="7004304" y="2999232"/>
            <a:ext cx="4197096" cy="640080"/>
          </a:xfrm>
          <a:prstGeom prst="rect">
            <a:avLst/>
          </a:prstGeom>
          <a:noFill/>
          <a:ln/>
        </p:spPr>
        <p:txBody>
          <a:bodyPr wrap="square" lIns="0" tIns="0" rIns="0" bIns="0" rtlCol="0" anchor="ctr"/>
          <a:lstStyle/>
          <a:p>
            <a:pPr indent="0" marL="0">
              <a:lnSpc>
                <a:spcPct val="118000"/>
              </a:lnSpc>
              <a:buNone/>
            </a:pPr>
            <a:r>
              <a:rPr lang="en-US" sz="1200" dirty="0">
                <a:solidFill>
                  <a:srgbClr val="3F4C53"/>
                </a:solidFill>
                <a:latin typeface="Calibri" pitchFamily="34" charset="0"/>
                <a:ea typeface="Calibri" pitchFamily="34" charset="-122"/>
                <a:cs typeface="Calibri" pitchFamily="34" charset="-120"/>
              </a:rPr>
              <a:t>To manage personal goals and their progress over time.</a:t>
            </a:r>
            <a:endParaRPr lang="en-US" sz="1200" dirty="0"/>
          </a:p>
        </p:txBody>
      </p:sp>
      <p:sp>
        <p:nvSpPr>
          <p:cNvPr id="25" name="Shape 19"/>
          <p:cNvSpPr/>
          <p:nvPr/>
        </p:nvSpPr>
        <p:spPr>
          <a:xfrm>
            <a:off x="502920" y="3968496"/>
            <a:ext cx="5330952" cy="914400"/>
          </a:xfrm>
          <a:prstGeom prst="roundRect">
            <a:avLst>
              <a:gd name="adj" fmla="val 6000"/>
            </a:avLst>
          </a:prstGeom>
          <a:solidFill>
            <a:srgbClr val="F1F6F4"/>
          </a:solidFill>
          <a:ln/>
        </p:spPr>
      </p:sp>
      <p:sp>
        <p:nvSpPr>
          <p:cNvPr id="26" name="Shape 20"/>
          <p:cNvSpPr/>
          <p:nvPr/>
        </p:nvSpPr>
        <p:spPr>
          <a:xfrm>
            <a:off x="740664" y="4187952"/>
            <a:ext cx="493776" cy="493776"/>
          </a:xfrm>
          <a:prstGeom prst="roundRect">
            <a:avLst>
              <a:gd name="adj" fmla="val 24074"/>
            </a:avLst>
          </a:prstGeom>
          <a:solidFill>
            <a:srgbClr val="0E7C6B"/>
          </a:solidFill>
          <a:ln/>
        </p:spPr>
      </p:sp>
      <p:pic>
        <p:nvPicPr>
          <p:cNvPr id="27" name="Image 4" descr="preencoded.png">    </p:cNvPr>
          <p:cNvPicPr>
            <a:picLocks noChangeAspect="1"/>
          </p:cNvPicPr>
          <p:nvPr/>
        </p:nvPicPr>
        <p:blipFill>
          <a:blip r:embed="rId5"/>
          <a:stretch>
            <a:fillRect/>
          </a:stretch>
        </p:blipFill>
        <p:spPr>
          <a:xfrm>
            <a:off x="873984" y="4321272"/>
            <a:ext cx="227137" cy="227137"/>
          </a:xfrm>
          <a:prstGeom prst="rect">
            <a:avLst/>
          </a:prstGeom>
        </p:spPr>
      </p:pic>
      <p:sp>
        <p:nvSpPr>
          <p:cNvPr id="28" name="Text 21"/>
          <p:cNvSpPr txBox="1"/>
          <p:nvPr/>
        </p:nvSpPr>
        <p:spPr>
          <a:xfrm>
            <a:off x="1399032" y="4114800"/>
            <a:ext cx="4197096" cy="640080"/>
          </a:xfrm>
          <a:prstGeom prst="rect">
            <a:avLst/>
          </a:prstGeom>
          <a:noFill/>
          <a:ln/>
        </p:spPr>
        <p:txBody>
          <a:bodyPr wrap="square" lIns="0" tIns="0" rIns="0" bIns="0" rtlCol="0" anchor="ctr"/>
          <a:lstStyle/>
          <a:p>
            <a:pPr indent="0" marL="0">
              <a:lnSpc>
                <a:spcPct val="118000"/>
              </a:lnSpc>
              <a:buNone/>
            </a:pPr>
            <a:r>
              <a:rPr lang="en-US" sz="1200" dirty="0">
                <a:solidFill>
                  <a:srgbClr val="3F4C53"/>
                </a:solidFill>
                <a:latin typeface="Calibri" pitchFamily="34" charset="0"/>
                <a:ea typeface="Calibri" pitchFamily="34" charset="-122"/>
                <a:cs typeface="Calibri" pitchFamily="34" charset="-120"/>
              </a:rPr>
              <a:t>To enforce data integrity using keys, constraints and triggers.</a:t>
            </a:r>
            <a:endParaRPr lang="en-US" sz="1200" dirty="0"/>
          </a:p>
        </p:txBody>
      </p:sp>
      <p:sp>
        <p:nvSpPr>
          <p:cNvPr id="29" name="Shape 22"/>
          <p:cNvSpPr/>
          <p:nvPr/>
        </p:nvSpPr>
        <p:spPr>
          <a:xfrm>
            <a:off x="6108192" y="3968496"/>
            <a:ext cx="5330952" cy="914400"/>
          </a:xfrm>
          <a:prstGeom prst="roundRect">
            <a:avLst>
              <a:gd name="adj" fmla="val 6000"/>
            </a:avLst>
          </a:prstGeom>
          <a:solidFill>
            <a:srgbClr val="F1F6F4"/>
          </a:solidFill>
          <a:ln/>
        </p:spPr>
      </p:sp>
      <p:sp>
        <p:nvSpPr>
          <p:cNvPr id="30" name="Shape 23"/>
          <p:cNvSpPr/>
          <p:nvPr/>
        </p:nvSpPr>
        <p:spPr>
          <a:xfrm>
            <a:off x="6345936" y="4187952"/>
            <a:ext cx="493776" cy="493776"/>
          </a:xfrm>
          <a:prstGeom prst="roundRect">
            <a:avLst>
              <a:gd name="adj" fmla="val 24074"/>
            </a:avLst>
          </a:prstGeom>
          <a:solidFill>
            <a:srgbClr val="0E7C6B"/>
          </a:solidFill>
          <a:ln/>
        </p:spPr>
      </p:sp>
      <p:pic>
        <p:nvPicPr>
          <p:cNvPr id="31" name="Image 5" descr="preencoded.png">    </p:cNvPr>
          <p:cNvPicPr>
            <a:picLocks noChangeAspect="1"/>
          </p:cNvPicPr>
          <p:nvPr/>
        </p:nvPicPr>
        <p:blipFill>
          <a:blip r:embed="rId6"/>
          <a:stretch>
            <a:fillRect/>
          </a:stretch>
        </p:blipFill>
        <p:spPr>
          <a:xfrm>
            <a:off x="6479256" y="4321272"/>
            <a:ext cx="227137" cy="227137"/>
          </a:xfrm>
          <a:prstGeom prst="rect">
            <a:avLst/>
          </a:prstGeom>
        </p:spPr>
      </p:pic>
      <p:sp>
        <p:nvSpPr>
          <p:cNvPr id="32" name="Text 24"/>
          <p:cNvSpPr txBox="1"/>
          <p:nvPr/>
        </p:nvSpPr>
        <p:spPr>
          <a:xfrm>
            <a:off x="7004304" y="4114800"/>
            <a:ext cx="4197096" cy="640080"/>
          </a:xfrm>
          <a:prstGeom prst="rect">
            <a:avLst/>
          </a:prstGeom>
          <a:noFill/>
          <a:ln/>
        </p:spPr>
        <p:txBody>
          <a:bodyPr wrap="square" lIns="0" tIns="0" rIns="0" bIns="0" rtlCol="0" anchor="ctr"/>
          <a:lstStyle/>
          <a:p>
            <a:pPr indent="0" marL="0">
              <a:lnSpc>
                <a:spcPct val="118000"/>
              </a:lnSpc>
              <a:buNone/>
            </a:pPr>
            <a:r>
              <a:rPr lang="en-US" sz="1200" dirty="0">
                <a:solidFill>
                  <a:srgbClr val="3F4C53"/>
                </a:solidFill>
                <a:latin typeface="Calibri" pitchFamily="34" charset="0"/>
                <a:ea typeface="Calibri" pitchFamily="34" charset="-122"/>
                <a:cs typeface="Calibri" pitchFamily="34" charset="-120"/>
              </a:rPr>
              <a:t>To generate summaries using views, procedures and aggregate queries.</a:t>
            </a:r>
            <a:endParaRPr lang="en-US" sz="1200" dirty="0"/>
          </a:p>
        </p:txBody>
      </p:sp>
      <p:sp>
        <p:nvSpPr>
          <p:cNvPr id="33" name="Shape 25"/>
          <p:cNvSpPr/>
          <p:nvPr/>
        </p:nvSpPr>
        <p:spPr>
          <a:xfrm>
            <a:off x="502920" y="5084064"/>
            <a:ext cx="5330952" cy="914400"/>
          </a:xfrm>
          <a:prstGeom prst="roundRect">
            <a:avLst>
              <a:gd name="adj" fmla="val 6000"/>
            </a:avLst>
          </a:prstGeom>
          <a:solidFill>
            <a:srgbClr val="F1F6F4"/>
          </a:solidFill>
          <a:ln/>
        </p:spPr>
      </p:sp>
      <p:sp>
        <p:nvSpPr>
          <p:cNvPr id="34" name="Shape 26"/>
          <p:cNvSpPr/>
          <p:nvPr/>
        </p:nvSpPr>
        <p:spPr>
          <a:xfrm>
            <a:off x="740664" y="5303520"/>
            <a:ext cx="493776" cy="493776"/>
          </a:xfrm>
          <a:prstGeom prst="roundRect">
            <a:avLst>
              <a:gd name="adj" fmla="val 24074"/>
            </a:avLst>
          </a:prstGeom>
          <a:solidFill>
            <a:srgbClr val="0E7C6B"/>
          </a:solidFill>
          <a:ln/>
        </p:spPr>
      </p:sp>
      <p:pic>
        <p:nvPicPr>
          <p:cNvPr id="35" name="Image 6" descr="preencoded.png">    </p:cNvPr>
          <p:cNvPicPr>
            <a:picLocks noChangeAspect="1"/>
          </p:cNvPicPr>
          <p:nvPr/>
        </p:nvPicPr>
        <p:blipFill>
          <a:blip r:embed="rId7"/>
          <a:stretch>
            <a:fillRect/>
          </a:stretch>
        </p:blipFill>
        <p:spPr>
          <a:xfrm>
            <a:off x="873984" y="5436840"/>
            <a:ext cx="227137" cy="227137"/>
          </a:xfrm>
          <a:prstGeom prst="rect">
            <a:avLst/>
          </a:prstGeom>
        </p:spPr>
      </p:pic>
      <p:sp>
        <p:nvSpPr>
          <p:cNvPr id="36" name="Text 27"/>
          <p:cNvSpPr txBox="1"/>
          <p:nvPr/>
        </p:nvSpPr>
        <p:spPr>
          <a:xfrm>
            <a:off x="1399032" y="5230368"/>
            <a:ext cx="4197096" cy="640080"/>
          </a:xfrm>
          <a:prstGeom prst="rect">
            <a:avLst/>
          </a:prstGeom>
          <a:noFill/>
          <a:ln/>
        </p:spPr>
        <p:txBody>
          <a:bodyPr wrap="square" lIns="0" tIns="0" rIns="0" bIns="0" rtlCol="0" anchor="ctr"/>
          <a:lstStyle/>
          <a:p>
            <a:pPr indent="0" marL="0">
              <a:lnSpc>
                <a:spcPct val="118000"/>
              </a:lnSpc>
              <a:buNone/>
            </a:pPr>
            <a:r>
              <a:rPr lang="en-US" sz="1200" dirty="0">
                <a:solidFill>
                  <a:srgbClr val="3F4C53"/>
                </a:solidFill>
                <a:latin typeface="Calibri" pitchFamily="34" charset="0"/>
                <a:ea typeface="Calibri" pitchFamily="34" charset="-122"/>
                <a:cs typeface="Calibri" pitchFamily="34" charset="-120"/>
              </a:rPr>
              <a:t>To expose all operations through a secure Spring Boot REST API.</a:t>
            </a:r>
            <a:endParaRPr lang="en-US" sz="1200" dirty="0"/>
          </a:p>
        </p:txBody>
      </p:sp>
      <p:sp>
        <p:nvSpPr>
          <p:cNvPr id="37" name="Shape 28"/>
          <p:cNvSpPr/>
          <p:nvPr/>
        </p:nvSpPr>
        <p:spPr>
          <a:xfrm>
            <a:off x="6108192" y="5084064"/>
            <a:ext cx="5330952" cy="914400"/>
          </a:xfrm>
          <a:prstGeom prst="roundRect">
            <a:avLst>
              <a:gd name="adj" fmla="val 6000"/>
            </a:avLst>
          </a:prstGeom>
          <a:solidFill>
            <a:srgbClr val="F1F6F4"/>
          </a:solidFill>
          <a:ln/>
        </p:spPr>
      </p:sp>
      <p:sp>
        <p:nvSpPr>
          <p:cNvPr id="38" name="Shape 29"/>
          <p:cNvSpPr/>
          <p:nvPr/>
        </p:nvSpPr>
        <p:spPr>
          <a:xfrm>
            <a:off x="6345936" y="5303520"/>
            <a:ext cx="493776" cy="493776"/>
          </a:xfrm>
          <a:prstGeom prst="roundRect">
            <a:avLst>
              <a:gd name="adj" fmla="val 24074"/>
            </a:avLst>
          </a:prstGeom>
          <a:solidFill>
            <a:srgbClr val="0E7C6B"/>
          </a:solidFill>
          <a:ln/>
        </p:spPr>
      </p:sp>
      <p:pic>
        <p:nvPicPr>
          <p:cNvPr id="39" name="Image 7" descr="preencoded.png">    </p:cNvPr>
          <p:cNvPicPr>
            <a:picLocks noChangeAspect="1"/>
          </p:cNvPicPr>
          <p:nvPr/>
        </p:nvPicPr>
        <p:blipFill>
          <a:blip r:embed="rId8"/>
          <a:stretch>
            <a:fillRect/>
          </a:stretch>
        </p:blipFill>
        <p:spPr>
          <a:xfrm>
            <a:off x="6479256" y="5436840"/>
            <a:ext cx="227137" cy="227137"/>
          </a:xfrm>
          <a:prstGeom prst="rect">
            <a:avLst/>
          </a:prstGeom>
        </p:spPr>
      </p:pic>
      <p:sp>
        <p:nvSpPr>
          <p:cNvPr id="40" name="Text 30"/>
          <p:cNvSpPr txBox="1"/>
          <p:nvPr/>
        </p:nvSpPr>
        <p:spPr>
          <a:xfrm>
            <a:off x="7004304" y="5230368"/>
            <a:ext cx="4197096" cy="640080"/>
          </a:xfrm>
          <a:prstGeom prst="rect">
            <a:avLst/>
          </a:prstGeom>
          <a:noFill/>
          <a:ln/>
        </p:spPr>
        <p:txBody>
          <a:bodyPr wrap="square" lIns="0" tIns="0" rIns="0" bIns="0" rtlCol="0" anchor="ctr"/>
          <a:lstStyle/>
          <a:p>
            <a:pPr indent="0" marL="0">
              <a:lnSpc>
                <a:spcPct val="118000"/>
              </a:lnSpc>
              <a:buNone/>
            </a:pPr>
            <a:r>
              <a:rPr lang="en-US" sz="1200" dirty="0">
                <a:solidFill>
                  <a:srgbClr val="3F4C53"/>
                </a:solidFill>
                <a:latin typeface="Calibri" pitchFamily="34" charset="0"/>
                <a:ea typeface="Calibri" pitchFamily="34" charset="-122"/>
                <a:cs typeface="Calibri" pitchFamily="34" charset="-120"/>
              </a:rPr>
              <a:t>To visualize trends on a responsive analytics dashboard.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561320" y="-1051560"/>
            <a:ext cx="3017520" cy="3017520"/>
          </a:xfrm>
          <a:prstGeom prst="ellipse">
            <a:avLst/>
          </a:prstGeom>
          <a:solidFill>
            <a:srgbClr val="D9EDE7"/>
          </a:solidFill>
          <a:ln/>
        </p:spPr>
      </p:sp>
      <p:sp>
        <p:nvSpPr>
          <p:cNvPr id="3" name="Shape 1"/>
          <p:cNvSpPr/>
          <p:nvPr/>
        </p:nvSpPr>
        <p:spPr>
          <a:xfrm>
            <a:off x="-594360" y="6172200"/>
            <a:ext cx="1325880" cy="1325880"/>
          </a:xfrm>
          <a:prstGeom prst="ellipse">
            <a:avLst/>
          </a:prstGeom>
          <a:solidFill>
            <a:srgbClr val="D9EDE7"/>
          </a:solidFill>
          <a:ln/>
        </p:spPr>
      </p:sp>
      <p:sp>
        <p:nvSpPr>
          <p:cNvPr id="4" name="Shape 2"/>
          <p:cNvSpPr/>
          <p:nvPr/>
        </p:nvSpPr>
        <p:spPr>
          <a:xfrm>
            <a:off x="502920" y="457200"/>
            <a:ext cx="2404872" cy="320040"/>
          </a:xfrm>
          <a:prstGeom prst="roundRect">
            <a:avLst>
              <a:gd name="adj" fmla="val 48571"/>
            </a:avLst>
          </a:prstGeom>
          <a:solidFill>
            <a:srgbClr val="D9EDE7"/>
          </a:solidFill>
          <a:ln/>
        </p:spPr>
      </p:sp>
      <p:sp>
        <p:nvSpPr>
          <p:cNvPr id="5" name="Text 3"/>
          <p:cNvSpPr txBox="1"/>
          <p:nvPr/>
        </p:nvSpPr>
        <p:spPr>
          <a:xfrm>
            <a:off x="502920" y="457200"/>
            <a:ext cx="2404872" cy="320040"/>
          </a:xfrm>
          <a:prstGeom prst="rect">
            <a:avLst/>
          </a:prstGeom>
          <a:noFill/>
          <a:ln/>
        </p:spPr>
        <p:txBody>
          <a:bodyPr wrap="square" lIns="0" tIns="0" rIns="0" bIns="0" rtlCol="0" anchor="ctr"/>
          <a:lstStyle/>
          <a:p>
            <a:pPr algn="ctr" indent="0" marL="0">
              <a:buNone/>
            </a:pPr>
            <a:r>
              <a:rPr lang="en-US" sz="1000" b="1" spc="140" kern="0" dirty="0">
                <a:solidFill>
                  <a:srgbClr val="0A5D50"/>
                </a:solidFill>
                <a:latin typeface="Calibri" pitchFamily="34" charset="0"/>
                <a:ea typeface="Calibri" pitchFamily="34" charset="-122"/>
                <a:cs typeface="Calibri" pitchFamily="34" charset="-120"/>
              </a:rPr>
              <a:t>SYSTEM DESIGN</a:t>
            </a:r>
            <a:endParaRPr lang="en-US" sz="1000" dirty="0"/>
          </a:p>
        </p:txBody>
      </p:sp>
      <p:sp>
        <p:nvSpPr>
          <p:cNvPr id="6" name="Text 4"/>
          <p:cNvSpPr txBox="1"/>
          <p:nvPr/>
        </p:nvSpPr>
        <p:spPr>
          <a:xfrm>
            <a:off x="448056" y="896112"/>
            <a:ext cx="9601200" cy="658368"/>
          </a:xfrm>
          <a:prstGeom prst="rect">
            <a:avLst/>
          </a:prstGeom>
          <a:noFill/>
          <a:ln/>
        </p:spPr>
        <p:txBody>
          <a:bodyPr wrap="square" lIns="0" tIns="0" rIns="0" bIns="0" rtlCol="0" anchor="ctr"/>
          <a:lstStyle/>
          <a:p>
            <a:pPr indent="0" marL="0">
              <a:buNone/>
            </a:pPr>
            <a:r>
              <a:rPr lang="en-US" sz="3800" b="1" dirty="0">
                <a:solidFill>
                  <a:srgbClr val="14303B"/>
                </a:solidFill>
                <a:latin typeface="Cambria" pitchFamily="34" charset="0"/>
                <a:ea typeface="Cambria" pitchFamily="34" charset="-122"/>
                <a:cs typeface="Cambria" pitchFamily="34" charset="-120"/>
              </a:rPr>
              <a:t>Modules</a:t>
            </a:r>
            <a:endParaRPr lang="en-US" sz="3800" dirty="0"/>
          </a:p>
        </p:txBody>
      </p:sp>
      <p:sp>
        <p:nvSpPr>
          <p:cNvPr id="7" name="Text 5"/>
          <p:cNvSpPr txBox="1"/>
          <p:nvPr/>
        </p:nvSpPr>
        <p:spPr>
          <a:xfrm>
            <a:off x="502920" y="6355080"/>
            <a:ext cx="6400800" cy="274320"/>
          </a:xfrm>
          <a:prstGeom prst="rect">
            <a:avLst/>
          </a:prstGeom>
          <a:noFill/>
          <a:ln/>
        </p:spPr>
        <p:txBody>
          <a:bodyPr wrap="square" lIns="0" tIns="0" rIns="0" bIns="0" rtlCol="0" anchor="ctr"/>
          <a:lstStyle/>
          <a:p>
            <a:pPr indent="0" marL="0">
              <a:buNone/>
            </a:pPr>
            <a:r>
              <a:rPr lang="en-US" sz="800" spc="160" kern="0" dirty="0">
                <a:solidFill>
                  <a:srgbClr val="8A969C"/>
                </a:solidFill>
                <a:latin typeface="Calibri" pitchFamily="34" charset="0"/>
                <a:ea typeface="Calibri" pitchFamily="34" charset="-122"/>
                <a:cs typeface="Calibri" pitchFamily="34" charset="-120"/>
              </a:rPr>
              <a:t>LIFELOG  ·  PERSONAL ACTIVITY INTELLIGENCE DATABASE</a:t>
            </a:r>
            <a:endParaRPr lang="en-US" sz="800" dirty="0"/>
          </a:p>
        </p:txBody>
      </p:sp>
      <p:sp>
        <p:nvSpPr>
          <p:cNvPr id="8" name="Text 6"/>
          <p:cNvSpPr txBox="1"/>
          <p:nvPr/>
        </p:nvSpPr>
        <p:spPr>
          <a:xfrm>
            <a:off x="10881360" y="6355080"/>
            <a:ext cx="777240" cy="274320"/>
          </a:xfrm>
          <a:prstGeom prst="rect">
            <a:avLst/>
          </a:prstGeom>
          <a:noFill/>
          <a:ln/>
        </p:spPr>
        <p:txBody>
          <a:bodyPr wrap="square" lIns="0" tIns="0" rIns="0" bIns="0" rtlCol="0" anchor="ctr"/>
          <a:lstStyle/>
          <a:p>
            <a:pPr algn="r" indent="0" marL="0">
              <a:buNone/>
            </a:pPr>
            <a:r>
              <a:rPr lang="en-US" sz="900" dirty="0">
                <a:solidFill>
                  <a:srgbClr val="8A969C"/>
                </a:solidFill>
                <a:latin typeface="Calibri" pitchFamily="34" charset="0"/>
                <a:ea typeface="Calibri" pitchFamily="34" charset="-122"/>
                <a:cs typeface="Calibri" pitchFamily="34" charset="-120"/>
              </a:rPr>
              <a:t>8</a:t>
            </a:r>
            <a:endParaRPr lang="en-US" sz="900" dirty="0"/>
          </a:p>
        </p:txBody>
      </p:sp>
      <p:sp>
        <p:nvSpPr>
          <p:cNvPr id="9" name="Shape 7"/>
          <p:cNvSpPr/>
          <p:nvPr/>
        </p:nvSpPr>
        <p:spPr>
          <a:xfrm>
            <a:off x="502920" y="1755648"/>
            <a:ext cx="3602736" cy="1901952"/>
          </a:xfrm>
          <a:prstGeom prst="roundRect">
            <a:avLst>
              <a:gd name="adj" fmla="val 2885"/>
            </a:avLst>
          </a:prstGeom>
          <a:solidFill>
            <a:srgbClr val="F1F6F4"/>
          </a:solidFill>
          <a:ln/>
        </p:spPr>
      </p:sp>
      <p:sp>
        <p:nvSpPr>
          <p:cNvPr id="10" name="Shape 8"/>
          <p:cNvSpPr/>
          <p:nvPr/>
        </p:nvSpPr>
        <p:spPr>
          <a:xfrm>
            <a:off x="777240" y="1993392"/>
            <a:ext cx="530352" cy="530352"/>
          </a:xfrm>
          <a:prstGeom prst="roundRect">
            <a:avLst>
              <a:gd name="adj" fmla="val 22414"/>
            </a:avLst>
          </a:prstGeom>
          <a:solidFill>
            <a:srgbClr val="0E7C6B"/>
          </a:solidFill>
          <a:ln/>
        </p:spPr>
      </p:sp>
      <p:pic>
        <p:nvPicPr>
          <p:cNvPr id="11" name="Image 0" descr="preencoded.png">    </p:cNvPr>
          <p:cNvPicPr>
            <a:picLocks noChangeAspect="1"/>
          </p:cNvPicPr>
          <p:nvPr/>
        </p:nvPicPr>
        <p:blipFill>
          <a:blip r:embed="rId1"/>
          <a:stretch>
            <a:fillRect/>
          </a:stretch>
        </p:blipFill>
        <p:spPr>
          <a:xfrm>
            <a:off x="920435" y="2136587"/>
            <a:ext cx="243962" cy="243962"/>
          </a:xfrm>
          <a:prstGeom prst="rect">
            <a:avLst/>
          </a:prstGeom>
        </p:spPr>
      </p:pic>
      <p:sp>
        <p:nvSpPr>
          <p:cNvPr id="12" name="Text 9"/>
          <p:cNvSpPr txBox="1"/>
          <p:nvPr/>
        </p:nvSpPr>
        <p:spPr>
          <a:xfrm>
            <a:off x="777240" y="2624328"/>
            <a:ext cx="3054096" cy="274320"/>
          </a:xfrm>
          <a:prstGeom prst="rect">
            <a:avLst/>
          </a:prstGeom>
          <a:noFill/>
          <a:ln/>
        </p:spPr>
        <p:txBody>
          <a:bodyPr wrap="square" lIns="0" tIns="0" rIns="0" bIns="0" rtlCol="0" anchor="ctr"/>
          <a:lstStyle/>
          <a:p>
            <a:pPr indent="0" marL="0">
              <a:buNone/>
            </a:pPr>
            <a:r>
              <a:rPr lang="en-US" sz="1250" b="1" dirty="0">
                <a:solidFill>
                  <a:srgbClr val="14303B"/>
                </a:solidFill>
                <a:latin typeface="Calibri" pitchFamily="34" charset="0"/>
                <a:ea typeface="Calibri" pitchFamily="34" charset="-122"/>
                <a:cs typeface="Calibri" pitchFamily="34" charset="-120"/>
              </a:rPr>
              <a:t>1. Daily Log &amp; Activities</a:t>
            </a:r>
            <a:endParaRPr lang="en-US" sz="1250" dirty="0"/>
          </a:p>
        </p:txBody>
      </p:sp>
      <p:sp>
        <p:nvSpPr>
          <p:cNvPr id="13" name="Text 10"/>
          <p:cNvSpPr txBox="1"/>
          <p:nvPr/>
        </p:nvSpPr>
        <p:spPr>
          <a:xfrm>
            <a:off x="777240" y="2916936"/>
            <a:ext cx="3054096" cy="658368"/>
          </a:xfrm>
          <a:prstGeom prst="rect">
            <a:avLst/>
          </a:prstGeom>
          <a:noFill/>
          <a:ln/>
        </p:spPr>
        <p:txBody>
          <a:bodyPr wrap="square" lIns="0" tIns="0" rIns="0" bIns="0" rtlCol="0" anchor="t"/>
          <a:lstStyle/>
          <a:p>
            <a:pPr indent="0" marL="0">
              <a:lnSpc>
                <a:spcPct val="118000"/>
              </a:lnSpc>
              <a:buNone/>
            </a:pPr>
            <a:r>
              <a:rPr lang="en-US" sz="1050" dirty="0">
                <a:solidFill>
                  <a:srgbClr val="8A969C"/>
                </a:solidFill>
                <a:latin typeface="Calibri" pitchFamily="34" charset="0"/>
                <a:ea typeface="Calibri" pitchFamily="34" charset="-122"/>
                <a:cs typeface="Calibri" pitchFamily="34" charset="-120"/>
              </a:rPr>
              <a:t>Create a log per day and attach titled activities with category, location, duration and status.</a:t>
            </a:r>
            <a:endParaRPr lang="en-US" sz="1050" dirty="0"/>
          </a:p>
        </p:txBody>
      </p:sp>
      <p:sp>
        <p:nvSpPr>
          <p:cNvPr id="14" name="Shape 11"/>
          <p:cNvSpPr/>
          <p:nvPr/>
        </p:nvSpPr>
        <p:spPr>
          <a:xfrm>
            <a:off x="4343400" y="1755648"/>
            <a:ext cx="3602736" cy="1901952"/>
          </a:xfrm>
          <a:prstGeom prst="roundRect">
            <a:avLst>
              <a:gd name="adj" fmla="val 2885"/>
            </a:avLst>
          </a:prstGeom>
          <a:solidFill>
            <a:srgbClr val="F1F6F4"/>
          </a:solidFill>
          <a:ln/>
        </p:spPr>
      </p:sp>
      <p:sp>
        <p:nvSpPr>
          <p:cNvPr id="15" name="Shape 12"/>
          <p:cNvSpPr/>
          <p:nvPr/>
        </p:nvSpPr>
        <p:spPr>
          <a:xfrm>
            <a:off x="4617720" y="1993392"/>
            <a:ext cx="530352" cy="530352"/>
          </a:xfrm>
          <a:prstGeom prst="roundRect">
            <a:avLst>
              <a:gd name="adj" fmla="val 22414"/>
            </a:avLst>
          </a:prstGeom>
          <a:solidFill>
            <a:srgbClr val="0E7C6B"/>
          </a:solidFill>
          <a:ln/>
        </p:spPr>
      </p:sp>
      <p:pic>
        <p:nvPicPr>
          <p:cNvPr id="16" name="Image 1" descr="preencoded.png">    </p:cNvPr>
          <p:cNvPicPr>
            <a:picLocks noChangeAspect="1"/>
          </p:cNvPicPr>
          <p:nvPr/>
        </p:nvPicPr>
        <p:blipFill>
          <a:blip r:embed="rId2"/>
          <a:stretch>
            <a:fillRect/>
          </a:stretch>
        </p:blipFill>
        <p:spPr>
          <a:xfrm>
            <a:off x="4760915" y="2136587"/>
            <a:ext cx="243962" cy="243962"/>
          </a:xfrm>
          <a:prstGeom prst="rect">
            <a:avLst/>
          </a:prstGeom>
        </p:spPr>
      </p:pic>
      <p:sp>
        <p:nvSpPr>
          <p:cNvPr id="17" name="Text 13"/>
          <p:cNvSpPr txBox="1"/>
          <p:nvPr/>
        </p:nvSpPr>
        <p:spPr>
          <a:xfrm>
            <a:off x="4617720" y="2624328"/>
            <a:ext cx="3054096" cy="274320"/>
          </a:xfrm>
          <a:prstGeom prst="rect">
            <a:avLst/>
          </a:prstGeom>
          <a:noFill/>
          <a:ln/>
        </p:spPr>
        <p:txBody>
          <a:bodyPr wrap="square" lIns="0" tIns="0" rIns="0" bIns="0" rtlCol="0" anchor="ctr"/>
          <a:lstStyle/>
          <a:p>
            <a:pPr indent="0" marL="0">
              <a:buNone/>
            </a:pPr>
            <a:r>
              <a:rPr lang="en-US" sz="1250" b="1" dirty="0">
                <a:solidFill>
                  <a:srgbClr val="14303B"/>
                </a:solidFill>
                <a:latin typeface="Calibri" pitchFamily="34" charset="0"/>
                <a:ea typeface="Calibri" pitchFamily="34" charset="-122"/>
                <a:cs typeface="Calibri" pitchFamily="34" charset="-120"/>
              </a:rPr>
              <a:t>2. Expense Management</a:t>
            </a:r>
            <a:endParaRPr lang="en-US" sz="1250" dirty="0"/>
          </a:p>
        </p:txBody>
      </p:sp>
      <p:sp>
        <p:nvSpPr>
          <p:cNvPr id="18" name="Text 14"/>
          <p:cNvSpPr txBox="1"/>
          <p:nvPr/>
        </p:nvSpPr>
        <p:spPr>
          <a:xfrm>
            <a:off x="4617720" y="2916936"/>
            <a:ext cx="3054096" cy="658368"/>
          </a:xfrm>
          <a:prstGeom prst="rect">
            <a:avLst/>
          </a:prstGeom>
          <a:noFill/>
          <a:ln/>
        </p:spPr>
        <p:txBody>
          <a:bodyPr wrap="square" lIns="0" tIns="0" rIns="0" bIns="0" rtlCol="0" anchor="t"/>
          <a:lstStyle/>
          <a:p>
            <a:pPr indent="0" marL="0">
              <a:lnSpc>
                <a:spcPct val="118000"/>
              </a:lnSpc>
              <a:buNone/>
            </a:pPr>
            <a:r>
              <a:rPr lang="en-US" sz="1050" dirty="0">
                <a:solidFill>
                  <a:srgbClr val="8A969C"/>
                </a:solidFill>
                <a:latin typeface="Calibri" pitchFamily="34" charset="0"/>
                <a:ea typeface="Calibri" pitchFamily="34" charset="-122"/>
                <a:cs typeface="Calibri" pitchFamily="34" charset="-120"/>
              </a:rPr>
              <a:t>Record spending by category and payment method; summarize daily and monthly totals.</a:t>
            </a:r>
            <a:endParaRPr lang="en-US" sz="1050" dirty="0"/>
          </a:p>
        </p:txBody>
      </p:sp>
      <p:sp>
        <p:nvSpPr>
          <p:cNvPr id="19" name="Shape 15"/>
          <p:cNvSpPr/>
          <p:nvPr/>
        </p:nvSpPr>
        <p:spPr>
          <a:xfrm>
            <a:off x="8183880" y="1755648"/>
            <a:ext cx="3602736" cy="1901952"/>
          </a:xfrm>
          <a:prstGeom prst="roundRect">
            <a:avLst>
              <a:gd name="adj" fmla="val 2885"/>
            </a:avLst>
          </a:prstGeom>
          <a:solidFill>
            <a:srgbClr val="F1F6F4"/>
          </a:solidFill>
          <a:ln/>
        </p:spPr>
      </p:sp>
      <p:sp>
        <p:nvSpPr>
          <p:cNvPr id="20" name="Shape 16"/>
          <p:cNvSpPr/>
          <p:nvPr/>
        </p:nvSpPr>
        <p:spPr>
          <a:xfrm>
            <a:off x="8458200" y="1993392"/>
            <a:ext cx="530352" cy="530352"/>
          </a:xfrm>
          <a:prstGeom prst="roundRect">
            <a:avLst>
              <a:gd name="adj" fmla="val 22414"/>
            </a:avLst>
          </a:prstGeom>
          <a:solidFill>
            <a:srgbClr val="0E7C6B"/>
          </a:solidFill>
          <a:ln/>
        </p:spPr>
      </p:sp>
      <p:pic>
        <p:nvPicPr>
          <p:cNvPr id="21" name="Image 2" descr="preencoded.png">    </p:cNvPr>
          <p:cNvPicPr>
            <a:picLocks noChangeAspect="1"/>
          </p:cNvPicPr>
          <p:nvPr/>
        </p:nvPicPr>
        <p:blipFill>
          <a:blip r:embed="rId3"/>
          <a:stretch>
            <a:fillRect/>
          </a:stretch>
        </p:blipFill>
        <p:spPr>
          <a:xfrm>
            <a:off x="8601395" y="2136587"/>
            <a:ext cx="243962" cy="243962"/>
          </a:xfrm>
          <a:prstGeom prst="rect">
            <a:avLst/>
          </a:prstGeom>
        </p:spPr>
      </p:pic>
      <p:sp>
        <p:nvSpPr>
          <p:cNvPr id="22" name="Text 17"/>
          <p:cNvSpPr txBox="1"/>
          <p:nvPr/>
        </p:nvSpPr>
        <p:spPr>
          <a:xfrm>
            <a:off x="8458200" y="2624328"/>
            <a:ext cx="3054096" cy="274320"/>
          </a:xfrm>
          <a:prstGeom prst="rect">
            <a:avLst/>
          </a:prstGeom>
          <a:noFill/>
          <a:ln/>
        </p:spPr>
        <p:txBody>
          <a:bodyPr wrap="square" lIns="0" tIns="0" rIns="0" bIns="0" rtlCol="0" anchor="ctr"/>
          <a:lstStyle/>
          <a:p>
            <a:pPr indent="0" marL="0">
              <a:buNone/>
            </a:pPr>
            <a:r>
              <a:rPr lang="en-US" sz="1250" b="1" dirty="0">
                <a:solidFill>
                  <a:srgbClr val="14303B"/>
                </a:solidFill>
                <a:latin typeface="Calibri" pitchFamily="34" charset="0"/>
                <a:ea typeface="Calibri" pitchFamily="34" charset="-122"/>
                <a:cs typeface="Calibri" pitchFamily="34" charset="-120"/>
              </a:rPr>
              <a:t>3. Study &amp; Productivity</a:t>
            </a:r>
            <a:endParaRPr lang="en-US" sz="1250" dirty="0"/>
          </a:p>
        </p:txBody>
      </p:sp>
      <p:sp>
        <p:nvSpPr>
          <p:cNvPr id="23" name="Text 18"/>
          <p:cNvSpPr txBox="1"/>
          <p:nvPr/>
        </p:nvSpPr>
        <p:spPr>
          <a:xfrm>
            <a:off x="8458200" y="2916936"/>
            <a:ext cx="3054096" cy="658368"/>
          </a:xfrm>
          <a:prstGeom prst="rect">
            <a:avLst/>
          </a:prstGeom>
          <a:noFill/>
          <a:ln/>
        </p:spPr>
        <p:txBody>
          <a:bodyPr wrap="square" lIns="0" tIns="0" rIns="0" bIns="0" rtlCol="0" anchor="t"/>
          <a:lstStyle/>
          <a:p>
            <a:pPr indent="0" marL="0">
              <a:lnSpc>
                <a:spcPct val="118000"/>
              </a:lnSpc>
              <a:buNone/>
            </a:pPr>
            <a:r>
              <a:rPr lang="en-US" sz="1050" dirty="0">
                <a:solidFill>
                  <a:srgbClr val="8A969C"/>
                </a:solidFill>
                <a:latin typeface="Calibri" pitchFamily="34" charset="0"/>
                <a:ea typeface="Calibri" pitchFamily="34" charset="-122"/>
                <a:cs typeface="Calibri" pitchFamily="34" charset="-120"/>
              </a:rPr>
              <a:t>Track subject-wise sessions, duration and focus rating to measure study consistency.</a:t>
            </a:r>
            <a:endParaRPr lang="en-US" sz="1050" dirty="0"/>
          </a:p>
        </p:txBody>
      </p:sp>
      <p:sp>
        <p:nvSpPr>
          <p:cNvPr id="24" name="Shape 19"/>
          <p:cNvSpPr/>
          <p:nvPr/>
        </p:nvSpPr>
        <p:spPr>
          <a:xfrm>
            <a:off x="502920" y="3913632"/>
            <a:ext cx="3602736" cy="1901952"/>
          </a:xfrm>
          <a:prstGeom prst="roundRect">
            <a:avLst>
              <a:gd name="adj" fmla="val 2885"/>
            </a:avLst>
          </a:prstGeom>
          <a:solidFill>
            <a:srgbClr val="F1F6F4"/>
          </a:solidFill>
          <a:ln/>
        </p:spPr>
      </p:sp>
      <p:sp>
        <p:nvSpPr>
          <p:cNvPr id="25" name="Shape 20"/>
          <p:cNvSpPr/>
          <p:nvPr/>
        </p:nvSpPr>
        <p:spPr>
          <a:xfrm>
            <a:off x="777240" y="4151376"/>
            <a:ext cx="530352" cy="530352"/>
          </a:xfrm>
          <a:prstGeom prst="roundRect">
            <a:avLst>
              <a:gd name="adj" fmla="val 22414"/>
            </a:avLst>
          </a:prstGeom>
          <a:solidFill>
            <a:srgbClr val="0E7C6B"/>
          </a:solidFill>
          <a:ln/>
        </p:spPr>
      </p:sp>
      <p:pic>
        <p:nvPicPr>
          <p:cNvPr id="26" name="Image 3" descr="preencoded.png">    </p:cNvPr>
          <p:cNvPicPr>
            <a:picLocks noChangeAspect="1"/>
          </p:cNvPicPr>
          <p:nvPr/>
        </p:nvPicPr>
        <p:blipFill>
          <a:blip r:embed="rId4"/>
          <a:stretch>
            <a:fillRect/>
          </a:stretch>
        </p:blipFill>
        <p:spPr>
          <a:xfrm>
            <a:off x="920435" y="4294571"/>
            <a:ext cx="243962" cy="243962"/>
          </a:xfrm>
          <a:prstGeom prst="rect">
            <a:avLst/>
          </a:prstGeom>
        </p:spPr>
      </p:pic>
      <p:sp>
        <p:nvSpPr>
          <p:cNvPr id="27" name="Text 21"/>
          <p:cNvSpPr txBox="1"/>
          <p:nvPr/>
        </p:nvSpPr>
        <p:spPr>
          <a:xfrm>
            <a:off x="777240" y="4782312"/>
            <a:ext cx="3054096" cy="274320"/>
          </a:xfrm>
          <a:prstGeom prst="rect">
            <a:avLst/>
          </a:prstGeom>
          <a:noFill/>
          <a:ln/>
        </p:spPr>
        <p:txBody>
          <a:bodyPr wrap="square" lIns="0" tIns="0" rIns="0" bIns="0" rtlCol="0" anchor="ctr"/>
          <a:lstStyle/>
          <a:p>
            <a:pPr indent="0" marL="0">
              <a:buNone/>
            </a:pPr>
            <a:r>
              <a:rPr lang="en-US" sz="1250" b="1" dirty="0">
                <a:solidFill>
                  <a:srgbClr val="14303B"/>
                </a:solidFill>
                <a:latin typeface="Calibri" pitchFamily="34" charset="0"/>
                <a:ea typeface="Calibri" pitchFamily="34" charset="-122"/>
                <a:cs typeface="Calibri" pitchFamily="34" charset="-120"/>
              </a:rPr>
              <a:t>4. Health Tracking</a:t>
            </a:r>
            <a:endParaRPr lang="en-US" sz="1250" dirty="0"/>
          </a:p>
        </p:txBody>
      </p:sp>
      <p:sp>
        <p:nvSpPr>
          <p:cNvPr id="28" name="Text 22"/>
          <p:cNvSpPr txBox="1"/>
          <p:nvPr/>
        </p:nvSpPr>
        <p:spPr>
          <a:xfrm>
            <a:off x="777240" y="5074920"/>
            <a:ext cx="3054096" cy="658368"/>
          </a:xfrm>
          <a:prstGeom prst="rect">
            <a:avLst/>
          </a:prstGeom>
          <a:noFill/>
          <a:ln/>
        </p:spPr>
        <p:txBody>
          <a:bodyPr wrap="square" lIns="0" tIns="0" rIns="0" bIns="0" rtlCol="0" anchor="t"/>
          <a:lstStyle/>
          <a:p>
            <a:pPr indent="0" marL="0">
              <a:lnSpc>
                <a:spcPct val="118000"/>
              </a:lnSpc>
              <a:buNone/>
            </a:pPr>
            <a:r>
              <a:rPr lang="en-US" sz="1050" dirty="0">
                <a:solidFill>
                  <a:srgbClr val="8A969C"/>
                </a:solidFill>
                <a:latin typeface="Calibri" pitchFamily="34" charset="0"/>
                <a:ea typeface="Calibri" pitchFamily="34" charset="-122"/>
                <a:cs typeface="Calibri" pitchFamily="34" charset="-120"/>
              </a:rPr>
              <a:t>Log meals with nutrition, sleep timings and quality, mood score and stress level.</a:t>
            </a:r>
            <a:endParaRPr lang="en-US" sz="1050" dirty="0"/>
          </a:p>
        </p:txBody>
      </p:sp>
      <p:sp>
        <p:nvSpPr>
          <p:cNvPr id="29" name="Shape 23"/>
          <p:cNvSpPr/>
          <p:nvPr/>
        </p:nvSpPr>
        <p:spPr>
          <a:xfrm>
            <a:off x="4343400" y="3913632"/>
            <a:ext cx="3602736" cy="1901952"/>
          </a:xfrm>
          <a:prstGeom prst="roundRect">
            <a:avLst>
              <a:gd name="adj" fmla="val 2885"/>
            </a:avLst>
          </a:prstGeom>
          <a:solidFill>
            <a:srgbClr val="F1F6F4"/>
          </a:solidFill>
          <a:ln/>
        </p:spPr>
      </p:sp>
      <p:sp>
        <p:nvSpPr>
          <p:cNvPr id="30" name="Shape 24"/>
          <p:cNvSpPr/>
          <p:nvPr/>
        </p:nvSpPr>
        <p:spPr>
          <a:xfrm>
            <a:off x="4617720" y="4151376"/>
            <a:ext cx="530352" cy="530352"/>
          </a:xfrm>
          <a:prstGeom prst="roundRect">
            <a:avLst>
              <a:gd name="adj" fmla="val 22414"/>
            </a:avLst>
          </a:prstGeom>
          <a:solidFill>
            <a:srgbClr val="0E7C6B"/>
          </a:solidFill>
          <a:ln/>
        </p:spPr>
      </p:sp>
      <p:pic>
        <p:nvPicPr>
          <p:cNvPr id="31" name="Image 4" descr="preencoded.png">    </p:cNvPr>
          <p:cNvPicPr>
            <a:picLocks noChangeAspect="1"/>
          </p:cNvPicPr>
          <p:nvPr/>
        </p:nvPicPr>
        <p:blipFill>
          <a:blip r:embed="rId5"/>
          <a:stretch>
            <a:fillRect/>
          </a:stretch>
        </p:blipFill>
        <p:spPr>
          <a:xfrm>
            <a:off x="4760915" y="4294571"/>
            <a:ext cx="243962" cy="243962"/>
          </a:xfrm>
          <a:prstGeom prst="rect">
            <a:avLst/>
          </a:prstGeom>
        </p:spPr>
      </p:pic>
      <p:sp>
        <p:nvSpPr>
          <p:cNvPr id="32" name="Text 25"/>
          <p:cNvSpPr txBox="1"/>
          <p:nvPr/>
        </p:nvSpPr>
        <p:spPr>
          <a:xfrm>
            <a:off x="4617720" y="4782312"/>
            <a:ext cx="3054096" cy="274320"/>
          </a:xfrm>
          <a:prstGeom prst="rect">
            <a:avLst/>
          </a:prstGeom>
          <a:noFill/>
          <a:ln/>
        </p:spPr>
        <p:txBody>
          <a:bodyPr wrap="square" lIns="0" tIns="0" rIns="0" bIns="0" rtlCol="0" anchor="ctr"/>
          <a:lstStyle/>
          <a:p>
            <a:pPr indent="0" marL="0">
              <a:buNone/>
            </a:pPr>
            <a:r>
              <a:rPr lang="en-US" sz="1250" b="1" dirty="0">
                <a:solidFill>
                  <a:srgbClr val="14303B"/>
                </a:solidFill>
                <a:latin typeface="Calibri" pitchFamily="34" charset="0"/>
                <a:ea typeface="Calibri" pitchFamily="34" charset="-122"/>
                <a:cs typeface="Calibri" pitchFamily="34" charset="-120"/>
              </a:rPr>
              <a:t>5. Transport &amp; Screen Time</a:t>
            </a:r>
            <a:endParaRPr lang="en-US" sz="1250" dirty="0"/>
          </a:p>
        </p:txBody>
      </p:sp>
      <p:sp>
        <p:nvSpPr>
          <p:cNvPr id="33" name="Text 26"/>
          <p:cNvSpPr txBox="1"/>
          <p:nvPr/>
        </p:nvSpPr>
        <p:spPr>
          <a:xfrm>
            <a:off x="4617720" y="5074920"/>
            <a:ext cx="3054096" cy="658368"/>
          </a:xfrm>
          <a:prstGeom prst="rect">
            <a:avLst/>
          </a:prstGeom>
          <a:noFill/>
          <a:ln/>
        </p:spPr>
        <p:txBody>
          <a:bodyPr wrap="square" lIns="0" tIns="0" rIns="0" bIns="0" rtlCol="0" anchor="t"/>
          <a:lstStyle/>
          <a:p>
            <a:pPr indent="0" marL="0">
              <a:lnSpc>
                <a:spcPct val="118000"/>
              </a:lnSpc>
              <a:buNone/>
            </a:pPr>
            <a:r>
              <a:rPr lang="en-US" sz="1050" dirty="0">
                <a:solidFill>
                  <a:srgbClr val="8A969C"/>
                </a:solidFill>
                <a:latin typeface="Calibri" pitchFamily="34" charset="0"/>
                <a:ea typeface="Calibri" pitchFamily="34" charset="-122"/>
                <a:cs typeface="Calibri" pitchFamily="34" charset="-120"/>
              </a:rPr>
              <a:t>Capture journeys with distance and cost, and app usage by device and category.</a:t>
            </a:r>
            <a:endParaRPr lang="en-US" sz="1050" dirty="0"/>
          </a:p>
        </p:txBody>
      </p:sp>
      <p:sp>
        <p:nvSpPr>
          <p:cNvPr id="34" name="Shape 27"/>
          <p:cNvSpPr/>
          <p:nvPr/>
        </p:nvSpPr>
        <p:spPr>
          <a:xfrm>
            <a:off x="8183880" y="3913632"/>
            <a:ext cx="3602736" cy="1901952"/>
          </a:xfrm>
          <a:prstGeom prst="roundRect">
            <a:avLst>
              <a:gd name="adj" fmla="val 2885"/>
            </a:avLst>
          </a:prstGeom>
          <a:solidFill>
            <a:srgbClr val="F1F6F4"/>
          </a:solidFill>
          <a:ln/>
        </p:spPr>
      </p:sp>
      <p:sp>
        <p:nvSpPr>
          <p:cNvPr id="35" name="Shape 28"/>
          <p:cNvSpPr/>
          <p:nvPr/>
        </p:nvSpPr>
        <p:spPr>
          <a:xfrm>
            <a:off x="8458200" y="4151376"/>
            <a:ext cx="530352" cy="530352"/>
          </a:xfrm>
          <a:prstGeom prst="roundRect">
            <a:avLst>
              <a:gd name="adj" fmla="val 22414"/>
            </a:avLst>
          </a:prstGeom>
          <a:solidFill>
            <a:srgbClr val="0E7C6B"/>
          </a:solidFill>
          <a:ln/>
        </p:spPr>
      </p:sp>
      <p:pic>
        <p:nvPicPr>
          <p:cNvPr id="36" name="Image 5" descr="preencoded.png">    </p:cNvPr>
          <p:cNvPicPr>
            <a:picLocks noChangeAspect="1"/>
          </p:cNvPicPr>
          <p:nvPr/>
        </p:nvPicPr>
        <p:blipFill>
          <a:blip r:embed="rId6"/>
          <a:stretch>
            <a:fillRect/>
          </a:stretch>
        </p:blipFill>
        <p:spPr>
          <a:xfrm>
            <a:off x="8601395" y="4294571"/>
            <a:ext cx="243962" cy="243962"/>
          </a:xfrm>
          <a:prstGeom prst="rect">
            <a:avLst/>
          </a:prstGeom>
        </p:spPr>
      </p:pic>
      <p:sp>
        <p:nvSpPr>
          <p:cNvPr id="37" name="Text 29"/>
          <p:cNvSpPr txBox="1"/>
          <p:nvPr/>
        </p:nvSpPr>
        <p:spPr>
          <a:xfrm>
            <a:off x="8458200" y="4782312"/>
            <a:ext cx="3054096" cy="274320"/>
          </a:xfrm>
          <a:prstGeom prst="rect">
            <a:avLst/>
          </a:prstGeom>
          <a:noFill/>
          <a:ln/>
        </p:spPr>
        <p:txBody>
          <a:bodyPr wrap="square" lIns="0" tIns="0" rIns="0" bIns="0" rtlCol="0" anchor="ctr"/>
          <a:lstStyle/>
          <a:p>
            <a:pPr indent="0" marL="0">
              <a:buNone/>
            </a:pPr>
            <a:r>
              <a:rPr lang="en-US" sz="1250" b="1" dirty="0">
                <a:solidFill>
                  <a:srgbClr val="14303B"/>
                </a:solidFill>
                <a:latin typeface="Calibri" pitchFamily="34" charset="0"/>
                <a:ea typeface="Calibri" pitchFamily="34" charset="-122"/>
                <a:cs typeface="Calibri" pitchFamily="34" charset="-120"/>
              </a:rPr>
              <a:t>6. Goals &amp; Progress</a:t>
            </a:r>
            <a:endParaRPr lang="en-US" sz="1250" dirty="0"/>
          </a:p>
        </p:txBody>
      </p:sp>
      <p:sp>
        <p:nvSpPr>
          <p:cNvPr id="38" name="Text 30"/>
          <p:cNvSpPr txBox="1"/>
          <p:nvPr/>
        </p:nvSpPr>
        <p:spPr>
          <a:xfrm>
            <a:off x="8458200" y="5074920"/>
            <a:ext cx="3054096" cy="658368"/>
          </a:xfrm>
          <a:prstGeom prst="rect">
            <a:avLst/>
          </a:prstGeom>
          <a:noFill/>
          <a:ln/>
        </p:spPr>
        <p:txBody>
          <a:bodyPr wrap="square" lIns="0" tIns="0" rIns="0" bIns="0" rtlCol="0" anchor="t"/>
          <a:lstStyle/>
          <a:p>
            <a:pPr indent="0" marL="0">
              <a:lnSpc>
                <a:spcPct val="118000"/>
              </a:lnSpc>
              <a:buNone/>
            </a:pPr>
            <a:r>
              <a:rPr lang="en-US" sz="1050" dirty="0">
                <a:solidFill>
                  <a:srgbClr val="8A969C"/>
                </a:solidFill>
                <a:latin typeface="Calibri" pitchFamily="34" charset="0"/>
                <a:ea typeface="Calibri" pitchFamily="34" charset="-122"/>
                <a:cs typeface="Calibri" pitchFamily="34" charset="-120"/>
              </a:rPr>
              <a:t>Set targets with deadlines; triggers update current value and completion status.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561320" y="-1051560"/>
            <a:ext cx="3017520" cy="3017520"/>
          </a:xfrm>
          <a:prstGeom prst="ellipse">
            <a:avLst/>
          </a:prstGeom>
          <a:solidFill>
            <a:srgbClr val="D9EDE7"/>
          </a:solidFill>
          <a:ln/>
        </p:spPr>
      </p:sp>
      <p:sp>
        <p:nvSpPr>
          <p:cNvPr id="3" name="Shape 1"/>
          <p:cNvSpPr/>
          <p:nvPr/>
        </p:nvSpPr>
        <p:spPr>
          <a:xfrm>
            <a:off x="-594360" y="6172200"/>
            <a:ext cx="1325880" cy="1325880"/>
          </a:xfrm>
          <a:prstGeom prst="ellipse">
            <a:avLst/>
          </a:prstGeom>
          <a:solidFill>
            <a:srgbClr val="D9EDE7"/>
          </a:solidFill>
          <a:ln/>
        </p:spPr>
      </p:sp>
      <p:sp>
        <p:nvSpPr>
          <p:cNvPr id="4" name="Shape 2"/>
          <p:cNvSpPr/>
          <p:nvPr/>
        </p:nvSpPr>
        <p:spPr>
          <a:xfrm>
            <a:off x="502920" y="457200"/>
            <a:ext cx="1965960" cy="320040"/>
          </a:xfrm>
          <a:prstGeom prst="roundRect">
            <a:avLst>
              <a:gd name="adj" fmla="val 48571"/>
            </a:avLst>
          </a:prstGeom>
          <a:solidFill>
            <a:srgbClr val="D9EDE7"/>
          </a:solidFill>
          <a:ln/>
        </p:spPr>
      </p:sp>
      <p:sp>
        <p:nvSpPr>
          <p:cNvPr id="5" name="Text 3"/>
          <p:cNvSpPr txBox="1"/>
          <p:nvPr/>
        </p:nvSpPr>
        <p:spPr>
          <a:xfrm>
            <a:off x="502920" y="457200"/>
            <a:ext cx="1965960" cy="320040"/>
          </a:xfrm>
          <a:prstGeom prst="rect">
            <a:avLst/>
          </a:prstGeom>
          <a:noFill/>
          <a:ln/>
        </p:spPr>
        <p:txBody>
          <a:bodyPr wrap="square" lIns="0" tIns="0" rIns="0" bIns="0" rtlCol="0" anchor="ctr"/>
          <a:lstStyle/>
          <a:p>
            <a:pPr algn="ctr" indent="0" marL="0">
              <a:buNone/>
            </a:pPr>
            <a:r>
              <a:rPr lang="en-US" sz="1000" b="1" spc="140" kern="0" dirty="0">
                <a:solidFill>
                  <a:srgbClr val="0A5D50"/>
                </a:solidFill>
                <a:latin typeface="Calibri" pitchFamily="34" charset="0"/>
                <a:ea typeface="Calibri" pitchFamily="34" charset="-122"/>
                <a:cs typeface="Calibri" pitchFamily="34" charset="-120"/>
              </a:rPr>
              <a:t>DATA MODEL</a:t>
            </a:r>
            <a:endParaRPr lang="en-US" sz="1000" dirty="0"/>
          </a:p>
        </p:txBody>
      </p:sp>
      <p:sp>
        <p:nvSpPr>
          <p:cNvPr id="6" name="Text 4"/>
          <p:cNvSpPr txBox="1"/>
          <p:nvPr/>
        </p:nvSpPr>
        <p:spPr>
          <a:xfrm>
            <a:off x="448056" y="896112"/>
            <a:ext cx="9601200" cy="658368"/>
          </a:xfrm>
          <a:prstGeom prst="rect">
            <a:avLst/>
          </a:prstGeom>
          <a:noFill/>
          <a:ln/>
        </p:spPr>
        <p:txBody>
          <a:bodyPr wrap="square" lIns="0" tIns="0" rIns="0" bIns="0" rtlCol="0" anchor="ctr"/>
          <a:lstStyle/>
          <a:p>
            <a:pPr indent="0" marL="0">
              <a:buNone/>
            </a:pPr>
            <a:r>
              <a:rPr lang="en-US" sz="3800" b="1" dirty="0">
                <a:solidFill>
                  <a:srgbClr val="14303B"/>
                </a:solidFill>
                <a:latin typeface="Cambria" pitchFamily="34" charset="0"/>
                <a:ea typeface="Cambria" pitchFamily="34" charset="-122"/>
                <a:cs typeface="Cambria" pitchFamily="34" charset="-120"/>
              </a:rPr>
              <a:t>Database Design</a:t>
            </a:r>
            <a:endParaRPr lang="en-US" sz="3800" dirty="0"/>
          </a:p>
        </p:txBody>
      </p:sp>
      <p:sp>
        <p:nvSpPr>
          <p:cNvPr id="7" name="Text 5"/>
          <p:cNvSpPr txBox="1"/>
          <p:nvPr/>
        </p:nvSpPr>
        <p:spPr>
          <a:xfrm>
            <a:off x="502920" y="6355080"/>
            <a:ext cx="6400800" cy="274320"/>
          </a:xfrm>
          <a:prstGeom prst="rect">
            <a:avLst/>
          </a:prstGeom>
          <a:noFill/>
          <a:ln/>
        </p:spPr>
        <p:txBody>
          <a:bodyPr wrap="square" lIns="0" tIns="0" rIns="0" bIns="0" rtlCol="0" anchor="ctr"/>
          <a:lstStyle/>
          <a:p>
            <a:pPr indent="0" marL="0">
              <a:buNone/>
            </a:pPr>
            <a:r>
              <a:rPr lang="en-US" sz="800" spc="160" kern="0" dirty="0">
                <a:solidFill>
                  <a:srgbClr val="8A969C"/>
                </a:solidFill>
                <a:latin typeface="Calibri" pitchFamily="34" charset="0"/>
                <a:ea typeface="Calibri" pitchFamily="34" charset="-122"/>
                <a:cs typeface="Calibri" pitchFamily="34" charset="-120"/>
              </a:rPr>
              <a:t>LIFELOG  ·  PERSONAL ACTIVITY INTELLIGENCE DATABASE</a:t>
            </a:r>
            <a:endParaRPr lang="en-US" sz="800" dirty="0"/>
          </a:p>
        </p:txBody>
      </p:sp>
      <p:sp>
        <p:nvSpPr>
          <p:cNvPr id="8" name="Text 6"/>
          <p:cNvSpPr txBox="1"/>
          <p:nvPr/>
        </p:nvSpPr>
        <p:spPr>
          <a:xfrm>
            <a:off x="10881360" y="6355080"/>
            <a:ext cx="777240" cy="274320"/>
          </a:xfrm>
          <a:prstGeom prst="rect">
            <a:avLst/>
          </a:prstGeom>
          <a:noFill/>
          <a:ln/>
        </p:spPr>
        <p:txBody>
          <a:bodyPr wrap="square" lIns="0" tIns="0" rIns="0" bIns="0" rtlCol="0" anchor="ctr"/>
          <a:lstStyle/>
          <a:p>
            <a:pPr algn="r" indent="0" marL="0">
              <a:buNone/>
            </a:pPr>
            <a:r>
              <a:rPr lang="en-US" sz="900" dirty="0">
                <a:solidFill>
                  <a:srgbClr val="8A969C"/>
                </a:solidFill>
                <a:latin typeface="Calibri" pitchFamily="34" charset="0"/>
                <a:ea typeface="Calibri" pitchFamily="34" charset="-122"/>
                <a:cs typeface="Calibri" pitchFamily="34" charset="-120"/>
              </a:rPr>
              <a:t>9</a:t>
            </a:r>
            <a:endParaRPr lang="en-US" sz="900" dirty="0"/>
          </a:p>
        </p:txBody>
      </p:sp>
      <p:sp>
        <p:nvSpPr>
          <p:cNvPr id="9" name="Text 7"/>
          <p:cNvSpPr txBox="1"/>
          <p:nvPr/>
        </p:nvSpPr>
        <p:spPr>
          <a:xfrm>
            <a:off x="502920" y="1664208"/>
            <a:ext cx="10424160" cy="347472"/>
          </a:xfrm>
          <a:prstGeom prst="rect">
            <a:avLst/>
          </a:prstGeom>
          <a:noFill/>
          <a:ln/>
        </p:spPr>
        <p:txBody>
          <a:bodyPr wrap="square" lIns="0" tIns="0" rIns="0" bIns="0" rtlCol="0" anchor="ctr"/>
          <a:lstStyle/>
          <a:p>
            <a:pPr indent="0" marL="0">
              <a:buNone/>
            </a:pPr>
            <a:r>
              <a:rPr lang="en-US" sz="1300" dirty="0">
                <a:solidFill>
                  <a:srgbClr val="3F4C53"/>
                </a:solidFill>
                <a:latin typeface="Calibri" pitchFamily="34" charset="0"/>
                <a:ea typeface="Calibri" pitchFamily="34" charset="-122"/>
                <a:cs typeface="Calibri" pitchFamily="34" charset="-120"/>
              </a:rPr>
              <a:t>The lifelog_db schema contains fourteen related tables. users and daily_logs form the backbone; every other table references them through foreign keys.</a:t>
            </a:r>
            <a:endParaRPr lang="en-US" sz="1300" dirty="0"/>
          </a:p>
        </p:txBody>
      </p:sp>
      <p:sp>
        <p:nvSpPr>
          <p:cNvPr id="10" name="Shape 8"/>
          <p:cNvSpPr/>
          <p:nvPr/>
        </p:nvSpPr>
        <p:spPr>
          <a:xfrm>
            <a:off x="502920" y="2212848"/>
            <a:ext cx="2057400" cy="804672"/>
          </a:xfrm>
          <a:prstGeom prst="roundRect">
            <a:avLst>
              <a:gd name="adj" fmla="val 6818"/>
            </a:avLst>
          </a:prstGeom>
          <a:solidFill>
            <a:srgbClr val="F1F6F4"/>
          </a:solidFill>
          <a:ln/>
        </p:spPr>
      </p:sp>
      <p:sp>
        <p:nvSpPr>
          <p:cNvPr id="11" name="Text 9"/>
          <p:cNvSpPr txBox="1"/>
          <p:nvPr/>
        </p:nvSpPr>
        <p:spPr>
          <a:xfrm>
            <a:off x="685800" y="2322576"/>
            <a:ext cx="1783080" cy="274320"/>
          </a:xfrm>
          <a:prstGeom prst="rect">
            <a:avLst/>
          </a:prstGeom>
          <a:noFill/>
          <a:ln/>
        </p:spPr>
        <p:txBody>
          <a:bodyPr wrap="square" lIns="0" tIns="0" rIns="0" bIns="0" rtlCol="0" anchor="ctr"/>
          <a:lstStyle/>
          <a:p>
            <a:pPr indent="0" marL="0">
              <a:buNone/>
            </a:pPr>
            <a:r>
              <a:rPr lang="en-US" sz="1100" b="1" dirty="0">
                <a:solidFill>
                  <a:srgbClr val="0A5D50"/>
                </a:solidFill>
                <a:latin typeface="Courier New" pitchFamily="34" charset="0"/>
                <a:ea typeface="Courier New" pitchFamily="34" charset="-122"/>
                <a:cs typeface="Courier New" pitchFamily="34" charset="-120"/>
              </a:rPr>
              <a:t>users</a:t>
            </a:r>
            <a:endParaRPr lang="en-US" sz="1100" dirty="0"/>
          </a:p>
        </p:txBody>
      </p:sp>
      <p:sp>
        <p:nvSpPr>
          <p:cNvPr id="12" name="Text 10"/>
          <p:cNvSpPr txBox="1"/>
          <p:nvPr/>
        </p:nvSpPr>
        <p:spPr>
          <a:xfrm>
            <a:off x="685800" y="2615184"/>
            <a:ext cx="1783080" cy="256032"/>
          </a:xfrm>
          <a:prstGeom prst="rect">
            <a:avLst/>
          </a:prstGeom>
          <a:noFill/>
          <a:ln/>
        </p:spPr>
        <p:txBody>
          <a:bodyPr wrap="square" lIns="0" tIns="0" rIns="0" bIns="0" rtlCol="0" anchor="ctr"/>
          <a:lstStyle/>
          <a:p>
            <a:pPr indent="0" marL="0">
              <a:buNone/>
            </a:pPr>
            <a:r>
              <a:rPr lang="en-US" sz="1000" dirty="0">
                <a:solidFill>
                  <a:srgbClr val="8A969C"/>
                </a:solidFill>
                <a:latin typeface="Calibri" pitchFamily="34" charset="0"/>
                <a:ea typeface="Calibri" pitchFamily="34" charset="-122"/>
                <a:cs typeface="Calibri" pitchFamily="34" charset="-120"/>
              </a:rPr>
              <a:t>Accounts &amp; login</a:t>
            </a:r>
            <a:endParaRPr lang="en-US" sz="1000" dirty="0"/>
          </a:p>
        </p:txBody>
      </p:sp>
      <p:sp>
        <p:nvSpPr>
          <p:cNvPr id="13" name="Shape 11"/>
          <p:cNvSpPr/>
          <p:nvPr/>
        </p:nvSpPr>
        <p:spPr>
          <a:xfrm>
            <a:off x="2788920" y="2212848"/>
            <a:ext cx="2057400" cy="804672"/>
          </a:xfrm>
          <a:prstGeom prst="roundRect">
            <a:avLst>
              <a:gd name="adj" fmla="val 6818"/>
            </a:avLst>
          </a:prstGeom>
          <a:solidFill>
            <a:srgbClr val="F1F6F4"/>
          </a:solidFill>
          <a:ln/>
        </p:spPr>
      </p:sp>
      <p:sp>
        <p:nvSpPr>
          <p:cNvPr id="14" name="Text 12"/>
          <p:cNvSpPr txBox="1"/>
          <p:nvPr/>
        </p:nvSpPr>
        <p:spPr>
          <a:xfrm>
            <a:off x="2971800" y="2322576"/>
            <a:ext cx="1783080" cy="274320"/>
          </a:xfrm>
          <a:prstGeom prst="rect">
            <a:avLst/>
          </a:prstGeom>
          <a:noFill/>
          <a:ln/>
        </p:spPr>
        <p:txBody>
          <a:bodyPr wrap="square" lIns="0" tIns="0" rIns="0" bIns="0" rtlCol="0" anchor="ctr"/>
          <a:lstStyle/>
          <a:p>
            <a:pPr indent="0" marL="0">
              <a:buNone/>
            </a:pPr>
            <a:r>
              <a:rPr lang="en-US" sz="1100" b="1" dirty="0">
                <a:solidFill>
                  <a:srgbClr val="0A5D50"/>
                </a:solidFill>
                <a:latin typeface="Courier New" pitchFamily="34" charset="0"/>
                <a:ea typeface="Courier New" pitchFamily="34" charset="-122"/>
                <a:cs typeface="Courier New" pitchFamily="34" charset="-120"/>
              </a:rPr>
              <a:t>activity_categories</a:t>
            </a:r>
            <a:endParaRPr lang="en-US" sz="1100" dirty="0"/>
          </a:p>
        </p:txBody>
      </p:sp>
      <p:sp>
        <p:nvSpPr>
          <p:cNvPr id="15" name="Text 13"/>
          <p:cNvSpPr txBox="1"/>
          <p:nvPr/>
        </p:nvSpPr>
        <p:spPr>
          <a:xfrm>
            <a:off x="2971800" y="2615184"/>
            <a:ext cx="1783080" cy="256032"/>
          </a:xfrm>
          <a:prstGeom prst="rect">
            <a:avLst/>
          </a:prstGeom>
          <a:noFill/>
          <a:ln/>
        </p:spPr>
        <p:txBody>
          <a:bodyPr wrap="square" lIns="0" tIns="0" rIns="0" bIns="0" rtlCol="0" anchor="ctr"/>
          <a:lstStyle/>
          <a:p>
            <a:pPr indent="0" marL="0">
              <a:buNone/>
            </a:pPr>
            <a:r>
              <a:rPr lang="en-US" sz="1000" dirty="0">
                <a:solidFill>
                  <a:srgbClr val="8A969C"/>
                </a:solidFill>
                <a:latin typeface="Calibri" pitchFamily="34" charset="0"/>
                <a:ea typeface="Calibri" pitchFamily="34" charset="-122"/>
                <a:cs typeface="Calibri" pitchFamily="34" charset="-120"/>
              </a:rPr>
              <a:t>Lookup table</a:t>
            </a:r>
            <a:endParaRPr lang="en-US" sz="1000" dirty="0"/>
          </a:p>
        </p:txBody>
      </p:sp>
      <p:sp>
        <p:nvSpPr>
          <p:cNvPr id="16" name="Shape 14"/>
          <p:cNvSpPr/>
          <p:nvPr/>
        </p:nvSpPr>
        <p:spPr>
          <a:xfrm>
            <a:off x="5074920" y="2212848"/>
            <a:ext cx="2057400" cy="804672"/>
          </a:xfrm>
          <a:prstGeom prst="roundRect">
            <a:avLst>
              <a:gd name="adj" fmla="val 6818"/>
            </a:avLst>
          </a:prstGeom>
          <a:solidFill>
            <a:srgbClr val="F1F6F4"/>
          </a:solidFill>
          <a:ln/>
        </p:spPr>
      </p:sp>
      <p:sp>
        <p:nvSpPr>
          <p:cNvPr id="17" name="Text 15"/>
          <p:cNvSpPr txBox="1"/>
          <p:nvPr/>
        </p:nvSpPr>
        <p:spPr>
          <a:xfrm>
            <a:off x="5257800" y="2322576"/>
            <a:ext cx="1783080" cy="274320"/>
          </a:xfrm>
          <a:prstGeom prst="rect">
            <a:avLst/>
          </a:prstGeom>
          <a:noFill/>
          <a:ln/>
        </p:spPr>
        <p:txBody>
          <a:bodyPr wrap="square" lIns="0" tIns="0" rIns="0" bIns="0" rtlCol="0" anchor="ctr"/>
          <a:lstStyle/>
          <a:p>
            <a:pPr indent="0" marL="0">
              <a:buNone/>
            </a:pPr>
            <a:r>
              <a:rPr lang="en-US" sz="1100" b="1" dirty="0">
                <a:solidFill>
                  <a:srgbClr val="0A5D50"/>
                </a:solidFill>
                <a:latin typeface="Courier New" pitchFamily="34" charset="0"/>
                <a:ea typeface="Courier New" pitchFamily="34" charset="-122"/>
                <a:cs typeface="Courier New" pitchFamily="34" charset="-120"/>
              </a:rPr>
              <a:t>locations</a:t>
            </a:r>
            <a:endParaRPr lang="en-US" sz="1100" dirty="0"/>
          </a:p>
        </p:txBody>
      </p:sp>
      <p:sp>
        <p:nvSpPr>
          <p:cNvPr id="18" name="Text 16"/>
          <p:cNvSpPr txBox="1"/>
          <p:nvPr/>
        </p:nvSpPr>
        <p:spPr>
          <a:xfrm>
            <a:off x="5257800" y="2615184"/>
            <a:ext cx="1783080" cy="256032"/>
          </a:xfrm>
          <a:prstGeom prst="rect">
            <a:avLst/>
          </a:prstGeom>
          <a:noFill/>
          <a:ln/>
        </p:spPr>
        <p:txBody>
          <a:bodyPr wrap="square" lIns="0" tIns="0" rIns="0" bIns="0" rtlCol="0" anchor="ctr"/>
          <a:lstStyle/>
          <a:p>
            <a:pPr indent="0" marL="0">
              <a:buNone/>
            </a:pPr>
            <a:r>
              <a:rPr lang="en-US" sz="1000" dirty="0">
                <a:solidFill>
                  <a:srgbClr val="8A969C"/>
                </a:solidFill>
                <a:latin typeface="Calibri" pitchFamily="34" charset="0"/>
                <a:ea typeface="Calibri" pitchFamily="34" charset="-122"/>
                <a:cs typeface="Calibri" pitchFamily="34" charset="-120"/>
              </a:rPr>
              <a:t>Saved places</a:t>
            </a:r>
            <a:endParaRPr lang="en-US" sz="1000" dirty="0"/>
          </a:p>
        </p:txBody>
      </p:sp>
      <p:sp>
        <p:nvSpPr>
          <p:cNvPr id="19" name="Shape 17"/>
          <p:cNvSpPr/>
          <p:nvPr/>
        </p:nvSpPr>
        <p:spPr>
          <a:xfrm>
            <a:off x="7360920" y="2212848"/>
            <a:ext cx="2057400" cy="804672"/>
          </a:xfrm>
          <a:prstGeom prst="roundRect">
            <a:avLst>
              <a:gd name="adj" fmla="val 6818"/>
            </a:avLst>
          </a:prstGeom>
          <a:solidFill>
            <a:srgbClr val="F1F6F4"/>
          </a:solidFill>
          <a:ln/>
        </p:spPr>
      </p:sp>
      <p:sp>
        <p:nvSpPr>
          <p:cNvPr id="20" name="Text 18"/>
          <p:cNvSpPr txBox="1"/>
          <p:nvPr/>
        </p:nvSpPr>
        <p:spPr>
          <a:xfrm>
            <a:off x="7543800" y="2322576"/>
            <a:ext cx="1783080" cy="274320"/>
          </a:xfrm>
          <a:prstGeom prst="rect">
            <a:avLst/>
          </a:prstGeom>
          <a:noFill/>
          <a:ln/>
        </p:spPr>
        <p:txBody>
          <a:bodyPr wrap="square" lIns="0" tIns="0" rIns="0" bIns="0" rtlCol="0" anchor="ctr"/>
          <a:lstStyle/>
          <a:p>
            <a:pPr indent="0" marL="0">
              <a:buNone/>
            </a:pPr>
            <a:r>
              <a:rPr lang="en-US" sz="1100" b="1" dirty="0">
                <a:solidFill>
                  <a:srgbClr val="0A5D50"/>
                </a:solidFill>
                <a:latin typeface="Courier New" pitchFamily="34" charset="0"/>
                <a:ea typeface="Courier New" pitchFamily="34" charset="-122"/>
                <a:cs typeface="Courier New" pitchFamily="34" charset="-120"/>
              </a:rPr>
              <a:t>daily_logs</a:t>
            </a:r>
            <a:endParaRPr lang="en-US" sz="1100" dirty="0"/>
          </a:p>
        </p:txBody>
      </p:sp>
      <p:sp>
        <p:nvSpPr>
          <p:cNvPr id="21" name="Text 19"/>
          <p:cNvSpPr txBox="1"/>
          <p:nvPr/>
        </p:nvSpPr>
        <p:spPr>
          <a:xfrm>
            <a:off x="7543800" y="2615184"/>
            <a:ext cx="1783080" cy="256032"/>
          </a:xfrm>
          <a:prstGeom prst="rect">
            <a:avLst/>
          </a:prstGeom>
          <a:noFill/>
          <a:ln/>
        </p:spPr>
        <p:txBody>
          <a:bodyPr wrap="square" lIns="0" tIns="0" rIns="0" bIns="0" rtlCol="0" anchor="ctr"/>
          <a:lstStyle/>
          <a:p>
            <a:pPr indent="0" marL="0">
              <a:buNone/>
            </a:pPr>
            <a:r>
              <a:rPr lang="en-US" sz="1000" dirty="0">
                <a:solidFill>
                  <a:srgbClr val="8A969C"/>
                </a:solidFill>
                <a:latin typeface="Calibri" pitchFamily="34" charset="0"/>
                <a:ea typeface="Calibri" pitchFamily="34" charset="-122"/>
                <a:cs typeface="Calibri" pitchFamily="34" charset="-120"/>
              </a:rPr>
              <a:t>One row per date</a:t>
            </a:r>
            <a:endParaRPr lang="en-US" sz="1000" dirty="0"/>
          </a:p>
        </p:txBody>
      </p:sp>
      <p:sp>
        <p:nvSpPr>
          <p:cNvPr id="22" name="Shape 20"/>
          <p:cNvSpPr/>
          <p:nvPr/>
        </p:nvSpPr>
        <p:spPr>
          <a:xfrm>
            <a:off x="9646920" y="2212848"/>
            <a:ext cx="2057400" cy="804672"/>
          </a:xfrm>
          <a:prstGeom prst="roundRect">
            <a:avLst>
              <a:gd name="adj" fmla="val 6818"/>
            </a:avLst>
          </a:prstGeom>
          <a:solidFill>
            <a:srgbClr val="F1F6F4"/>
          </a:solidFill>
          <a:ln/>
        </p:spPr>
      </p:sp>
      <p:sp>
        <p:nvSpPr>
          <p:cNvPr id="23" name="Text 21"/>
          <p:cNvSpPr txBox="1"/>
          <p:nvPr/>
        </p:nvSpPr>
        <p:spPr>
          <a:xfrm>
            <a:off x="9829800" y="2322576"/>
            <a:ext cx="1783080" cy="274320"/>
          </a:xfrm>
          <a:prstGeom prst="rect">
            <a:avLst/>
          </a:prstGeom>
          <a:noFill/>
          <a:ln/>
        </p:spPr>
        <p:txBody>
          <a:bodyPr wrap="square" lIns="0" tIns="0" rIns="0" bIns="0" rtlCol="0" anchor="ctr"/>
          <a:lstStyle/>
          <a:p>
            <a:pPr indent="0" marL="0">
              <a:buNone/>
            </a:pPr>
            <a:r>
              <a:rPr lang="en-US" sz="1100" b="1" dirty="0">
                <a:solidFill>
                  <a:srgbClr val="0A5D50"/>
                </a:solidFill>
                <a:latin typeface="Courier New" pitchFamily="34" charset="0"/>
                <a:ea typeface="Courier New" pitchFamily="34" charset="-122"/>
                <a:cs typeface="Courier New" pitchFamily="34" charset="-120"/>
              </a:rPr>
              <a:t>activities</a:t>
            </a:r>
            <a:endParaRPr lang="en-US" sz="1100" dirty="0"/>
          </a:p>
        </p:txBody>
      </p:sp>
      <p:sp>
        <p:nvSpPr>
          <p:cNvPr id="24" name="Text 22"/>
          <p:cNvSpPr txBox="1"/>
          <p:nvPr/>
        </p:nvSpPr>
        <p:spPr>
          <a:xfrm>
            <a:off x="9829800" y="2615184"/>
            <a:ext cx="1783080" cy="256032"/>
          </a:xfrm>
          <a:prstGeom prst="rect">
            <a:avLst/>
          </a:prstGeom>
          <a:noFill/>
          <a:ln/>
        </p:spPr>
        <p:txBody>
          <a:bodyPr wrap="square" lIns="0" tIns="0" rIns="0" bIns="0" rtlCol="0" anchor="ctr"/>
          <a:lstStyle/>
          <a:p>
            <a:pPr indent="0" marL="0">
              <a:buNone/>
            </a:pPr>
            <a:r>
              <a:rPr lang="en-US" sz="1000" dirty="0">
                <a:solidFill>
                  <a:srgbClr val="8A969C"/>
                </a:solidFill>
                <a:latin typeface="Calibri" pitchFamily="34" charset="0"/>
                <a:ea typeface="Calibri" pitchFamily="34" charset="-122"/>
                <a:cs typeface="Calibri" pitchFamily="34" charset="-120"/>
              </a:rPr>
              <a:t>Timed entries</a:t>
            </a:r>
            <a:endParaRPr lang="en-US" sz="1000" dirty="0"/>
          </a:p>
        </p:txBody>
      </p:sp>
      <p:sp>
        <p:nvSpPr>
          <p:cNvPr id="25" name="Shape 23"/>
          <p:cNvSpPr/>
          <p:nvPr/>
        </p:nvSpPr>
        <p:spPr>
          <a:xfrm>
            <a:off x="502920" y="3236976"/>
            <a:ext cx="2057400" cy="804672"/>
          </a:xfrm>
          <a:prstGeom prst="roundRect">
            <a:avLst>
              <a:gd name="adj" fmla="val 6818"/>
            </a:avLst>
          </a:prstGeom>
          <a:solidFill>
            <a:srgbClr val="F1F6F4"/>
          </a:solidFill>
          <a:ln/>
        </p:spPr>
      </p:sp>
      <p:sp>
        <p:nvSpPr>
          <p:cNvPr id="26" name="Text 24"/>
          <p:cNvSpPr txBox="1"/>
          <p:nvPr/>
        </p:nvSpPr>
        <p:spPr>
          <a:xfrm>
            <a:off x="685800" y="3346704"/>
            <a:ext cx="1783080" cy="274320"/>
          </a:xfrm>
          <a:prstGeom prst="rect">
            <a:avLst/>
          </a:prstGeom>
          <a:noFill/>
          <a:ln/>
        </p:spPr>
        <p:txBody>
          <a:bodyPr wrap="square" lIns="0" tIns="0" rIns="0" bIns="0" rtlCol="0" anchor="ctr"/>
          <a:lstStyle/>
          <a:p>
            <a:pPr indent="0" marL="0">
              <a:buNone/>
            </a:pPr>
            <a:r>
              <a:rPr lang="en-US" sz="1100" b="1" dirty="0">
                <a:solidFill>
                  <a:srgbClr val="0A5D50"/>
                </a:solidFill>
                <a:latin typeface="Courier New" pitchFamily="34" charset="0"/>
                <a:ea typeface="Courier New" pitchFamily="34" charset="-122"/>
                <a:cs typeface="Courier New" pitchFamily="34" charset="-120"/>
              </a:rPr>
              <a:t>expenses</a:t>
            </a:r>
            <a:endParaRPr lang="en-US" sz="1100" dirty="0"/>
          </a:p>
        </p:txBody>
      </p:sp>
      <p:sp>
        <p:nvSpPr>
          <p:cNvPr id="27" name="Text 25"/>
          <p:cNvSpPr txBox="1"/>
          <p:nvPr/>
        </p:nvSpPr>
        <p:spPr>
          <a:xfrm>
            <a:off x="685800" y="3639312"/>
            <a:ext cx="1783080" cy="256032"/>
          </a:xfrm>
          <a:prstGeom prst="rect">
            <a:avLst/>
          </a:prstGeom>
          <a:noFill/>
          <a:ln/>
        </p:spPr>
        <p:txBody>
          <a:bodyPr wrap="square" lIns="0" tIns="0" rIns="0" bIns="0" rtlCol="0" anchor="ctr"/>
          <a:lstStyle/>
          <a:p>
            <a:pPr indent="0" marL="0">
              <a:buNone/>
            </a:pPr>
            <a:r>
              <a:rPr lang="en-US" sz="1000" dirty="0">
                <a:solidFill>
                  <a:srgbClr val="8A969C"/>
                </a:solidFill>
                <a:latin typeface="Calibri" pitchFamily="34" charset="0"/>
                <a:ea typeface="Calibri" pitchFamily="34" charset="-122"/>
                <a:cs typeface="Calibri" pitchFamily="34" charset="-120"/>
              </a:rPr>
              <a:t>Spending records</a:t>
            </a:r>
            <a:endParaRPr lang="en-US" sz="1000" dirty="0"/>
          </a:p>
        </p:txBody>
      </p:sp>
      <p:sp>
        <p:nvSpPr>
          <p:cNvPr id="28" name="Shape 26"/>
          <p:cNvSpPr/>
          <p:nvPr/>
        </p:nvSpPr>
        <p:spPr>
          <a:xfrm>
            <a:off x="2788920" y="3236976"/>
            <a:ext cx="2057400" cy="804672"/>
          </a:xfrm>
          <a:prstGeom prst="roundRect">
            <a:avLst>
              <a:gd name="adj" fmla="val 6818"/>
            </a:avLst>
          </a:prstGeom>
          <a:solidFill>
            <a:srgbClr val="F1F6F4"/>
          </a:solidFill>
          <a:ln/>
        </p:spPr>
      </p:sp>
      <p:sp>
        <p:nvSpPr>
          <p:cNvPr id="29" name="Text 27"/>
          <p:cNvSpPr txBox="1"/>
          <p:nvPr/>
        </p:nvSpPr>
        <p:spPr>
          <a:xfrm>
            <a:off x="2971800" y="3346704"/>
            <a:ext cx="1783080" cy="274320"/>
          </a:xfrm>
          <a:prstGeom prst="rect">
            <a:avLst/>
          </a:prstGeom>
          <a:noFill/>
          <a:ln/>
        </p:spPr>
        <p:txBody>
          <a:bodyPr wrap="square" lIns="0" tIns="0" rIns="0" bIns="0" rtlCol="0" anchor="ctr"/>
          <a:lstStyle/>
          <a:p>
            <a:pPr indent="0" marL="0">
              <a:buNone/>
            </a:pPr>
            <a:r>
              <a:rPr lang="en-US" sz="1100" b="1" dirty="0">
                <a:solidFill>
                  <a:srgbClr val="0A5D50"/>
                </a:solidFill>
                <a:latin typeface="Courier New" pitchFamily="34" charset="0"/>
                <a:ea typeface="Courier New" pitchFamily="34" charset="-122"/>
                <a:cs typeface="Courier New" pitchFamily="34" charset="-120"/>
              </a:rPr>
              <a:t>food_logs</a:t>
            </a:r>
            <a:endParaRPr lang="en-US" sz="1100" dirty="0"/>
          </a:p>
        </p:txBody>
      </p:sp>
      <p:sp>
        <p:nvSpPr>
          <p:cNvPr id="30" name="Text 28"/>
          <p:cNvSpPr txBox="1"/>
          <p:nvPr/>
        </p:nvSpPr>
        <p:spPr>
          <a:xfrm>
            <a:off x="2971800" y="3639312"/>
            <a:ext cx="1783080" cy="256032"/>
          </a:xfrm>
          <a:prstGeom prst="rect">
            <a:avLst/>
          </a:prstGeom>
          <a:noFill/>
          <a:ln/>
        </p:spPr>
        <p:txBody>
          <a:bodyPr wrap="square" lIns="0" tIns="0" rIns="0" bIns="0" rtlCol="0" anchor="ctr"/>
          <a:lstStyle/>
          <a:p>
            <a:pPr indent="0" marL="0">
              <a:buNone/>
            </a:pPr>
            <a:r>
              <a:rPr lang="en-US" sz="1000" dirty="0">
                <a:solidFill>
                  <a:srgbClr val="8A969C"/>
                </a:solidFill>
                <a:latin typeface="Calibri" pitchFamily="34" charset="0"/>
                <a:ea typeface="Calibri" pitchFamily="34" charset="-122"/>
                <a:cs typeface="Calibri" pitchFamily="34" charset="-120"/>
              </a:rPr>
              <a:t>Meals &amp; nutrition</a:t>
            </a:r>
            <a:endParaRPr lang="en-US" sz="1000" dirty="0"/>
          </a:p>
        </p:txBody>
      </p:sp>
      <p:sp>
        <p:nvSpPr>
          <p:cNvPr id="31" name="Shape 29"/>
          <p:cNvSpPr/>
          <p:nvPr/>
        </p:nvSpPr>
        <p:spPr>
          <a:xfrm>
            <a:off x="5074920" y="3236976"/>
            <a:ext cx="2057400" cy="804672"/>
          </a:xfrm>
          <a:prstGeom prst="roundRect">
            <a:avLst>
              <a:gd name="adj" fmla="val 6818"/>
            </a:avLst>
          </a:prstGeom>
          <a:solidFill>
            <a:srgbClr val="F1F6F4"/>
          </a:solidFill>
          <a:ln/>
        </p:spPr>
      </p:sp>
      <p:sp>
        <p:nvSpPr>
          <p:cNvPr id="32" name="Text 30"/>
          <p:cNvSpPr txBox="1"/>
          <p:nvPr/>
        </p:nvSpPr>
        <p:spPr>
          <a:xfrm>
            <a:off x="5257800" y="3346704"/>
            <a:ext cx="1783080" cy="274320"/>
          </a:xfrm>
          <a:prstGeom prst="rect">
            <a:avLst/>
          </a:prstGeom>
          <a:noFill/>
          <a:ln/>
        </p:spPr>
        <p:txBody>
          <a:bodyPr wrap="square" lIns="0" tIns="0" rIns="0" bIns="0" rtlCol="0" anchor="ctr"/>
          <a:lstStyle/>
          <a:p>
            <a:pPr indent="0" marL="0">
              <a:buNone/>
            </a:pPr>
            <a:r>
              <a:rPr lang="en-US" sz="1100" b="1" dirty="0">
                <a:solidFill>
                  <a:srgbClr val="0A5D50"/>
                </a:solidFill>
                <a:latin typeface="Courier New" pitchFamily="34" charset="0"/>
                <a:ea typeface="Courier New" pitchFamily="34" charset="-122"/>
                <a:cs typeface="Courier New" pitchFamily="34" charset="-120"/>
              </a:rPr>
              <a:t>study_sessions</a:t>
            </a:r>
            <a:endParaRPr lang="en-US" sz="1100" dirty="0"/>
          </a:p>
        </p:txBody>
      </p:sp>
      <p:sp>
        <p:nvSpPr>
          <p:cNvPr id="33" name="Text 31"/>
          <p:cNvSpPr txBox="1"/>
          <p:nvPr/>
        </p:nvSpPr>
        <p:spPr>
          <a:xfrm>
            <a:off x="5257800" y="3639312"/>
            <a:ext cx="1783080" cy="256032"/>
          </a:xfrm>
          <a:prstGeom prst="rect">
            <a:avLst/>
          </a:prstGeom>
          <a:noFill/>
          <a:ln/>
        </p:spPr>
        <p:txBody>
          <a:bodyPr wrap="square" lIns="0" tIns="0" rIns="0" bIns="0" rtlCol="0" anchor="ctr"/>
          <a:lstStyle/>
          <a:p>
            <a:pPr indent="0" marL="0">
              <a:buNone/>
            </a:pPr>
            <a:r>
              <a:rPr lang="en-US" sz="1000" dirty="0">
                <a:solidFill>
                  <a:srgbClr val="8A969C"/>
                </a:solidFill>
                <a:latin typeface="Calibri" pitchFamily="34" charset="0"/>
                <a:ea typeface="Calibri" pitchFamily="34" charset="-122"/>
                <a:cs typeface="Calibri" pitchFamily="34" charset="-120"/>
              </a:rPr>
              <a:t>Subject-wise study</a:t>
            </a:r>
            <a:endParaRPr lang="en-US" sz="1000" dirty="0"/>
          </a:p>
        </p:txBody>
      </p:sp>
      <p:sp>
        <p:nvSpPr>
          <p:cNvPr id="34" name="Shape 32"/>
          <p:cNvSpPr/>
          <p:nvPr/>
        </p:nvSpPr>
        <p:spPr>
          <a:xfrm>
            <a:off x="7360920" y="3236976"/>
            <a:ext cx="2057400" cy="804672"/>
          </a:xfrm>
          <a:prstGeom prst="roundRect">
            <a:avLst>
              <a:gd name="adj" fmla="val 6818"/>
            </a:avLst>
          </a:prstGeom>
          <a:solidFill>
            <a:srgbClr val="F1F6F4"/>
          </a:solidFill>
          <a:ln/>
        </p:spPr>
      </p:sp>
      <p:sp>
        <p:nvSpPr>
          <p:cNvPr id="35" name="Text 33"/>
          <p:cNvSpPr txBox="1"/>
          <p:nvPr/>
        </p:nvSpPr>
        <p:spPr>
          <a:xfrm>
            <a:off x="7543800" y="3346704"/>
            <a:ext cx="1783080" cy="274320"/>
          </a:xfrm>
          <a:prstGeom prst="rect">
            <a:avLst/>
          </a:prstGeom>
          <a:noFill/>
          <a:ln/>
        </p:spPr>
        <p:txBody>
          <a:bodyPr wrap="square" lIns="0" tIns="0" rIns="0" bIns="0" rtlCol="0" anchor="ctr"/>
          <a:lstStyle/>
          <a:p>
            <a:pPr indent="0" marL="0">
              <a:buNone/>
            </a:pPr>
            <a:r>
              <a:rPr lang="en-US" sz="1100" b="1" dirty="0">
                <a:solidFill>
                  <a:srgbClr val="0A5D50"/>
                </a:solidFill>
                <a:latin typeface="Courier New" pitchFamily="34" charset="0"/>
                <a:ea typeface="Courier New" pitchFamily="34" charset="-122"/>
                <a:cs typeface="Courier New" pitchFamily="34" charset="-120"/>
              </a:rPr>
              <a:t>transport_logs</a:t>
            </a:r>
            <a:endParaRPr lang="en-US" sz="1100" dirty="0"/>
          </a:p>
        </p:txBody>
      </p:sp>
      <p:sp>
        <p:nvSpPr>
          <p:cNvPr id="36" name="Text 34"/>
          <p:cNvSpPr txBox="1"/>
          <p:nvPr/>
        </p:nvSpPr>
        <p:spPr>
          <a:xfrm>
            <a:off x="7543800" y="3639312"/>
            <a:ext cx="1783080" cy="256032"/>
          </a:xfrm>
          <a:prstGeom prst="rect">
            <a:avLst/>
          </a:prstGeom>
          <a:noFill/>
          <a:ln/>
        </p:spPr>
        <p:txBody>
          <a:bodyPr wrap="square" lIns="0" tIns="0" rIns="0" bIns="0" rtlCol="0" anchor="ctr"/>
          <a:lstStyle/>
          <a:p>
            <a:pPr indent="0" marL="0">
              <a:buNone/>
            </a:pPr>
            <a:r>
              <a:rPr lang="en-US" sz="1000" dirty="0">
                <a:solidFill>
                  <a:srgbClr val="8A969C"/>
                </a:solidFill>
                <a:latin typeface="Calibri" pitchFamily="34" charset="0"/>
                <a:ea typeface="Calibri" pitchFamily="34" charset="-122"/>
                <a:cs typeface="Calibri" pitchFamily="34" charset="-120"/>
              </a:rPr>
              <a:t>Journeys &amp; cost</a:t>
            </a:r>
            <a:endParaRPr lang="en-US" sz="1000" dirty="0"/>
          </a:p>
        </p:txBody>
      </p:sp>
      <p:sp>
        <p:nvSpPr>
          <p:cNvPr id="37" name="Shape 35"/>
          <p:cNvSpPr/>
          <p:nvPr/>
        </p:nvSpPr>
        <p:spPr>
          <a:xfrm>
            <a:off x="9646920" y="3236976"/>
            <a:ext cx="2057400" cy="804672"/>
          </a:xfrm>
          <a:prstGeom prst="roundRect">
            <a:avLst>
              <a:gd name="adj" fmla="val 6818"/>
            </a:avLst>
          </a:prstGeom>
          <a:solidFill>
            <a:srgbClr val="F1F6F4"/>
          </a:solidFill>
          <a:ln/>
        </p:spPr>
      </p:sp>
      <p:sp>
        <p:nvSpPr>
          <p:cNvPr id="38" name="Text 36"/>
          <p:cNvSpPr txBox="1"/>
          <p:nvPr/>
        </p:nvSpPr>
        <p:spPr>
          <a:xfrm>
            <a:off x="9829800" y="3346704"/>
            <a:ext cx="1783080" cy="274320"/>
          </a:xfrm>
          <a:prstGeom prst="rect">
            <a:avLst/>
          </a:prstGeom>
          <a:noFill/>
          <a:ln/>
        </p:spPr>
        <p:txBody>
          <a:bodyPr wrap="square" lIns="0" tIns="0" rIns="0" bIns="0" rtlCol="0" anchor="ctr"/>
          <a:lstStyle/>
          <a:p>
            <a:pPr indent="0" marL="0">
              <a:buNone/>
            </a:pPr>
            <a:r>
              <a:rPr lang="en-US" sz="1100" b="1" dirty="0">
                <a:solidFill>
                  <a:srgbClr val="0A5D50"/>
                </a:solidFill>
                <a:latin typeface="Courier New" pitchFamily="34" charset="0"/>
                <a:ea typeface="Courier New" pitchFamily="34" charset="-122"/>
                <a:cs typeface="Courier New" pitchFamily="34" charset="-120"/>
              </a:rPr>
              <a:t>screen_time_logs</a:t>
            </a:r>
            <a:endParaRPr lang="en-US" sz="1100" dirty="0"/>
          </a:p>
        </p:txBody>
      </p:sp>
      <p:sp>
        <p:nvSpPr>
          <p:cNvPr id="39" name="Text 37"/>
          <p:cNvSpPr txBox="1"/>
          <p:nvPr/>
        </p:nvSpPr>
        <p:spPr>
          <a:xfrm>
            <a:off x="9829800" y="3639312"/>
            <a:ext cx="1783080" cy="256032"/>
          </a:xfrm>
          <a:prstGeom prst="rect">
            <a:avLst/>
          </a:prstGeom>
          <a:noFill/>
          <a:ln/>
        </p:spPr>
        <p:txBody>
          <a:bodyPr wrap="square" lIns="0" tIns="0" rIns="0" bIns="0" rtlCol="0" anchor="ctr"/>
          <a:lstStyle/>
          <a:p>
            <a:pPr indent="0" marL="0">
              <a:buNone/>
            </a:pPr>
            <a:r>
              <a:rPr lang="en-US" sz="1000" dirty="0">
                <a:solidFill>
                  <a:srgbClr val="8A969C"/>
                </a:solidFill>
                <a:latin typeface="Calibri" pitchFamily="34" charset="0"/>
                <a:ea typeface="Calibri" pitchFamily="34" charset="-122"/>
                <a:cs typeface="Calibri" pitchFamily="34" charset="-120"/>
              </a:rPr>
              <a:t>App usage</a:t>
            </a:r>
            <a:endParaRPr lang="en-US" sz="1000" dirty="0"/>
          </a:p>
        </p:txBody>
      </p:sp>
      <p:sp>
        <p:nvSpPr>
          <p:cNvPr id="40" name="Shape 38"/>
          <p:cNvSpPr/>
          <p:nvPr/>
        </p:nvSpPr>
        <p:spPr>
          <a:xfrm>
            <a:off x="502920" y="4261104"/>
            <a:ext cx="2057400" cy="804672"/>
          </a:xfrm>
          <a:prstGeom prst="roundRect">
            <a:avLst>
              <a:gd name="adj" fmla="val 6818"/>
            </a:avLst>
          </a:prstGeom>
          <a:solidFill>
            <a:srgbClr val="F1F6F4"/>
          </a:solidFill>
          <a:ln/>
        </p:spPr>
      </p:sp>
      <p:sp>
        <p:nvSpPr>
          <p:cNvPr id="41" name="Text 39"/>
          <p:cNvSpPr txBox="1"/>
          <p:nvPr/>
        </p:nvSpPr>
        <p:spPr>
          <a:xfrm>
            <a:off x="685800" y="4370832"/>
            <a:ext cx="1783080" cy="274320"/>
          </a:xfrm>
          <a:prstGeom prst="rect">
            <a:avLst/>
          </a:prstGeom>
          <a:noFill/>
          <a:ln/>
        </p:spPr>
        <p:txBody>
          <a:bodyPr wrap="square" lIns="0" tIns="0" rIns="0" bIns="0" rtlCol="0" anchor="ctr"/>
          <a:lstStyle/>
          <a:p>
            <a:pPr indent="0" marL="0">
              <a:buNone/>
            </a:pPr>
            <a:r>
              <a:rPr lang="en-US" sz="1100" b="1" dirty="0">
                <a:solidFill>
                  <a:srgbClr val="0A5D50"/>
                </a:solidFill>
                <a:latin typeface="Courier New" pitchFamily="34" charset="0"/>
                <a:ea typeface="Courier New" pitchFamily="34" charset="-122"/>
                <a:cs typeface="Courier New" pitchFamily="34" charset="-120"/>
              </a:rPr>
              <a:t>mood_logs</a:t>
            </a:r>
            <a:endParaRPr lang="en-US" sz="1100" dirty="0"/>
          </a:p>
        </p:txBody>
      </p:sp>
      <p:sp>
        <p:nvSpPr>
          <p:cNvPr id="42" name="Text 40"/>
          <p:cNvSpPr txBox="1"/>
          <p:nvPr/>
        </p:nvSpPr>
        <p:spPr>
          <a:xfrm>
            <a:off x="685800" y="4663440"/>
            <a:ext cx="1783080" cy="256032"/>
          </a:xfrm>
          <a:prstGeom prst="rect">
            <a:avLst/>
          </a:prstGeom>
          <a:noFill/>
          <a:ln/>
        </p:spPr>
        <p:txBody>
          <a:bodyPr wrap="square" lIns="0" tIns="0" rIns="0" bIns="0" rtlCol="0" anchor="ctr"/>
          <a:lstStyle/>
          <a:p>
            <a:pPr indent="0" marL="0">
              <a:buNone/>
            </a:pPr>
            <a:r>
              <a:rPr lang="en-US" sz="1000" dirty="0">
                <a:solidFill>
                  <a:srgbClr val="8A969C"/>
                </a:solidFill>
                <a:latin typeface="Calibri" pitchFamily="34" charset="0"/>
                <a:ea typeface="Calibri" pitchFamily="34" charset="-122"/>
                <a:cs typeface="Calibri" pitchFamily="34" charset="-120"/>
              </a:rPr>
              <a:t>Mood &amp; stress</a:t>
            </a:r>
            <a:endParaRPr lang="en-US" sz="1000" dirty="0"/>
          </a:p>
        </p:txBody>
      </p:sp>
      <p:sp>
        <p:nvSpPr>
          <p:cNvPr id="43" name="Shape 41"/>
          <p:cNvSpPr/>
          <p:nvPr/>
        </p:nvSpPr>
        <p:spPr>
          <a:xfrm>
            <a:off x="2788920" y="4261104"/>
            <a:ext cx="2057400" cy="804672"/>
          </a:xfrm>
          <a:prstGeom prst="roundRect">
            <a:avLst>
              <a:gd name="adj" fmla="val 6818"/>
            </a:avLst>
          </a:prstGeom>
          <a:solidFill>
            <a:srgbClr val="F1F6F4"/>
          </a:solidFill>
          <a:ln/>
        </p:spPr>
      </p:sp>
      <p:sp>
        <p:nvSpPr>
          <p:cNvPr id="44" name="Text 42"/>
          <p:cNvSpPr txBox="1"/>
          <p:nvPr/>
        </p:nvSpPr>
        <p:spPr>
          <a:xfrm>
            <a:off x="2971800" y="4370832"/>
            <a:ext cx="1783080" cy="274320"/>
          </a:xfrm>
          <a:prstGeom prst="rect">
            <a:avLst/>
          </a:prstGeom>
          <a:noFill/>
          <a:ln/>
        </p:spPr>
        <p:txBody>
          <a:bodyPr wrap="square" lIns="0" tIns="0" rIns="0" bIns="0" rtlCol="0" anchor="ctr"/>
          <a:lstStyle/>
          <a:p>
            <a:pPr indent="0" marL="0">
              <a:buNone/>
            </a:pPr>
            <a:r>
              <a:rPr lang="en-US" sz="1100" b="1" dirty="0">
                <a:solidFill>
                  <a:srgbClr val="0A5D50"/>
                </a:solidFill>
                <a:latin typeface="Courier New" pitchFamily="34" charset="0"/>
                <a:ea typeface="Courier New" pitchFamily="34" charset="-122"/>
                <a:cs typeface="Courier New" pitchFamily="34" charset="-120"/>
              </a:rPr>
              <a:t>sleep_logs</a:t>
            </a:r>
            <a:endParaRPr lang="en-US" sz="1100" dirty="0"/>
          </a:p>
        </p:txBody>
      </p:sp>
      <p:sp>
        <p:nvSpPr>
          <p:cNvPr id="45" name="Text 43"/>
          <p:cNvSpPr txBox="1"/>
          <p:nvPr/>
        </p:nvSpPr>
        <p:spPr>
          <a:xfrm>
            <a:off x="2971800" y="4663440"/>
            <a:ext cx="1783080" cy="256032"/>
          </a:xfrm>
          <a:prstGeom prst="rect">
            <a:avLst/>
          </a:prstGeom>
          <a:noFill/>
          <a:ln/>
        </p:spPr>
        <p:txBody>
          <a:bodyPr wrap="square" lIns="0" tIns="0" rIns="0" bIns="0" rtlCol="0" anchor="ctr"/>
          <a:lstStyle/>
          <a:p>
            <a:pPr indent="0" marL="0">
              <a:buNone/>
            </a:pPr>
            <a:r>
              <a:rPr lang="en-US" sz="1000" dirty="0">
                <a:solidFill>
                  <a:srgbClr val="8A969C"/>
                </a:solidFill>
                <a:latin typeface="Calibri" pitchFamily="34" charset="0"/>
                <a:ea typeface="Calibri" pitchFamily="34" charset="-122"/>
                <a:cs typeface="Calibri" pitchFamily="34" charset="-120"/>
              </a:rPr>
              <a:t>Bedtime &amp; quality</a:t>
            </a:r>
            <a:endParaRPr lang="en-US" sz="1000" dirty="0"/>
          </a:p>
        </p:txBody>
      </p:sp>
      <p:sp>
        <p:nvSpPr>
          <p:cNvPr id="46" name="Shape 44"/>
          <p:cNvSpPr/>
          <p:nvPr/>
        </p:nvSpPr>
        <p:spPr>
          <a:xfrm>
            <a:off x="5074920" y="4261104"/>
            <a:ext cx="2057400" cy="804672"/>
          </a:xfrm>
          <a:prstGeom prst="roundRect">
            <a:avLst>
              <a:gd name="adj" fmla="val 6818"/>
            </a:avLst>
          </a:prstGeom>
          <a:solidFill>
            <a:srgbClr val="F1F6F4"/>
          </a:solidFill>
          <a:ln/>
        </p:spPr>
      </p:sp>
      <p:sp>
        <p:nvSpPr>
          <p:cNvPr id="47" name="Text 45"/>
          <p:cNvSpPr txBox="1"/>
          <p:nvPr/>
        </p:nvSpPr>
        <p:spPr>
          <a:xfrm>
            <a:off x="5257800" y="4370832"/>
            <a:ext cx="1783080" cy="274320"/>
          </a:xfrm>
          <a:prstGeom prst="rect">
            <a:avLst/>
          </a:prstGeom>
          <a:noFill/>
          <a:ln/>
        </p:spPr>
        <p:txBody>
          <a:bodyPr wrap="square" lIns="0" tIns="0" rIns="0" bIns="0" rtlCol="0" anchor="ctr"/>
          <a:lstStyle/>
          <a:p>
            <a:pPr indent="0" marL="0">
              <a:buNone/>
            </a:pPr>
            <a:r>
              <a:rPr lang="en-US" sz="1100" b="1" dirty="0">
                <a:solidFill>
                  <a:srgbClr val="0A5D50"/>
                </a:solidFill>
                <a:latin typeface="Courier New" pitchFamily="34" charset="0"/>
                <a:ea typeface="Courier New" pitchFamily="34" charset="-122"/>
                <a:cs typeface="Courier New" pitchFamily="34" charset="-120"/>
              </a:rPr>
              <a:t>goals</a:t>
            </a:r>
            <a:endParaRPr lang="en-US" sz="1100" dirty="0"/>
          </a:p>
        </p:txBody>
      </p:sp>
      <p:sp>
        <p:nvSpPr>
          <p:cNvPr id="48" name="Text 46"/>
          <p:cNvSpPr txBox="1"/>
          <p:nvPr/>
        </p:nvSpPr>
        <p:spPr>
          <a:xfrm>
            <a:off x="5257800" y="4663440"/>
            <a:ext cx="1783080" cy="256032"/>
          </a:xfrm>
          <a:prstGeom prst="rect">
            <a:avLst/>
          </a:prstGeom>
          <a:noFill/>
          <a:ln/>
        </p:spPr>
        <p:txBody>
          <a:bodyPr wrap="square" lIns="0" tIns="0" rIns="0" bIns="0" rtlCol="0" anchor="ctr"/>
          <a:lstStyle/>
          <a:p>
            <a:pPr indent="0" marL="0">
              <a:buNone/>
            </a:pPr>
            <a:r>
              <a:rPr lang="en-US" sz="1000" dirty="0">
                <a:solidFill>
                  <a:srgbClr val="8A969C"/>
                </a:solidFill>
                <a:latin typeface="Calibri" pitchFamily="34" charset="0"/>
                <a:ea typeface="Calibri" pitchFamily="34" charset="-122"/>
                <a:cs typeface="Calibri" pitchFamily="34" charset="-120"/>
              </a:rPr>
              <a:t>Targets &amp; status</a:t>
            </a:r>
            <a:endParaRPr lang="en-US" sz="1000" dirty="0"/>
          </a:p>
        </p:txBody>
      </p:sp>
      <p:sp>
        <p:nvSpPr>
          <p:cNvPr id="49" name="Shape 47"/>
          <p:cNvSpPr/>
          <p:nvPr/>
        </p:nvSpPr>
        <p:spPr>
          <a:xfrm>
            <a:off x="7360920" y="4261104"/>
            <a:ext cx="2057400" cy="804672"/>
          </a:xfrm>
          <a:prstGeom prst="roundRect">
            <a:avLst>
              <a:gd name="adj" fmla="val 6818"/>
            </a:avLst>
          </a:prstGeom>
          <a:solidFill>
            <a:srgbClr val="F1F6F4"/>
          </a:solidFill>
          <a:ln/>
        </p:spPr>
      </p:sp>
      <p:sp>
        <p:nvSpPr>
          <p:cNvPr id="50" name="Text 48"/>
          <p:cNvSpPr txBox="1"/>
          <p:nvPr/>
        </p:nvSpPr>
        <p:spPr>
          <a:xfrm>
            <a:off x="7543800" y="4370832"/>
            <a:ext cx="1783080" cy="274320"/>
          </a:xfrm>
          <a:prstGeom prst="rect">
            <a:avLst/>
          </a:prstGeom>
          <a:noFill/>
          <a:ln/>
        </p:spPr>
        <p:txBody>
          <a:bodyPr wrap="square" lIns="0" tIns="0" rIns="0" bIns="0" rtlCol="0" anchor="ctr"/>
          <a:lstStyle/>
          <a:p>
            <a:pPr indent="0" marL="0">
              <a:buNone/>
            </a:pPr>
            <a:r>
              <a:rPr lang="en-US" sz="1100" b="1" dirty="0">
                <a:solidFill>
                  <a:srgbClr val="0A5D50"/>
                </a:solidFill>
                <a:latin typeface="Courier New" pitchFamily="34" charset="0"/>
                <a:ea typeface="Courier New" pitchFamily="34" charset="-122"/>
                <a:cs typeface="Courier New" pitchFamily="34" charset="-120"/>
              </a:rPr>
              <a:t>goal_progress</a:t>
            </a:r>
            <a:endParaRPr lang="en-US" sz="1100" dirty="0"/>
          </a:p>
        </p:txBody>
      </p:sp>
      <p:sp>
        <p:nvSpPr>
          <p:cNvPr id="51" name="Text 49"/>
          <p:cNvSpPr txBox="1"/>
          <p:nvPr/>
        </p:nvSpPr>
        <p:spPr>
          <a:xfrm>
            <a:off x="7543800" y="4663440"/>
            <a:ext cx="1783080" cy="256032"/>
          </a:xfrm>
          <a:prstGeom prst="rect">
            <a:avLst/>
          </a:prstGeom>
          <a:noFill/>
          <a:ln/>
        </p:spPr>
        <p:txBody>
          <a:bodyPr wrap="square" lIns="0" tIns="0" rIns="0" bIns="0" rtlCol="0" anchor="ctr"/>
          <a:lstStyle/>
          <a:p>
            <a:pPr indent="0" marL="0">
              <a:buNone/>
            </a:pPr>
            <a:r>
              <a:rPr lang="en-US" sz="1000" dirty="0">
                <a:solidFill>
                  <a:srgbClr val="8A969C"/>
                </a:solidFill>
                <a:latin typeface="Calibri" pitchFamily="34" charset="0"/>
                <a:ea typeface="Calibri" pitchFamily="34" charset="-122"/>
                <a:cs typeface="Calibri" pitchFamily="34" charset="-120"/>
              </a:rPr>
              <a:t>Progress entries</a:t>
            </a:r>
            <a:endParaRPr lang="en-US" sz="1000" dirty="0"/>
          </a:p>
        </p:txBody>
      </p:sp>
      <p:sp>
        <p:nvSpPr>
          <p:cNvPr id="52" name="Shape 50"/>
          <p:cNvSpPr/>
          <p:nvPr/>
        </p:nvSpPr>
        <p:spPr>
          <a:xfrm>
            <a:off x="9646920" y="4261104"/>
            <a:ext cx="2057400" cy="804672"/>
          </a:xfrm>
          <a:prstGeom prst="roundRect">
            <a:avLst>
              <a:gd name="adj" fmla="val 6818"/>
            </a:avLst>
          </a:prstGeom>
          <a:solidFill>
            <a:srgbClr val="14303B"/>
          </a:solidFill>
          <a:ln/>
        </p:spPr>
      </p:sp>
      <p:sp>
        <p:nvSpPr>
          <p:cNvPr id="53" name="Text 51"/>
          <p:cNvSpPr txBox="1"/>
          <p:nvPr/>
        </p:nvSpPr>
        <p:spPr>
          <a:xfrm>
            <a:off x="9829800" y="4370832"/>
            <a:ext cx="17830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3NF · InnoDB</a:t>
            </a:r>
            <a:endParaRPr lang="en-US" sz="1100" dirty="0"/>
          </a:p>
        </p:txBody>
      </p:sp>
      <p:sp>
        <p:nvSpPr>
          <p:cNvPr id="54" name="Text 52"/>
          <p:cNvSpPr txBox="1"/>
          <p:nvPr/>
        </p:nvSpPr>
        <p:spPr>
          <a:xfrm>
            <a:off x="9829800" y="4663440"/>
            <a:ext cx="1783080" cy="256032"/>
          </a:xfrm>
          <a:prstGeom prst="rect">
            <a:avLst/>
          </a:prstGeom>
          <a:noFill/>
          <a:ln/>
        </p:spPr>
        <p:txBody>
          <a:bodyPr wrap="square" lIns="0" tIns="0" rIns="0" bIns="0" rtlCol="0" anchor="ctr"/>
          <a:lstStyle/>
          <a:p>
            <a:pPr indent="0" marL="0">
              <a:buNone/>
            </a:pPr>
            <a:r>
              <a:rPr lang="en-US" sz="1000" dirty="0">
                <a:solidFill>
                  <a:srgbClr val="A9C6C0"/>
                </a:solidFill>
                <a:latin typeface="Calibri" pitchFamily="34" charset="0"/>
                <a:ea typeface="Calibri" pitchFamily="34" charset="-122"/>
                <a:cs typeface="Calibri" pitchFamily="34" charset="-120"/>
              </a:rPr>
              <a:t>Cascading integrity</a:t>
            </a:r>
            <a:endParaRPr lang="en-US" sz="1000" dirty="0"/>
          </a:p>
        </p:txBody>
      </p:sp>
      <p:sp>
        <p:nvSpPr>
          <p:cNvPr id="55" name="Text 53"/>
          <p:cNvSpPr txBox="1"/>
          <p:nvPr/>
        </p:nvSpPr>
        <p:spPr>
          <a:xfrm>
            <a:off x="502920" y="5394960"/>
            <a:ext cx="3657600" cy="256032"/>
          </a:xfrm>
          <a:prstGeom prst="rect">
            <a:avLst/>
          </a:prstGeom>
          <a:noFill/>
          <a:ln/>
        </p:spPr>
        <p:txBody>
          <a:bodyPr wrap="square" lIns="0" tIns="0" rIns="0" bIns="0" rtlCol="0" anchor="ctr"/>
          <a:lstStyle/>
          <a:p>
            <a:pPr indent="0" marL="0">
              <a:buNone/>
            </a:pPr>
            <a:r>
              <a:rPr lang="en-US" sz="1000" b="1" spc="130" kern="0" dirty="0">
                <a:solidFill>
                  <a:srgbClr val="0A5D50"/>
                </a:solidFill>
                <a:latin typeface="Calibri" pitchFamily="34" charset="0"/>
                <a:ea typeface="Calibri" pitchFamily="34" charset="-122"/>
                <a:cs typeface="Calibri" pitchFamily="34" charset="-120"/>
              </a:rPr>
              <a:t>KEY RELATIONSHIPS</a:t>
            </a:r>
            <a:endParaRPr lang="en-US" sz="1000" dirty="0"/>
          </a:p>
        </p:txBody>
      </p:sp>
      <p:sp>
        <p:nvSpPr>
          <p:cNvPr id="56" name="Shape 54"/>
          <p:cNvSpPr/>
          <p:nvPr/>
        </p:nvSpPr>
        <p:spPr>
          <a:xfrm>
            <a:off x="502920" y="5788152"/>
            <a:ext cx="109728" cy="109728"/>
          </a:xfrm>
          <a:prstGeom prst="ellipse">
            <a:avLst/>
          </a:prstGeom>
          <a:solidFill>
            <a:srgbClr val="0E7C6B"/>
          </a:solidFill>
          <a:ln/>
        </p:spPr>
      </p:sp>
      <p:sp>
        <p:nvSpPr>
          <p:cNvPr id="57" name="Text 55"/>
          <p:cNvSpPr txBox="1"/>
          <p:nvPr/>
        </p:nvSpPr>
        <p:spPr>
          <a:xfrm>
            <a:off x="722376" y="5687568"/>
            <a:ext cx="3474720" cy="310896"/>
          </a:xfrm>
          <a:prstGeom prst="rect">
            <a:avLst/>
          </a:prstGeom>
          <a:noFill/>
          <a:ln/>
        </p:spPr>
        <p:txBody>
          <a:bodyPr wrap="square" lIns="0" tIns="0" rIns="0" bIns="0" rtlCol="0" anchor="ctr"/>
          <a:lstStyle/>
          <a:p>
            <a:pPr indent="0" marL="0">
              <a:buNone/>
            </a:pPr>
            <a:r>
              <a:rPr lang="en-US" sz="1050" dirty="0">
                <a:solidFill>
                  <a:srgbClr val="3F4C53"/>
                </a:solidFill>
                <a:latin typeface="Calibri" pitchFamily="34" charset="0"/>
                <a:ea typeface="Calibri" pitchFamily="34" charset="-122"/>
                <a:cs typeface="Calibri" pitchFamily="34" charset="-120"/>
              </a:rPr>
              <a:t>users → every log table  (ON DELETE CASCADE)</a:t>
            </a:r>
            <a:endParaRPr lang="en-US" sz="1050" dirty="0"/>
          </a:p>
        </p:txBody>
      </p:sp>
      <p:sp>
        <p:nvSpPr>
          <p:cNvPr id="58" name="Shape 56"/>
          <p:cNvSpPr/>
          <p:nvPr/>
        </p:nvSpPr>
        <p:spPr>
          <a:xfrm>
            <a:off x="4297680" y="5788152"/>
            <a:ext cx="109728" cy="109728"/>
          </a:xfrm>
          <a:prstGeom prst="ellipse">
            <a:avLst/>
          </a:prstGeom>
          <a:solidFill>
            <a:srgbClr val="0E7C6B"/>
          </a:solidFill>
          <a:ln/>
        </p:spPr>
      </p:sp>
      <p:sp>
        <p:nvSpPr>
          <p:cNvPr id="59" name="Text 57"/>
          <p:cNvSpPr txBox="1"/>
          <p:nvPr/>
        </p:nvSpPr>
        <p:spPr>
          <a:xfrm>
            <a:off x="4517136" y="5687568"/>
            <a:ext cx="3474720" cy="310896"/>
          </a:xfrm>
          <a:prstGeom prst="rect">
            <a:avLst/>
          </a:prstGeom>
          <a:noFill/>
          <a:ln/>
        </p:spPr>
        <p:txBody>
          <a:bodyPr wrap="square" lIns="0" tIns="0" rIns="0" bIns="0" rtlCol="0" anchor="ctr"/>
          <a:lstStyle/>
          <a:p>
            <a:pPr indent="0" marL="0">
              <a:buNone/>
            </a:pPr>
            <a:r>
              <a:rPr lang="en-US" sz="1050" dirty="0">
                <a:solidFill>
                  <a:srgbClr val="3F4C53"/>
                </a:solidFill>
                <a:latin typeface="Calibri" pitchFamily="34" charset="0"/>
                <a:ea typeface="Calibri" pitchFamily="34" charset="-122"/>
                <a:cs typeface="Calibri" pitchFamily="34" charset="-120"/>
              </a:rPr>
              <a:t>daily_logs → activities, expenses, meals  (ON DELETE SET NULL)</a:t>
            </a:r>
            <a:endParaRPr lang="en-US" sz="1050" dirty="0"/>
          </a:p>
        </p:txBody>
      </p:sp>
      <p:sp>
        <p:nvSpPr>
          <p:cNvPr id="60" name="Shape 58"/>
          <p:cNvSpPr/>
          <p:nvPr/>
        </p:nvSpPr>
        <p:spPr>
          <a:xfrm>
            <a:off x="8092440" y="5788152"/>
            <a:ext cx="109728" cy="109728"/>
          </a:xfrm>
          <a:prstGeom prst="ellipse">
            <a:avLst/>
          </a:prstGeom>
          <a:solidFill>
            <a:srgbClr val="0E7C6B"/>
          </a:solidFill>
          <a:ln/>
        </p:spPr>
      </p:sp>
      <p:sp>
        <p:nvSpPr>
          <p:cNvPr id="61" name="Text 59"/>
          <p:cNvSpPr txBox="1"/>
          <p:nvPr/>
        </p:nvSpPr>
        <p:spPr>
          <a:xfrm>
            <a:off x="8311896" y="5687568"/>
            <a:ext cx="3474720" cy="310896"/>
          </a:xfrm>
          <a:prstGeom prst="rect">
            <a:avLst/>
          </a:prstGeom>
          <a:noFill/>
          <a:ln/>
        </p:spPr>
        <p:txBody>
          <a:bodyPr wrap="square" lIns="0" tIns="0" rIns="0" bIns="0" rtlCol="0" anchor="ctr"/>
          <a:lstStyle/>
          <a:p>
            <a:pPr indent="0" marL="0">
              <a:buNone/>
            </a:pPr>
            <a:r>
              <a:rPr lang="en-US" sz="1050" dirty="0">
                <a:solidFill>
                  <a:srgbClr val="3F4C53"/>
                </a:solidFill>
                <a:latin typeface="Calibri" pitchFamily="34" charset="0"/>
                <a:ea typeface="Calibri" pitchFamily="34" charset="-122"/>
                <a:cs typeface="Calibri" pitchFamily="34" charset="-120"/>
              </a:rPr>
              <a:t>goals → goal_progress  (one-to-many, trigger-updated)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561320" y="-1051560"/>
            <a:ext cx="3017520" cy="3017520"/>
          </a:xfrm>
          <a:prstGeom prst="ellipse">
            <a:avLst/>
          </a:prstGeom>
          <a:solidFill>
            <a:srgbClr val="D9EDE7"/>
          </a:solidFill>
          <a:ln/>
        </p:spPr>
      </p:sp>
      <p:sp>
        <p:nvSpPr>
          <p:cNvPr id="3" name="Shape 1"/>
          <p:cNvSpPr/>
          <p:nvPr/>
        </p:nvSpPr>
        <p:spPr>
          <a:xfrm>
            <a:off x="-594360" y="6172200"/>
            <a:ext cx="1325880" cy="1325880"/>
          </a:xfrm>
          <a:prstGeom prst="ellipse">
            <a:avLst/>
          </a:prstGeom>
          <a:solidFill>
            <a:srgbClr val="D9EDE7"/>
          </a:solidFill>
          <a:ln/>
        </p:spPr>
      </p:sp>
      <p:sp>
        <p:nvSpPr>
          <p:cNvPr id="4" name="Shape 2"/>
          <p:cNvSpPr/>
          <p:nvPr/>
        </p:nvSpPr>
        <p:spPr>
          <a:xfrm>
            <a:off x="502920" y="457200"/>
            <a:ext cx="1965960" cy="320040"/>
          </a:xfrm>
          <a:prstGeom prst="roundRect">
            <a:avLst>
              <a:gd name="adj" fmla="val 48571"/>
            </a:avLst>
          </a:prstGeom>
          <a:solidFill>
            <a:srgbClr val="D9EDE7"/>
          </a:solidFill>
          <a:ln/>
        </p:spPr>
      </p:sp>
      <p:sp>
        <p:nvSpPr>
          <p:cNvPr id="5" name="Text 3"/>
          <p:cNvSpPr txBox="1"/>
          <p:nvPr/>
        </p:nvSpPr>
        <p:spPr>
          <a:xfrm>
            <a:off x="502920" y="457200"/>
            <a:ext cx="1965960" cy="320040"/>
          </a:xfrm>
          <a:prstGeom prst="rect">
            <a:avLst/>
          </a:prstGeom>
          <a:noFill/>
          <a:ln/>
        </p:spPr>
        <p:txBody>
          <a:bodyPr wrap="square" lIns="0" tIns="0" rIns="0" bIns="0" rtlCol="0" anchor="ctr"/>
          <a:lstStyle/>
          <a:p>
            <a:pPr algn="ctr" indent="0" marL="0">
              <a:buNone/>
            </a:pPr>
            <a:r>
              <a:rPr lang="en-US" sz="1000" b="1" spc="140" kern="0" dirty="0">
                <a:solidFill>
                  <a:srgbClr val="0A5D50"/>
                </a:solidFill>
                <a:latin typeface="Calibri" pitchFamily="34" charset="0"/>
                <a:ea typeface="Calibri" pitchFamily="34" charset="-122"/>
                <a:cs typeface="Calibri" pitchFamily="34" charset="-120"/>
              </a:rPr>
              <a:t>TECH STACK</a:t>
            </a:r>
            <a:endParaRPr lang="en-US" sz="1000" dirty="0"/>
          </a:p>
        </p:txBody>
      </p:sp>
      <p:sp>
        <p:nvSpPr>
          <p:cNvPr id="6" name="Text 4"/>
          <p:cNvSpPr txBox="1"/>
          <p:nvPr/>
        </p:nvSpPr>
        <p:spPr>
          <a:xfrm>
            <a:off x="448056" y="896112"/>
            <a:ext cx="9601200" cy="658368"/>
          </a:xfrm>
          <a:prstGeom prst="rect">
            <a:avLst/>
          </a:prstGeom>
          <a:noFill/>
          <a:ln/>
        </p:spPr>
        <p:txBody>
          <a:bodyPr wrap="square" lIns="0" tIns="0" rIns="0" bIns="0" rtlCol="0" anchor="ctr"/>
          <a:lstStyle/>
          <a:p>
            <a:pPr indent="0" marL="0">
              <a:buNone/>
            </a:pPr>
            <a:r>
              <a:rPr lang="en-US" sz="3800" b="1" dirty="0">
                <a:solidFill>
                  <a:srgbClr val="14303B"/>
                </a:solidFill>
                <a:latin typeface="Cambria" pitchFamily="34" charset="0"/>
                <a:ea typeface="Cambria" pitchFamily="34" charset="-122"/>
                <a:cs typeface="Cambria" pitchFamily="34" charset="-120"/>
              </a:rPr>
              <a:t>Software Requirements</a:t>
            </a:r>
            <a:endParaRPr lang="en-US" sz="3800" dirty="0"/>
          </a:p>
        </p:txBody>
      </p:sp>
      <p:sp>
        <p:nvSpPr>
          <p:cNvPr id="7" name="Text 5"/>
          <p:cNvSpPr txBox="1"/>
          <p:nvPr/>
        </p:nvSpPr>
        <p:spPr>
          <a:xfrm>
            <a:off x="502920" y="6355080"/>
            <a:ext cx="6400800" cy="274320"/>
          </a:xfrm>
          <a:prstGeom prst="rect">
            <a:avLst/>
          </a:prstGeom>
          <a:noFill/>
          <a:ln/>
        </p:spPr>
        <p:txBody>
          <a:bodyPr wrap="square" lIns="0" tIns="0" rIns="0" bIns="0" rtlCol="0" anchor="ctr"/>
          <a:lstStyle/>
          <a:p>
            <a:pPr indent="0" marL="0">
              <a:buNone/>
            </a:pPr>
            <a:r>
              <a:rPr lang="en-US" sz="800" spc="160" kern="0" dirty="0">
                <a:solidFill>
                  <a:srgbClr val="8A969C"/>
                </a:solidFill>
                <a:latin typeface="Calibri" pitchFamily="34" charset="0"/>
                <a:ea typeface="Calibri" pitchFamily="34" charset="-122"/>
                <a:cs typeface="Calibri" pitchFamily="34" charset="-120"/>
              </a:rPr>
              <a:t>LIFELOG  ·  PERSONAL ACTIVITY INTELLIGENCE DATABASE</a:t>
            </a:r>
            <a:endParaRPr lang="en-US" sz="800" dirty="0"/>
          </a:p>
        </p:txBody>
      </p:sp>
      <p:sp>
        <p:nvSpPr>
          <p:cNvPr id="8" name="Text 6"/>
          <p:cNvSpPr txBox="1"/>
          <p:nvPr/>
        </p:nvSpPr>
        <p:spPr>
          <a:xfrm>
            <a:off x="10881360" y="6355080"/>
            <a:ext cx="777240" cy="274320"/>
          </a:xfrm>
          <a:prstGeom prst="rect">
            <a:avLst/>
          </a:prstGeom>
          <a:noFill/>
          <a:ln/>
        </p:spPr>
        <p:txBody>
          <a:bodyPr wrap="square" lIns="0" tIns="0" rIns="0" bIns="0" rtlCol="0" anchor="ctr"/>
          <a:lstStyle/>
          <a:p>
            <a:pPr algn="r" indent="0" marL="0">
              <a:buNone/>
            </a:pPr>
            <a:r>
              <a:rPr lang="en-US" sz="900" dirty="0">
                <a:solidFill>
                  <a:srgbClr val="8A969C"/>
                </a:solidFill>
                <a:latin typeface="Calibri" pitchFamily="34" charset="0"/>
                <a:ea typeface="Calibri" pitchFamily="34" charset="-122"/>
                <a:cs typeface="Calibri" pitchFamily="34" charset="-120"/>
              </a:rPr>
              <a:t>10</a:t>
            </a:r>
            <a:endParaRPr lang="en-US" sz="900" dirty="0"/>
          </a:p>
        </p:txBody>
      </p:sp>
      <p:sp>
        <p:nvSpPr>
          <p:cNvPr id="9" name="Shape 7"/>
          <p:cNvSpPr/>
          <p:nvPr/>
        </p:nvSpPr>
        <p:spPr>
          <a:xfrm>
            <a:off x="502920" y="1755648"/>
            <a:ext cx="2670048" cy="1920240"/>
          </a:xfrm>
          <a:prstGeom prst="roundRect">
            <a:avLst>
              <a:gd name="adj" fmla="val 2857"/>
            </a:avLst>
          </a:prstGeom>
          <a:solidFill>
            <a:srgbClr val="F1F6F4"/>
          </a:solidFill>
          <a:ln/>
        </p:spPr>
      </p:sp>
      <p:sp>
        <p:nvSpPr>
          <p:cNvPr id="10" name="Shape 8"/>
          <p:cNvSpPr/>
          <p:nvPr/>
        </p:nvSpPr>
        <p:spPr>
          <a:xfrm>
            <a:off x="1508760" y="1993392"/>
            <a:ext cx="658368" cy="658368"/>
          </a:xfrm>
          <a:prstGeom prst="roundRect">
            <a:avLst>
              <a:gd name="adj" fmla="val 22222"/>
            </a:avLst>
          </a:prstGeom>
          <a:solidFill>
            <a:srgbClr val="0E7C6B"/>
          </a:solidFill>
          <a:ln/>
        </p:spPr>
      </p:sp>
      <p:pic>
        <p:nvPicPr>
          <p:cNvPr id="11" name="Image 0" descr="preencoded.png">    </p:cNvPr>
          <p:cNvPicPr>
            <a:picLocks noChangeAspect="1"/>
          </p:cNvPicPr>
          <p:nvPr/>
        </p:nvPicPr>
        <p:blipFill>
          <a:blip r:embed="rId1"/>
          <a:stretch>
            <a:fillRect/>
          </a:stretch>
        </p:blipFill>
        <p:spPr>
          <a:xfrm>
            <a:off x="1686519" y="2171151"/>
            <a:ext cx="302849" cy="302849"/>
          </a:xfrm>
          <a:prstGeom prst="rect">
            <a:avLst/>
          </a:prstGeom>
        </p:spPr>
      </p:pic>
      <p:sp>
        <p:nvSpPr>
          <p:cNvPr id="12" name="Text 9"/>
          <p:cNvSpPr txBox="1"/>
          <p:nvPr/>
        </p:nvSpPr>
        <p:spPr>
          <a:xfrm>
            <a:off x="685800" y="2743200"/>
            <a:ext cx="2304288" cy="292608"/>
          </a:xfrm>
          <a:prstGeom prst="rect">
            <a:avLst/>
          </a:prstGeom>
          <a:noFill/>
          <a:ln/>
        </p:spPr>
        <p:txBody>
          <a:bodyPr wrap="square" lIns="0" tIns="0" rIns="0" bIns="0" rtlCol="0" anchor="ctr"/>
          <a:lstStyle/>
          <a:p>
            <a:pPr algn="ctr" indent="0" marL="0">
              <a:buNone/>
            </a:pPr>
            <a:r>
              <a:rPr lang="en-US" sz="1450" b="1" dirty="0">
                <a:solidFill>
                  <a:srgbClr val="14303B"/>
                </a:solidFill>
                <a:latin typeface="Cambria" pitchFamily="34" charset="0"/>
                <a:ea typeface="Cambria" pitchFamily="34" charset="-122"/>
                <a:cs typeface="Cambria" pitchFamily="34" charset="-120"/>
              </a:rPr>
              <a:t>Spring Boot 3.x</a:t>
            </a:r>
            <a:endParaRPr lang="en-US" sz="1450" dirty="0"/>
          </a:p>
        </p:txBody>
      </p:sp>
      <p:sp>
        <p:nvSpPr>
          <p:cNvPr id="13" name="Text 10"/>
          <p:cNvSpPr txBox="1"/>
          <p:nvPr/>
        </p:nvSpPr>
        <p:spPr>
          <a:xfrm>
            <a:off x="740664" y="3054096"/>
            <a:ext cx="2194560" cy="512064"/>
          </a:xfrm>
          <a:prstGeom prst="rect">
            <a:avLst/>
          </a:prstGeom>
          <a:noFill/>
          <a:ln/>
        </p:spPr>
        <p:txBody>
          <a:bodyPr wrap="square" lIns="0" tIns="0" rIns="0" bIns="0" rtlCol="0" anchor="t"/>
          <a:lstStyle/>
          <a:p>
            <a:pPr algn="ctr" indent="0" marL="0">
              <a:lnSpc>
                <a:spcPct val="120000"/>
              </a:lnSpc>
              <a:buNone/>
            </a:pPr>
            <a:r>
              <a:rPr lang="en-US" sz="1050" dirty="0">
                <a:solidFill>
                  <a:srgbClr val="8A969C"/>
                </a:solidFill>
                <a:latin typeface="Calibri" pitchFamily="34" charset="0"/>
                <a:ea typeface="Calibri" pitchFamily="34" charset="-122"/>
                <a:cs typeface="Calibri" pitchFamily="34" charset="-120"/>
              </a:rPr>
              <a:t>REST backend with Spring Data JPA</a:t>
            </a:r>
            <a:endParaRPr lang="en-US" sz="1050" dirty="0"/>
          </a:p>
        </p:txBody>
      </p:sp>
      <p:sp>
        <p:nvSpPr>
          <p:cNvPr id="14" name="Shape 11"/>
          <p:cNvSpPr/>
          <p:nvPr/>
        </p:nvSpPr>
        <p:spPr>
          <a:xfrm>
            <a:off x="3392424" y="1755648"/>
            <a:ext cx="2670048" cy="1920240"/>
          </a:xfrm>
          <a:prstGeom prst="roundRect">
            <a:avLst>
              <a:gd name="adj" fmla="val 2857"/>
            </a:avLst>
          </a:prstGeom>
          <a:solidFill>
            <a:srgbClr val="F1F6F4"/>
          </a:solidFill>
          <a:ln/>
        </p:spPr>
      </p:sp>
      <p:sp>
        <p:nvSpPr>
          <p:cNvPr id="15" name="Shape 12"/>
          <p:cNvSpPr/>
          <p:nvPr/>
        </p:nvSpPr>
        <p:spPr>
          <a:xfrm>
            <a:off x="4398264" y="1993392"/>
            <a:ext cx="658368" cy="658368"/>
          </a:xfrm>
          <a:prstGeom prst="roundRect">
            <a:avLst>
              <a:gd name="adj" fmla="val 22222"/>
            </a:avLst>
          </a:prstGeom>
          <a:solidFill>
            <a:srgbClr val="0E7C6B"/>
          </a:solidFill>
          <a:ln/>
        </p:spPr>
      </p:sp>
      <p:pic>
        <p:nvPicPr>
          <p:cNvPr id="16" name="Image 1" descr="preencoded.png">    </p:cNvPr>
          <p:cNvPicPr>
            <a:picLocks noChangeAspect="1"/>
          </p:cNvPicPr>
          <p:nvPr/>
        </p:nvPicPr>
        <p:blipFill>
          <a:blip r:embed="rId2"/>
          <a:stretch>
            <a:fillRect/>
          </a:stretch>
        </p:blipFill>
        <p:spPr>
          <a:xfrm>
            <a:off x="4576023" y="2171151"/>
            <a:ext cx="302849" cy="302849"/>
          </a:xfrm>
          <a:prstGeom prst="rect">
            <a:avLst/>
          </a:prstGeom>
        </p:spPr>
      </p:pic>
      <p:sp>
        <p:nvSpPr>
          <p:cNvPr id="17" name="Text 13"/>
          <p:cNvSpPr txBox="1"/>
          <p:nvPr/>
        </p:nvSpPr>
        <p:spPr>
          <a:xfrm>
            <a:off x="3575304" y="2743200"/>
            <a:ext cx="2304288" cy="292608"/>
          </a:xfrm>
          <a:prstGeom prst="rect">
            <a:avLst/>
          </a:prstGeom>
          <a:noFill/>
          <a:ln/>
        </p:spPr>
        <p:txBody>
          <a:bodyPr wrap="square" lIns="0" tIns="0" rIns="0" bIns="0" rtlCol="0" anchor="ctr"/>
          <a:lstStyle/>
          <a:p>
            <a:pPr algn="ctr" indent="0" marL="0">
              <a:buNone/>
            </a:pPr>
            <a:r>
              <a:rPr lang="en-US" sz="1450" b="1" dirty="0">
                <a:solidFill>
                  <a:srgbClr val="14303B"/>
                </a:solidFill>
                <a:latin typeface="Cambria" pitchFamily="34" charset="0"/>
                <a:ea typeface="Cambria" pitchFamily="34" charset="-122"/>
                <a:cs typeface="Cambria" pitchFamily="34" charset="-120"/>
              </a:rPr>
              <a:t>MySQL 8+</a:t>
            </a:r>
            <a:endParaRPr lang="en-US" sz="1450" dirty="0"/>
          </a:p>
        </p:txBody>
      </p:sp>
      <p:sp>
        <p:nvSpPr>
          <p:cNvPr id="18" name="Text 14"/>
          <p:cNvSpPr txBox="1"/>
          <p:nvPr/>
        </p:nvSpPr>
        <p:spPr>
          <a:xfrm>
            <a:off x="3630168" y="3054096"/>
            <a:ext cx="2194560" cy="512064"/>
          </a:xfrm>
          <a:prstGeom prst="rect">
            <a:avLst/>
          </a:prstGeom>
          <a:noFill/>
          <a:ln/>
        </p:spPr>
        <p:txBody>
          <a:bodyPr wrap="square" lIns="0" tIns="0" rIns="0" bIns="0" rtlCol="0" anchor="t"/>
          <a:lstStyle/>
          <a:p>
            <a:pPr algn="ctr" indent="0" marL="0">
              <a:lnSpc>
                <a:spcPct val="120000"/>
              </a:lnSpc>
              <a:buNone/>
            </a:pPr>
            <a:r>
              <a:rPr lang="en-US" sz="1050" dirty="0">
                <a:solidFill>
                  <a:srgbClr val="8A969C"/>
                </a:solidFill>
                <a:latin typeface="Calibri" pitchFamily="34" charset="0"/>
                <a:ea typeface="Calibri" pitchFamily="34" charset="-122"/>
                <a:cs typeface="Calibri" pitchFamily="34" charset="-120"/>
              </a:rPr>
              <a:t>The only database used in the project</a:t>
            </a:r>
            <a:endParaRPr lang="en-US" sz="1050" dirty="0"/>
          </a:p>
        </p:txBody>
      </p:sp>
      <p:sp>
        <p:nvSpPr>
          <p:cNvPr id="19" name="Shape 15"/>
          <p:cNvSpPr/>
          <p:nvPr/>
        </p:nvSpPr>
        <p:spPr>
          <a:xfrm>
            <a:off x="6281928" y="1755648"/>
            <a:ext cx="2670048" cy="1920240"/>
          </a:xfrm>
          <a:prstGeom prst="roundRect">
            <a:avLst>
              <a:gd name="adj" fmla="val 2857"/>
            </a:avLst>
          </a:prstGeom>
          <a:solidFill>
            <a:srgbClr val="F1F6F4"/>
          </a:solidFill>
          <a:ln/>
        </p:spPr>
      </p:sp>
      <p:sp>
        <p:nvSpPr>
          <p:cNvPr id="20" name="Shape 16"/>
          <p:cNvSpPr/>
          <p:nvPr/>
        </p:nvSpPr>
        <p:spPr>
          <a:xfrm>
            <a:off x="7287768" y="1993392"/>
            <a:ext cx="658368" cy="658368"/>
          </a:xfrm>
          <a:prstGeom prst="roundRect">
            <a:avLst>
              <a:gd name="adj" fmla="val 22222"/>
            </a:avLst>
          </a:prstGeom>
          <a:solidFill>
            <a:srgbClr val="0E7C6B"/>
          </a:solidFill>
          <a:ln/>
        </p:spPr>
      </p:sp>
      <p:pic>
        <p:nvPicPr>
          <p:cNvPr id="21" name="Image 2" descr="preencoded.png">    </p:cNvPr>
          <p:cNvPicPr>
            <a:picLocks noChangeAspect="1"/>
          </p:cNvPicPr>
          <p:nvPr/>
        </p:nvPicPr>
        <p:blipFill>
          <a:blip r:embed="rId3"/>
          <a:stretch>
            <a:fillRect/>
          </a:stretch>
        </p:blipFill>
        <p:spPr>
          <a:xfrm>
            <a:off x="7465527" y="2171151"/>
            <a:ext cx="302849" cy="302849"/>
          </a:xfrm>
          <a:prstGeom prst="rect">
            <a:avLst/>
          </a:prstGeom>
        </p:spPr>
      </p:pic>
      <p:sp>
        <p:nvSpPr>
          <p:cNvPr id="22" name="Text 17"/>
          <p:cNvSpPr txBox="1"/>
          <p:nvPr/>
        </p:nvSpPr>
        <p:spPr>
          <a:xfrm>
            <a:off x="6464808" y="2743200"/>
            <a:ext cx="2304288" cy="292608"/>
          </a:xfrm>
          <a:prstGeom prst="rect">
            <a:avLst/>
          </a:prstGeom>
          <a:noFill/>
          <a:ln/>
        </p:spPr>
        <p:txBody>
          <a:bodyPr wrap="square" lIns="0" tIns="0" rIns="0" bIns="0" rtlCol="0" anchor="ctr"/>
          <a:lstStyle/>
          <a:p>
            <a:pPr algn="ctr" indent="0" marL="0">
              <a:buNone/>
            </a:pPr>
            <a:r>
              <a:rPr lang="en-US" sz="1450" b="1" dirty="0">
                <a:solidFill>
                  <a:srgbClr val="14303B"/>
                </a:solidFill>
                <a:latin typeface="Cambria" pitchFamily="34" charset="0"/>
                <a:ea typeface="Cambria" pitchFamily="34" charset="-122"/>
                <a:cs typeface="Cambria" pitchFamily="34" charset="-120"/>
              </a:rPr>
              <a:t>HTML · CSS · JS</a:t>
            </a:r>
            <a:endParaRPr lang="en-US" sz="1450" dirty="0"/>
          </a:p>
        </p:txBody>
      </p:sp>
      <p:sp>
        <p:nvSpPr>
          <p:cNvPr id="23" name="Text 18"/>
          <p:cNvSpPr txBox="1"/>
          <p:nvPr/>
        </p:nvSpPr>
        <p:spPr>
          <a:xfrm>
            <a:off x="6519672" y="3054096"/>
            <a:ext cx="2194560" cy="512064"/>
          </a:xfrm>
          <a:prstGeom prst="rect">
            <a:avLst/>
          </a:prstGeom>
          <a:noFill/>
          <a:ln/>
        </p:spPr>
        <p:txBody>
          <a:bodyPr wrap="square" lIns="0" tIns="0" rIns="0" bIns="0" rtlCol="0" anchor="t"/>
          <a:lstStyle/>
          <a:p>
            <a:pPr algn="ctr" indent="0" marL="0">
              <a:lnSpc>
                <a:spcPct val="120000"/>
              </a:lnSpc>
              <a:buNone/>
            </a:pPr>
            <a:r>
              <a:rPr lang="en-US" sz="1050" dirty="0">
                <a:solidFill>
                  <a:srgbClr val="8A969C"/>
                </a:solidFill>
                <a:latin typeface="Calibri" pitchFamily="34" charset="0"/>
                <a:ea typeface="Calibri" pitchFamily="34" charset="-122"/>
                <a:cs typeface="Calibri" pitchFamily="34" charset="-120"/>
              </a:rPr>
              <a:t>Static frontend using the Fetch API</a:t>
            </a:r>
            <a:endParaRPr lang="en-US" sz="1050" dirty="0"/>
          </a:p>
        </p:txBody>
      </p:sp>
      <p:sp>
        <p:nvSpPr>
          <p:cNvPr id="24" name="Shape 19"/>
          <p:cNvSpPr/>
          <p:nvPr/>
        </p:nvSpPr>
        <p:spPr>
          <a:xfrm>
            <a:off x="9171432" y="1755648"/>
            <a:ext cx="2670048" cy="1920240"/>
          </a:xfrm>
          <a:prstGeom prst="roundRect">
            <a:avLst>
              <a:gd name="adj" fmla="val 2857"/>
            </a:avLst>
          </a:prstGeom>
          <a:solidFill>
            <a:srgbClr val="F1F6F4"/>
          </a:solidFill>
          <a:ln/>
        </p:spPr>
      </p:sp>
      <p:sp>
        <p:nvSpPr>
          <p:cNvPr id="25" name="Shape 20"/>
          <p:cNvSpPr/>
          <p:nvPr/>
        </p:nvSpPr>
        <p:spPr>
          <a:xfrm>
            <a:off x="10177272" y="1993392"/>
            <a:ext cx="658368" cy="658368"/>
          </a:xfrm>
          <a:prstGeom prst="roundRect">
            <a:avLst>
              <a:gd name="adj" fmla="val 22222"/>
            </a:avLst>
          </a:prstGeom>
          <a:solidFill>
            <a:srgbClr val="0E7C6B"/>
          </a:solidFill>
          <a:ln/>
        </p:spPr>
      </p:sp>
      <p:pic>
        <p:nvPicPr>
          <p:cNvPr id="26" name="Image 3" descr="preencoded.png">    </p:cNvPr>
          <p:cNvPicPr>
            <a:picLocks noChangeAspect="1"/>
          </p:cNvPicPr>
          <p:nvPr/>
        </p:nvPicPr>
        <p:blipFill>
          <a:blip r:embed="rId4"/>
          <a:stretch>
            <a:fillRect/>
          </a:stretch>
        </p:blipFill>
        <p:spPr>
          <a:xfrm>
            <a:off x="10355031" y="2171151"/>
            <a:ext cx="302849" cy="302849"/>
          </a:xfrm>
          <a:prstGeom prst="rect">
            <a:avLst/>
          </a:prstGeom>
        </p:spPr>
      </p:pic>
      <p:sp>
        <p:nvSpPr>
          <p:cNvPr id="27" name="Text 21"/>
          <p:cNvSpPr txBox="1"/>
          <p:nvPr/>
        </p:nvSpPr>
        <p:spPr>
          <a:xfrm>
            <a:off x="9354312" y="2743200"/>
            <a:ext cx="2304288" cy="292608"/>
          </a:xfrm>
          <a:prstGeom prst="rect">
            <a:avLst/>
          </a:prstGeom>
          <a:noFill/>
          <a:ln/>
        </p:spPr>
        <p:txBody>
          <a:bodyPr wrap="square" lIns="0" tIns="0" rIns="0" bIns="0" rtlCol="0" anchor="ctr"/>
          <a:lstStyle/>
          <a:p>
            <a:pPr algn="ctr" indent="0" marL="0">
              <a:buNone/>
            </a:pPr>
            <a:r>
              <a:rPr lang="en-US" sz="1450" b="1" dirty="0">
                <a:solidFill>
                  <a:srgbClr val="14303B"/>
                </a:solidFill>
                <a:latin typeface="Cambria" pitchFamily="34" charset="0"/>
                <a:ea typeface="Cambria" pitchFamily="34" charset="-122"/>
                <a:cs typeface="Cambria" pitchFamily="34" charset="-120"/>
              </a:rPr>
              <a:t>Chart.js</a:t>
            </a:r>
            <a:endParaRPr lang="en-US" sz="1450" dirty="0"/>
          </a:p>
        </p:txBody>
      </p:sp>
      <p:sp>
        <p:nvSpPr>
          <p:cNvPr id="28" name="Text 22"/>
          <p:cNvSpPr txBox="1"/>
          <p:nvPr/>
        </p:nvSpPr>
        <p:spPr>
          <a:xfrm>
            <a:off x="9409176" y="3054096"/>
            <a:ext cx="2194560" cy="512064"/>
          </a:xfrm>
          <a:prstGeom prst="rect">
            <a:avLst/>
          </a:prstGeom>
          <a:noFill/>
          <a:ln/>
        </p:spPr>
        <p:txBody>
          <a:bodyPr wrap="square" lIns="0" tIns="0" rIns="0" bIns="0" rtlCol="0" anchor="t"/>
          <a:lstStyle/>
          <a:p>
            <a:pPr algn="ctr" indent="0" marL="0">
              <a:lnSpc>
                <a:spcPct val="120000"/>
              </a:lnSpc>
              <a:buNone/>
            </a:pPr>
            <a:r>
              <a:rPr lang="en-US" sz="1050" dirty="0">
                <a:solidFill>
                  <a:srgbClr val="8A969C"/>
                </a:solidFill>
                <a:latin typeface="Calibri" pitchFamily="34" charset="0"/>
                <a:ea typeface="Calibri" pitchFamily="34" charset="-122"/>
                <a:cs typeface="Calibri" pitchFamily="34" charset="-120"/>
              </a:rPr>
              <a:t>Line, bar and doughnut visualizations</a:t>
            </a:r>
            <a:endParaRPr lang="en-US" sz="1050" dirty="0"/>
          </a:p>
        </p:txBody>
      </p:sp>
      <p:sp>
        <p:nvSpPr>
          <p:cNvPr id="29" name="Shape 23"/>
          <p:cNvSpPr/>
          <p:nvPr/>
        </p:nvSpPr>
        <p:spPr>
          <a:xfrm>
            <a:off x="502920" y="3931920"/>
            <a:ext cx="2670048" cy="1920240"/>
          </a:xfrm>
          <a:prstGeom prst="roundRect">
            <a:avLst>
              <a:gd name="adj" fmla="val 2857"/>
            </a:avLst>
          </a:prstGeom>
          <a:solidFill>
            <a:srgbClr val="F1F6F4"/>
          </a:solidFill>
          <a:ln/>
        </p:spPr>
      </p:sp>
      <p:sp>
        <p:nvSpPr>
          <p:cNvPr id="30" name="Shape 24"/>
          <p:cNvSpPr/>
          <p:nvPr/>
        </p:nvSpPr>
        <p:spPr>
          <a:xfrm>
            <a:off x="1508760" y="4169664"/>
            <a:ext cx="658368" cy="658368"/>
          </a:xfrm>
          <a:prstGeom prst="roundRect">
            <a:avLst>
              <a:gd name="adj" fmla="val 22222"/>
            </a:avLst>
          </a:prstGeom>
          <a:solidFill>
            <a:srgbClr val="0E7C6B"/>
          </a:solidFill>
          <a:ln/>
        </p:spPr>
      </p:sp>
      <p:pic>
        <p:nvPicPr>
          <p:cNvPr id="31" name="Image 4" descr="preencoded.png">    </p:cNvPr>
          <p:cNvPicPr>
            <a:picLocks noChangeAspect="1"/>
          </p:cNvPicPr>
          <p:nvPr/>
        </p:nvPicPr>
        <p:blipFill>
          <a:blip r:embed="rId5"/>
          <a:stretch>
            <a:fillRect/>
          </a:stretch>
        </p:blipFill>
        <p:spPr>
          <a:xfrm>
            <a:off x="1686519" y="4347423"/>
            <a:ext cx="302849" cy="302849"/>
          </a:xfrm>
          <a:prstGeom prst="rect">
            <a:avLst/>
          </a:prstGeom>
        </p:spPr>
      </p:pic>
      <p:sp>
        <p:nvSpPr>
          <p:cNvPr id="32" name="Text 25"/>
          <p:cNvSpPr txBox="1"/>
          <p:nvPr/>
        </p:nvSpPr>
        <p:spPr>
          <a:xfrm>
            <a:off x="685800" y="4919472"/>
            <a:ext cx="2304288" cy="292608"/>
          </a:xfrm>
          <a:prstGeom prst="rect">
            <a:avLst/>
          </a:prstGeom>
          <a:noFill/>
          <a:ln/>
        </p:spPr>
        <p:txBody>
          <a:bodyPr wrap="square" lIns="0" tIns="0" rIns="0" bIns="0" rtlCol="0" anchor="ctr"/>
          <a:lstStyle/>
          <a:p>
            <a:pPr algn="ctr" indent="0" marL="0">
              <a:buNone/>
            </a:pPr>
            <a:r>
              <a:rPr lang="en-US" sz="1450" b="1" dirty="0">
                <a:solidFill>
                  <a:srgbClr val="14303B"/>
                </a:solidFill>
                <a:latin typeface="Cambria" pitchFamily="34" charset="0"/>
                <a:ea typeface="Cambria" pitchFamily="34" charset="-122"/>
                <a:cs typeface="Cambria" pitchFamily="34" charset="-120"/>
              </a:rPr>
              <a:t>Java 17 JDK</a:t>
            </a:r>
            <a:endParaRPr lang="en-US" sz="1450" dirty="0"/>
          </a:p>
        </p:txBody>
      </p:sp>
      <p:sp>
        <p:nvSpPr>
          <p:cNvPr id="33" name="Text 26"/>
          <p:cNvSpPr txBox="1"/>
          <p:nvPr/>
        </p:nvSpPr>
        <p:spPr>
          <a:xfrm>
            <a:off x="740664" y="5230368"/>
            <a:ext cx="2194560" cy="512064"/>
          </a:xfrm>
          <a:prstGeom prst="rect">
            <a:avLst/>
          </a:prstGeom>
          <a:noFill/>
          <a:ln/>
        </p:spPr>
        <p:txBody>
          <a:bodyPr wrap="square" lIns="0" tIns="0" rIns="0" bIns="0" rtlCol="0" anchor="t"/>
          <a:lstStyle/>
          <a:p>
            <a:pPr algn="ctr" indent="0" marL="0">
              <a:lnSpc>
                <a:spcPct val="120000"/>
              </a:lnSpc>
              <a:buNone/>
            </a:pPr>
            <a:r>
              <a:rPr lang="en-US" sz="1050" dirty="0">
                <a:solidFill>
                  <a:srgbClr val="8A969C"/>
                </a:solidFill>
                <a:latin typeface="Calibri" pitchFamily="34" charset="0"/>
                <a:ea typeface="Calibri" pitchFamily="34" charset="-122"/>
                <a:cs typeface="Calibri" pitchFamily="34" charset="-120"/>
              </a:rPr>
              <a:t>Language runtime for the backend</a:t>
            </a:r>
            <a:endParaRPr lang="en-US" sz="1050" dirty="0"/>
          </a:p>
        </p:txBody>
      </p:sp>
      <p:sp>
        <p:nvSpPr>
          <p:cNvPr id="34" name="Shape 27"/>
          <p:cNvSpPr/>
          <p:nvPr/>
        </p:nvSpPr>
        <p:spPr>
          <a:xfrm>
            <a:off x="3392424" y="3931920"/>
            <a:ext cx="2670048" cy="1920240"/>
          </a:xfrm>
          <a:prstGeom prst="roundRect">
            <a:avLst>
              <a:gd name="adj" fmla="val 2857"/>
            </a:avLst>
          </a:prstGeom>
          <a:solidFill>
            <a:srgbClr val="F1F6F4"/>
          </a:solidFill>
          <a:ln/>
        </p:spPr>
      </p:sp>
      <p:sp>
        <p:nvSpPr>
          <p:cNvPr id="35" name="Shape 28"/>
          <p:cNvSpPr/>
          <p:nvPr/>
        </p:nvSpPr>
        <p:spPr>
          <a:xfrm>
            <a:off x="4398264" y="4169664"/>
            <a:ext cx="658368" cy="658368"/>
          </a:xfrm>
          <a:prstGeom prst="roundRect">
            <a:avLst>
              <a:gd name="adj" fmla="val 22222"/>
            </a:avLst>
          </a:prstGeom>
          <a:solidFill>
            <a:srgbClr val="0E7C6B"/>
          </a:solidFill>
          <a:ln/>
        </p:spPr>
      </p:sp>
      <p:pic>
        <p:nvPicPr>
          <p:cNvPr id="36" name="Image 5" descr="preencoded.png">    </p:cNvPr>
          <p:cNvPicPr>
            <a:picLocks noChangeAspect="1"/>
          </p:cNvPicPr>
          <p:nvPr/>
        </p:nvPicPr>
        <p:blipFill>
          <a:blip r:embed="rId6"/>
          <a:stretch>
            <a:fillRect/>
          </a:stretch>
        </p:blipFill>
        <p:spPr>
          <a:xfrm>
            <a:off x="4576023" y="4347423"/>
            <a:ext cx="302849" cy="302849"/>
          </a:xfrm>
          <a:prstGeom prst="rect">
            <a:avLst/>
          </a:prstGeom>
        </p:spPr>
      </p:pic>
      <p:sp>
        <p:nvSpPr>
          <p:cNvPr id="37" name="Text 29"/>
          <p:cNvSpPr txBox="1"/>
          <p:nvPr/>
        </p:nvSpPr>
        <p:spPr>
          <a:xfrm>
            <a:off x="3575304" y="4919472"/>
            <a:ext cx="2304288" cy="292608"/>
          </a:xfrm>
          <a:prstGeom prst="rect">
            <a:avLst/>
          </a:prstGeom>
          <a:noFill/>
          <a:ln/>
        </p:spPr>
        <p:txBody>
          <a:bodyPr wrap="square" lIns="0" tIns="0" rIns="0" bIns="0" rtlCol="0" anchor="ctr"/>
          <a:lstStyle/>
          <a:p>
            <a:pPr algn="ctr" indent="0" marL="0">
              <a:buNone/>
            </a:pPr>
            <a:r>
              <a:rPr lang="en-US" sz="1450" b="1" dirty="0">
                <a:solidFill>
                  <a:srgbClr val="14303B"/>
                </a:solidFill>
                <a:latin typeface="Cambria" pitchFamily="34" charset="0"/>
                <a:ea typeface="Cambria" pitchFamily="34" charset="-122"/>
                <a:cs typeface="Cambria" pitchFamily="34" charset="-120"/>
              </a:rPr>
              <a:t>Maven</a:t>
            </a:r>
            <a:endParaRPr lang="en-US" sz="1450" dirty="0"/>
          </a:p>
        </p:txBody>
      </p:sp>
      <p:sp>
        <p:nvSpPr>
          <p:cNvPr id="38" name="Text 30"/>
          <p:cNvSpPr txBox="1"/>
          <p:nvPr/>
        </p:nvSpPr>
        <p:spPr>
          <a:xfrm>
            <a:off x="3630168" y="5230368"/>
            <a:ext cx="2194560" cy="512064"/>
          </a:xfrm>
          <a:prstGeom prst="rect">
            <a:avLst/>
          </a:prstGeom>
          <a:noFill/>
          <a:ln/>
        </p:spPr>
        <p:txBody>
          <a:bodyPr wrap="square" lIns="0" tIns="0" rIns="0" bIns="0" rtlCol="0" anchor="t"/>
          <a:lstStyle/>
          <a:p>
            <a:pPr algn="ctr" indent="0" marL="0">
              <a:lnSpc>
                <a:spcPct val="120000"/>
              </a:lnSpc>
              <a:buNone/>
            </a:pPr>
            <a:r>
              <a:rPr lang="en-US" sz="1050" dirty="0">
                <a:solidFill>
                  <a:srgbClr val="8A969C"/>
                </a:solidFill>
                <a:latin typeface="Calibri" pitchFamily="34" charset="0"/>
                <a:ea typeface="Calibri" pitchFamily="34" charset="-122"/>
                <a:cs typeface="Calibri" pitchFamily="34" charset="-120"/>
              </a:rPr>
              <a:t>Build and dependency management</a:t>
            </a:r>
            <a:endParaRPr lang="en-US" sz="1050" dirty="0"/>
          </a:p>
        </p:txBody>
      </p:sp>
      <p:sp>
        <p:nvSpPr>
          <p:cNvPr id="39" name="Shape 31"/>
          <p:cNvSpPr/>
          <p:nvPr/>
        </p:nvSpPr>
        <p:spPr>
          <a:xfrm>
            <a:off x="6281928" y="3931920"/>
            <a:ext cx="2670048" cy="1920240"/>
          </a:xfrm>
          <a:prstGeom prst="roundRect">
            <a:avLst>
              <a:gd name="adj" fmla="val 2857"/>
            </a:avLst>
          </a:prstGeom>
          <a:solidFill>
            <a:srgbClr val="F1F6F4"/>
          </a:solidFill>
          <a:ln/>
        </p:spPr>
      </p:sp>
      <p:sp>
        <p:nvSpPr>
          <p:cNvPr id="40" name="Shape 32"/>
          <p:cNvSpPr/>
          <p:nvPr/>
        </p:nvSpPr>
        <p:spPr>
          <a:xfrm>
            <a:off x="7287768" y="4169664"/>
            <a:ext cx="658368" cy="658368"/>
          </a:xfrm>
          <a:prstGeom prst="roundRect">
            <a:avLst>
              <a:gd name="adj" fmla="val 22222"/>
            </a:avLst>
          </a:prstGeom>
          <a:solidFill>
            <a:srgbClr val="0E7C6B"/>
          </a:solidFill>
          <a:ln/>
        </p:spPr>
      </p:sp>
      <p:pic>
        <p:nvPicPr>
          <p:cNvPr id="41" name="Image 6" descr="preencoded.png">    </p:cNvPr>
          <p:cNvPicPr>
            <a:picLocks noChangeAspect="1"/>
          </p:cNvPicPr>
          <p:nvPr/>
        </p:nvPicPr>
        <p:blipFill>
          <a:blip r:embed="rId7"/>
          <a:stretch>
            <a:fillRect/>
          </a:stretch>
        </p:blipFill>
        <p:spPr>
          <a:xfrm>
            <a:off x="7465527" y="4347423"/>
            <a:ext cx="302849" cy="302849"/>
          </a:xfrm>
          <a:prstGeom prst="rect">
            <a:avLst/>
          </a:prstGeom>
        </p:spPr>
      </p:pic>
      <p:sp>
        <p:nvSpPr>
          <p:cNvPr id="42" name="Text 33"/>
          <p:cNvSpPr txBox="1"/>
          <p:nvPr/>
        </p:nvSpPr>
        <p:spPr>
          <a:xfrm>
            <a:off x="6464808" y="4919472"/>
            <a:ext cx="2304288" cy="292608"/>
          </a:xfrm>
          <a:prstGeom prst="rect">
            <a:avLst/>
          </a:prstGeom>
          <a:noFill/>
          <a:ln/>
        </p:spPr>
        <p:txBody>
          <a:bodyPr wrap="square" lIns="0" tIns="0" rIns="0" bIns="0" rtlCol="0" anchor="ctr"/>
          <a:lstStyle/>
          <a:p>
            <a:pPr algn="ctr" indent="0" marL="0">
              <a:buNone/>
            </a:pPr>
            <a:r>
              <a:rPr lang="en-US" sz="1450" b="1" dirty="0">
                <a:solidFill>
                  <a:srgbClr val="14303B"/>
                </a:solidFill>
                <a:latin typeface="Cambria" pitchFamily="34" charset="0"/>
                <a:ea typeface="Cambria" pitchFamily="34" charset="-122"/>
                <a:cs typeface="Cambria" pitchFamily="34" charset="-120"/>
              </a:rPr>
              <a:t>Windows / Linux</a:t>
            </a:r>
            <a:endParaRPr lang="en-US" sz="1450" dirty="0"/>
          </a:p>
        </p:txBody>
      </p:sp>
      <p:sp>
        <p:nvSpPr>
          <p:cNvPr id="43" name="Text 34"/>
          <p:cNvSpPr txBox="1"/>
          <p:nvPr/>
        </p:nvSpPr>
        <p:spPr>
          <a:xfrm>
            <a:off x="6519672" y="5230368"/>
            <a:ext cx="2194560" cy="512064"/>
          </a:xfrm>
          <a:prstGeom prst="rect">
            <a:avLst/>
          </a:prstGeom>
          <a:noFill/>
          <a:ln/>
        </p:spPr>
        <p:txBody>
          <a:bodyPr wrap="square" lIns="0" tIns="0" rIns="0" bIns="0" rtlCol="0" anchor="t"/>
          <a:lstStyle/>
          <a:p>
            <a:pPr algn="ctr" indent="0" marL="0">
              <a:lnSpc>
                <a:spcPct val="120000"/>
              </a:lnSpc>
              <a:buNone/>
            </a:pPr>
            <a:r>
              <a:rPr lang="en-US" sz="1050" dirty="0">
                <a:solidFill>
                  <a:srgbClr val="8A969C"/>
                </a:solidFill>
                <a:latin typeface="Calibri" pitchFamily="34" charset="0"/>
                <a:ea typeface="Calibri" pitchFamily="34" charset="-122"/>
                <a:cs typeface="Calibri" pitchFamily="34" charset="-120"/>
              </a:rPr>
              <a:t>Supported operating systems</a:t>
            </a:r>
            <a:endParaRPr lang="en-US" sz="1050" dirty="0"/>
          </a:p>
        </p:txBody>
      </p:sp>
      <p:sp>
        <p:nvSpPr>
          <p:cNvPr id="44" name="Shape 35"/>
          <p:cNvSpPr/>
          <p:nvPr/>
        </p:nvSpPr>
        <p:spPr>
          <a:xfrm>
            <a:off x="9171432" y="3931920"/>
            <a:ext cx="2670048" cy="1920240"/>
          </a:xfrm>
          <a:prstGeom prst="roundRect">
            <a:avLst>
              <a:gd name="adj" fmla="val 2857"/>
            </a:avLst>
          </a:prstGeom>
          <a:solidFill>
            <a:srgbClr val="F1F6F4"/>
          </a:solidFill>
          <a:ln/>
        </p:spPr>
      </p:sp>
      <p:sp>
        <p:nvSpPr>
          <p:cNvPr id="45" name="Shape 36"/>
          <p:cNvSpPr/>
          <p:nvPr/>
        </p:nvSpPr>
        <p:spPr>
          <a:xfrm>
            <a:off x="10177272" y="4169664"/>
            <a:ext cx="658368" cy="658368"/>
          </a:xfrm>
          <a:prstGeom prst="roundRect">
            <a:avLst>
              <a:gd name="adj" fmla="val 22222"/>
            </a:avLst>
          </a:prstGeom>
          <a:solidFill>
            <a:srgbClr val="0E7C6B"/>
          </a:solidFill>
          <a:ln/>
        </p:spPr>
      </p:sp>
      <p:pic>
        <p:nvPicPr>
          <p:cNvPr id="46" name="Image 7" descr="preencoded.png">    </p:cNvPr>
          <p:cNvPicPr>
            <a:picLocks noChangeAspect="1"/>
          </p:cNvPicPr>
          <p:nvPr/>
        </p:nvPicPr>
        <p:blipFill>
          <a:blip r:embed="rId8"/>
          <a:stretch>
            <a:fillRect/>
          </a:stretch>
        </p:blipFill>
        <p:spPr>
          <a:xfrm>
            <a:off x="10355031" y="4347423"/>
            <a:ext cx="302849" cy="302849"/>
          </a:xfrm>
          <a:prstGeom prst="rect">
            <a:avLst/>
          </a:prstGeom>
        </p:spPr>
      </p:pic>
      <p:sp>
        <p:nvSpPr>
          <p:cNvPr id="47" name="Text 37"/>
          <p:cNvSpPr txBox="1"/>
          <p:nvPr/>
        </p:nvSpPr>
        <p:spPr>
          <a:xfrm>
            <a:off x="9354312" y="4919472"/>
            <a:ext cx="2304288" cy="292608"/>
          </a:xfrm>
          <a:prstGeom prst="rect">
            <a:avLst/>
          </a:prstGeom>
          <a:noFill/>
          <a:ln/>
        </p:spPr>
        <p:txBody>
          <a:bodyPr wrap="square" lIns="0" tIns="0" rIns="0" bIns="0" rtlCol="0" anchor="ctr"/>
          <a:lstStyle/>
          <a:p>
            <a:pPr algn="ctr" indent="0" marL="0">
              <a:buNone/>
            </a:pPr>
            <a:r>
              <a:rPr lang="en-US" sz="1450" b="1" dirty="0">
                <a:solidFill>
                  <a:srgbClr val="14303B"/>
                </a:solidFill>
                <a:latin typeface="Cambria" pitchFamily="34" charset="0"/>
                <a:ea typeface="Cambria" pitchFamily="34" charset="-122"/>
                <a:cs typeface="Cambria" pitchFamily="34" charset="-120"/>
              </a:rPr>
              <a:t>Web Browser</a:t>
            </a:r>
            <a:endParaRPr lang="en-US" sz="1450" dirty="0"/>
          </a:p>
        </p:txBody>
      </p:sp>
      <p:sp>
        <p:nvSpPr>
          <p:cNvPr id="48" name="Text 38"/>
          <p:cNvSpPr txBox="1"/>
          <p:nvPr/>
        </p:nvSpPr>
        <p:spPr>
          <a:xfrm>
            <a:off x="9409176" y="5230368"/>
            <a:ext cx="2194560" cy="512064"/>
          </a:xfrm>
          <a:prstGeom prst="rect">
            <a:avLst/>
          </a:prstGeom>
          <a:noFill/>
          <a:ln/>
        </p:spPr>
        <p:txBody>
          <a:bodyPr wrap="square" lIns="0" tIns="0" rIns="0" bIns="0" rtlCol="0" anchor="t"/>
          <a:lstStyle/>
          <a:p>
            <a:pPr algn="ctr" indent="0" marL="0">
              <a:lnSpc>
                <a:spcPct val="120000"/>
              </a:lnSpc>
              <a:buNone/>
            </a:pPr>
            <a:r>
              <a:rPr lang="en-US" sz="1050" dirty="0">
                <a:solidFill>
                  <a:srgbClr val="8A969C"/>
                </a:solidFill>
                <a:latin typeface="Calibri" pitchFamily="34" charset="0"/>
                <a:ea typeface="Calibri" pitchFamily="34" charset="-122"/>
                <a:cs typeface="Calibri" pitchFamily="34" charset="-120"/>
              </a:rPr>
              <a:t>Runs the dashboard interface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561320" y="-1051560"/>
            <a:ext cx="3017520" cy="3017520"/>
          </a:xfrm>
          <a:prstGeom prst="ellipse">
            <a:avLst/>
          </a:prstGeom>
          <a:solidFill>
            <a:srgbClr val="D9EDE7"/>
          </a:solidFill>
          <a:ln/>
        </p:spPr>
      </p:sp>
      <p:sp>
        <p:nvSpPr>
          <p:cNvPr id="3" name="Shape 1"/>
          <p:cNvSpPr/>
          <p:nvPr/>
        </p:nvSpPr>
        <p:spPr>
          <a:xfrm>
            <a:off x="-594360" y="6172200"/>
            <a:ext cx="1325880" cy="1325880"/>
          </a:xfrm>
          <a:prstGeom prst="ellipse">
            <a:avLst/>
          </a:prstGeom>
          <a:solidFill>
            <a:srgbClr val="D9EDE7"/>
          </a:solidFill>
          <a:ln/>
        </p:spPr>
      </p:sp>
      <p:sp>
        <p:nvSpPr>
          <p:cNvPr id="4" name="Shape 2"/>
          <p:cNvSpPr/>
          <p:nvPr/>
        </p:nvSpPr>
        <p:spPr>
          <a:xfrm>
            <a:off x="502920" y="457200"/>
            <a:ext cx="1527048" cy="320040"/>
          </a:xfrm>
          <a:prstGeom prst="roundRect">
            <a:avLst>
              <a:gd name="adj" fmla="val 48571"/>
            </a:avLst>
          </a:prstGeom>
          <a:solidFill>
            <a:srgbClr val="D9EDE7"/>
          </a:solidFill>
          <a:ln/>
        </p:spPr>
      </p:sp>
      <p:sp>
        <p:nvSpPr>
          <p:cNvPr id="5" name="Text 3"/>
          <p:cNvSpPr txBox="1"/>
          <p:nvPr/>
        </p:nvSpPr>
        <p:spPr>
          <a:xfrm>
            <a:off x="502920" y="457200"/>
            <a:ext cx="1527048" cy="320040"/>
          </a:xfrm>
          <a:prstGeom prst="rect">
            <a:avLst/>
          </a:prstGeom>
          <a:noFill/>
          <a:ln/>
        </p:spPr>
        <p:txBody>
          <a:bodyPr wrap="square" lIns="0" tIns="0" rIns="0" bIns="0" rtlCol="0" anchor="ctr"/>
          <a:lstStyle/>
          <a:p>
            <a:pPr algn="ctr" indent="0" marL="0">
              <a:buNone/>
            </a:pPr>
            <a:r>
              <a:rPr lang="en-US" sz="1000" b="1" spc="140" kern="0" dirty="0">
                <a:solidFill>
                  <a:srgbClr val="0A5D50"/>
                </a:solidFill>
                <a:latin typeface="Calibri" pitchFamily="34" charset="0"/>
                <a:ea typeface="Calibri" pitchFamily="34" charset="-122"/>
                <a:cs typeface="Calibri" pitchFamily="34" charset="-120"/>
              </a:rPr>
              <a:t>WRAP-UP</a:t>
            </a:r>
            <a:endParaRPr lang="en-US" sz="1000" dirty="0"/>
          </a:p>
        </p:txBody>
      </p:sp>
      <p:sp>
        <p:nvSpPr>
          <p:cNvPr id="6" name="Text 4"/>
          <p:cNvSpPr txBox="1"/>
          <p:nvPr/>
        </p:nvSpPr>
        <p:spPr>
          <a:xfrm>
            <a:off x="448056" y="896112"/>
            <a:ext cx="9601200" cy="658368"/>
          </a:xfrm>
          <a:prstGeom prst="rect">
            <a:avLst/>
          </a:prstGeom>
          <a:noFill/>
          <a:ln/>
        </p:spPr>
        <p:txBody>
          <a:bodyPr wrap="square" lIns="0" tIns="0" rIns="0" bIns="0" rtlCol="0" anchor="ctr"/>
          <a:lstStyle/>
          <a:p>
            <a:pPr indent="0" marL="0">
              <a:buNone/>
            </a:pPr>
            <a:r>
              <a:rPr lang="en-US" sz="3800" b="1" dirty="0">
                <a:solidFill>
                  <a:srgbClr val="14303B"/>
                </a:solidFill>
                <a:latin typeface="Cambria" pitchFamily="34" charset="0"/>
                <a:ea typeface="Cambria" pitchFamily="34" charset="-122"/>
                <a:cs typeface="Cambria" pitchFamily="34" charset="-120"/>
              </a:rPr>
              <a:t>Conclusion &amp; Future Scope</a:t>
            </a:r>
            <a:endParaRPr lang="en-US" sz="3800" dirty="0"/>
          </a:p>
        </p:txBody>
      </p:sp>
      <p:sp>
        <p:nvSpPr>
          <p:cNvPr id="7" name="Text 5"/>
          <p:cNvSpPr txBox="1"/>
          <p:nvPr/>
        </p:nvSpPr>
        <p:spPr>
          <a:xfrm>
            <a:off x="502920" y="6355080"/>
            <a:ext cx="6400800" cy="274320"/>
          </a:xfrm>
          <a:prstGeom prst="rect">
            <a:avLst/>
          </a:prstGeom>
          <a:noFill/>
          <a:ln/>
        </p:spPr>
        <p:txBody>
          <a:bodyPr wrap="square" lIns="0" tIns="0" rIns="0" bIns="0" rtlCol="0" anchor="ctr"/>
          <a:lstStyle/>
          <a:p>
            <a:pPr indent="0" marL="0">
              <a:buNone/>
            </a:pPr>
            <a:r>
              <a:rPr lang="en-US" sz="800" spc="160" kern="0" dirty="0">
                <a:solidFill>
                  <a:srgbClr val="8A969C"/>
                </a:solidFill>
                <a:latin typeface="Calibri" pitchFamily="34" charset="0"/>
                <a:ea typeface="Calibri" pitchFamily="34" charset="-122"/>
                <a:cs typeface="Calibri" pitchFamily="34" charset="-120"/>
              </a:rPr>
              <a:t>LIFELOG  ·  PERSONAL ACTIVITY INTELLIGENCE DATABASE</a:t>
            </a:r>
            <a:endParaRPr lang="en-US" sz="800" dirty="0"/>
          </a:p>
        </p:txBody>
      </p:sp>
      <p:sp>
        <p:nvSpPr>
          <p:cNvPr id="8" name="Text 6"/>
          <p:cNvSpPr txBox="1"/>
          <p:nvPr/>
        </p:nvSpPr>
        <p:spPr>
          <a:xfrm>
            <a:off x="10881360" y="6355080"/>
            <a:ext cx="777240" cy="274320"/>
          </a:xfrm>
          <a:prstGeom prst="rect">
            <a:avLst/>
          </a:prstGeom>
          <a:noFill/>
          <a:ln/>
        </p:spPr>
        <p:txBody>
          <a:bodyPr wrap="square" lIns="0" tIns="0" rIns="0" bIns="0" rtlCol="0" anchor="ctr"/>
          <a:lstStyle/>
          <a:p>
            <a:pPr algn="r" indent="0" marL="0">
              <a:buNone/>
            </a:pPr>
            <a:r>
              <a:rPr lang="en-US" sz="900" dirty="0">
                <a:solidFill>
                  <a:srgbClr val="8A969C"/>
                </a:solidFill>
                <a:latin typeface="Calibri" pitchFamily="34" charset="0"/>
                <a:ea typeface="Calibri" pitchFamily="34" charset="-122"/>
                <a:cs typeface="Calibri" pitchFamily="34" charset="-120"/>
              </a:rPr>
              <a:t>11</a:t>
            </a:r>
            <a:endParaRPr lang="en-US" sz="900" dirty="0"/>
          </a:p>
        </p:txBody>
      </p:sp>
      <p:sp>
        <p:nvSpPr>
          <p:cNvPr id="9" name="Text 7"/>
          <p:cNvSpPr txBox="1"/>
          <p:nvPr/>
        </p:nvSpPr>
        <p:spPr>
          <a:xfrm>
            <a:off x="502920" y="1691640"/>
            <a:ext cx="11155680" cy="777240"/>
          </a:xfrm>
          <a:prstGeom prst="rect">
            <a:avLst/>
          </a:prstGeom>
          <a:noFill/>
          <a:ln/>
        </p:spPr>
        <p:txBody>
          <a:bodyPr wrap="square" lIns="0" tIns="0" rIns="0" bIns="0" rtlCol="0" anchor="t"/>
          <a:lstStyle/>
          <a:p>
            <a:pPr indent="0" marL="0">
              <a:lnSpc>
                <a:spcPct val="128000"/>
              </a:lnSpc>
              <a:buNone/>
            </a:pPr>
            <a:r>
              <a:rPr lang="en-US" sz="1300" dirty="0">
                <a:solidFill>
                  <a:srgbClr val="3F4C53"/>
                </a:solidFill>
                <a:latin typeface="Calibri" pitchFamily="34" charset="0"/>
                <a:ea typeface="Calibri" pitchFamily="34" charset="-122"/>
                <a:cs typeface="Calibri" pitchFamily="34" charset="-120"/>
              </a:rPr>
              <a:t>LifeLog brings scattered personal activity data into one normalized relational database and makes it queryable. It demonstrates practical use of keys, constraints, joins, aggregation, views, stored procedures, triggers and transactions inside a working full-stack application, while giving the user honest, transparent summaries of their own habits.</a:t>
            </a:r>
            <a:endParaRPr lang="en-US" sz="1300" dirty="0"/>
          </a:p>
        </p:txBody>
      </p:sp>
      <p:sp>
        <p:nvSpPr>
          <p:cNvPr id="10" name="Text 8"/>
          <p:cNvSpPr txBox="1"/>
          <p:nvPr/>
        </p:nvSpPr>
        <p:spPr>
          <a:xfrm>
            <a:off x="502920" y="2578608"/>
            <a:ext cx="3657600" cy="274320"/>
          </a:xfrm>
          <a:prstGeom prst="rect">
            <a:avLst/>
          </a:prstGeom>
          <a:noFill/>
          <a:ln/>
        </p:spPr>
        <p:txBody>
          <a:bodyPr wrap="square" lIns="0" tIns="0" rIns="0" bIns="0" rtlCol="0" anchor="ctr"/>
          <a:lstStyle/>
          <a:p>
            <a:pPr indent="0" marL="0">
              <a:buNone/>
            </a:pPr>
            <a:r>
              <a:rPr lang="en-US" sz="1100" b="1" spc="140" kern="0" dirty="0">
                <a:solidFill>
                  <a:srgbClr val="0A5D50"/>
                </a:solidFill>
                <a:latin typeface="Calibri" pitchFamily="34" charset="0"/>
                <a:ea typeface="Calibri" pitchFamily="34" charset="-122"/>
                <a:cs typeface="Calibri" pitchFamily="34" charset="-120"/>
              </a:rPr>
              <a:t>FUTURE SCOPE</a:t>
            </a:r>
            <a:endParaRPr lang="en-US" sz="1100" dirty="0"/>
          </a:p>
        </p:txBody>
      </p:sp>
      <p:sp>
        <p:nvSpPr>
          <p:cNvPr id="11" name="Shape 9"/>
          <p:cNvSpPr/>
          <p:nvPr/>
        </p:nvSpPr>
        <p:spPr>
          <a:xfrm>
            <a:off x="502920" y="2962656"/>
            <a:ext cx="2670048" cy="1170432"/>
          </a:xfrm>
          <a:prstGeom prst="roundRect">
            <a:avLst>
              <a:gd name="adj" fmla="val 4688"/>
            </a:avLst>
          </a:prstGeom>
          <a:solidFill>
            <a:srgbClr val="F1F6F4"/>
          </a:solidFill>
          <a:ln/>
        </p:spPr>
      </p:sp>
      <p:sp>
        <p:nvSpPr>
          <p:cNvPr id="12" name="Shape 10"/>
          <p:cNvSpPr/>
          <p:nvPr/>
        </p:nvSpPr>
        <p:spPr>
          <a:xfrm>
            <a:off x="740664" y="3182112"/>
            <a:ext cx="457200" cy="457200"/>
          </a:xfrm>
          <a:prstGeom prst="roundRect">
            <a:avLst>
              <a:gd name="adj" fmla="val 24000"/>
            </a:avLst>
          </a:prstGeom>
          <a:solidFill>
            <a:srgbClr val="0E7C6B"/>
          </a:solidFill>
          <a:ln/>
        </p:spPr>
      </p:sp>
      <p:pic>
        <p:nvPicPr>
          <p:cNvPr id="13" name="Image 0" descr="preencoded.png">    </p:cNvPr>
          <p:cNvPicPr>
            <a:picLocks noChangeAspect="1"/>
          </p:cNvPicPr>
          <p:nvPr/>
        </p:nvPicPr>
        <p:blipFill>
          <a:blip r:embed="rId1"/>
          <a:stretch>
            <a:fillRect/>
          </a:stretch>
        </p:blipFill>
        <p:spPr>
          <a:xfrm>
            <a:off x="864108" y="3305556"/>
            <a:ext cx="210312" cy="210312"/>
          </a:xfrm>
          <a:prstGeom prst="rect">
            <a:avLst/>
          </a:prstGeom>
        </p:spPr>
      </p:pic>
      <p:sp>
        <p:nvSpPr>
          <p:cNvPr id="14" name="Text 11"/>
          <p:cNvSpPr txBox="1"/>
          <p:nvPr/>
        </p:nvSpPr>
        <p:spPr>
          <a:xfrm>
            <a:off x="1307592" y="3145536"/>
            <a:ext cx="1645920" cy="804672"/>
          </a:xfrm>
          <a:prstGeom prst="rect">
            <a:avLst/>
          </a:prstGeom>
          <a:noFill/>
          <a:ln/>
        </p:spPr>
        <p:txBody>
          <a:bodyPr wrap="square" lIns="0" tIns="0" rIns="0" bIns="0" rtlCol="0" anchor="ctr"/>
          <a:lstStyle/>
          <a:p>
            <a:pPr indent="0" marL="0">
              <a:lnSpc>
                <a:spcPct val="118000"/>
              </a:lnSpc>
              <a:buNone/>
            </a:pPr>
            <a:r>
              <a:rPr lang="en-US" sz="1100" dirty="0">
                <a:solidFill>
                  <a:srgbClr val="3F4C53"/>
                </a:solidFill>
                <a:latin typeface="Calibri" pitchFamily="34" charset="0"/>
                <a:ea typeface="Calibri" pitchFamily="34" charset="-122"/>
                <a:cs typeface="Calibri" pitchFamily="34" charset="-120"/>
              </a:rPr>
              <a:t>Android and iOS companion app</a:t>
            </a:r>
            <a:endParaRPr lang="en-US" sz="1100" dirty="0"/>
          </a:p>
        </p:txBody>
      </p:sp>
      <p:sp>
        <p:nvSpPr>
          <p:cNvPr id="15" name="Shape 12"/>
          <p:cNvSpPr/>
          <p:nvPr/>
        </p:nvSpPr>
        <p:spPr>
          <a:xfrm>
            <a:off x="3392424" y="2962656"/>
            <a:ext cx="2670048" cy="1170432"/>
          </a:xfrm>
          <a:prstGeom prst="roundRect">
            <a:avLst>
              <a:gd name="adj" fmla="val 4688"/>
            </a:avLst>
          </a:prstGeom>
          <a:solidFill>
            <a:srgbClr val="F1F6F4"/>
          </a:solidFill>
          <a:ln/>
        </p:spPr>
      </p:sp>
      <p:sp>
        <p:nvSpPr>
          <p:cNvPr id="16" name="Shape 13"/>
          <p:cNvSpPr/>
          <p:nvPr/>
        </p:nvSpPr>
        <p:spPr>
          <a:xfrm>
            <a:off x="3630168" y="3182112"/>
            <a:ext cx="457200" cy="457200"/>
          </a:xfrm>
          <a:prstGeom prst="roundRect">
            <a:avLst>
              <a:gd name="adj" fmla="val 24000"/>
            </a:avLst>
          </a:prstGeom>
          <a:solidFill>
            <a:srgbClr val="0E7C6B"/>
          </a:solidFill>
          <a:ln/>
        </p:spPr>
      </p:sp>
      <p:pic>
        <p:nvPicPr>
          <p:cNvPr id="17" name="Image 1" descr="preencoded.png">    </p:cNvPr>
          <p:cNvPicPr>
            <a:picLocks noChangeAspect="1"/>
          </p:cNvPicPr>
          <p:nvPr/>
        </p:nvPicPr>
        <p:blipFill>
          <a:blip r:embed="rId2"/>
          <a:stretch>
            <a:fillRect/>
          </a:stretch>
        </p:blipFill>
        <p:spPr>
          <a:xfrm>
            <a:off x="3753612" y="3305556"/>
            <a:ext cx="210312" cy="210312"/>
          </a:xfrm>
          <a:prstGeom prst="rect">
            <a:avLst/>
          </a:prstGeom>
        </p:spPr>
      </p:pic>
      <p:sp>
        <p:nvSpPr>
          <p:cNvPr id="18" name="Text 14"/>
          <p:cNvSpPr txBox="1"/>
          <p:nvPr/>
        </p:nvSpPr>
        <p:spPr>
          <a:xfrm>
            <a:off x="4197096" y="3145536"/>
            <a:ext cx="1645920" cy="804672"/>
          </a:xfrm>
          <a:prstGeom prst="rect">
            <a:avLst/>
          </a:prstGeom>
          <a:noFill/>
          <a:ln/>
        </p:spPr>
        <p:txBody>
          <a:bodyPr wrap="square" lIns="0" tIns="0" rIns="0" bIns="0" rtlCol="0" anchor="ctr"/>
          <a:lstStyle/>
          <a:p>
            <a:pPr indent="0" marL="0">
              <a:lnSpc>
                <a:spcPct val="118000"/>
              </a:lnSpc>
              <a:buNone/>
            </a:pPr>
            <a:r>
              <a:rPr lang="en-US" sz="1100" dirty="0">
                <a:solidFill>
                  <a:srgbClr val="3F4C53"/>
                </a:solidFill>
                <a:latin typeface="Calibri" pitchFamily="34" charset="0"/>
                <a:ea typeface="Calibri" pitchFamily="34" charset="-122"/>
                <a:cs typeface="Calibri" pitchFamily="34" charset="-120"/>
              </a:rPr>
              <a:t>Reminders for logs and goal deadlines</a:t>
            </a:r>
            <a:endParaRPr lang="en-US" sz="1100" dirty="0"/>
          </a:p>
        </p:txBody>
      </p:sp>
      <p:sp>
        <p:nvSpPr>
          <p:cNvPr id="19" name="Shape 15"/>
          <p:cNvSpPr/>
          <p:nvPr/>
        </p:nvSpPr>
        <p:spPr>
          <a:xfrm>
            <a:off x="6281928" y="2962656"/>
            <a:ext cx="2670048" cy="1170432"/>
          </a:xfrm>
          <a:prstGeom prst="roundRect">
            <a:avLst>
              <a:gd name="adj" fmla="val 4688"/>
            </a:avLst>
          </a:prstGeom>
          <a:solidFill>
            <a:srgbClr val="F1F6F4"/>
          </a:solidFill>
          <a:ln/>
        </p:spPr>
      </p:sp>
      <p:sp>
        <p:nvSpPr>
          <p:cNvPr id="20" name="Shape 16"/>
          <p:cNvSpPr/>
          <p:nvPr/>
        </p:nvSpPr>
        <p:spPr>
          <a:xfrm>
            <a:off x="6519672" y="3182112"/>
            <a:ext cx="457200" cy="457200"/>
          </a:xfrm>
          <a:prstGeom prst="roundRect">
            <a:avLst>
              <a:gd name="adj" fmla="val 24000"/>
            </a:avLst>
          </a:prstGeom>
          <a:solidFill>
            <a:srgbClr val="0E7C6B"/>
          </a:solidFill>
          <a:ln/>
        </p:spPr>
      </p:sp>
      <p:pic>
        <p:nvPicPr>
          <p:cNvPr id="21" name="Image 2" descr="preencoded.png">    </p:cNvPr>
          <p:cNvPicPr>
            <a:picLocks noChangeAspect="1"/>
          </p:cNvPicPr>
          <p:nvPr/>
        </p:nvPicPr>
        <p:blipFill>
          <a:blip r:embed="rId3"/>
          <a:stretch>
            <a:fillRect/>
          </a:stretch>
        </p:blipFill>
        <p:spPr>
          <a:xfrm>
            <a:off x="6643116" y="3305556"/>
            <a:ext cx="210312" cy="210312"/>
          </a:xfrm>
          <a:prstGeom prst="rect">
            <a:avLst/>
          </a:prstGeom>
        </p:spPr>
      </p:pic>
      <p:sp>
        <p:nvSpPr>
          <p:cNvPr id="22" name="Text 17"/>
          <p:cNvSpPr txBox="1"/>
          <p:nvPr/>
        </p:nvSpPr>
        <p:spPr>
          <a:xfrm>
            <a:off x="7086600" y="3145536"/>
            <a:ext cx="1645920" cy="804672"/>
          </a:xfrm>
          <a:prstGeom prst="rect">
            <a:avLst/>
          </a:prstGeom>
          <a:noFill/>
          <a:ln/>
        </p:spPr>
        <p:txBody>
          <a:bodyPr wrap="square" lIns="0" tIns="0" rIns="0" bIns="0" rtlCol="0" anchor="ctr"/>
          <a:lstStyle/>
          <a:p>
            <a:pPr indent="0" marL="0">
              <a:lnSpc>
                <a:spcPct val="118000"/>
              </a:lnSpc>
              <a:buNone/>
            </a:pPr>
            <a:r>
              <a:rPr lang="en-US" sz="1100" dirty="0">
                <a:solidFill>
                  <a:srgbClr val="3F4C53"/>
                </a:solidFill>
                <a:latin typeface="Calibri" pitchFamily="34" charset="0"/>
                <a:ea typeface="Calibri" pitchFamily="34" charset="-122"/>
                <a:cs typeface="Calibri" pitchFamily="34" charset="-120"/>
              </a:rPr>
              <a:t>Import from fitness and banking apps</a:t>
            </a:r>
            <a:endParaRPr lang="en-US" sz="1100" dirty="0"/>
          </a:p>
        </p:txBody>
      </p:sp>
      <p:sp>
        <p:nvSpPr>
          <p:cNvPr id="23" name="Shape 18"/>
          <p:cNvSpPr/>
          <p:nvPr/>
        </p:nvSpPr>
        <p:spPr>
          <a:xfrm>
            <a:off x="9171432" y="2962656"/>
            <a:ext cx="2670048" cy="1170432"/>
          </a:xfrm>
          <a:prstGeom prst="roundRect">
            <a:avLst>
              <a:gd name="adj" fmla="val 4688"/>
            </a:avLst>
          </a:prstGeom>
          <a:solidFill>
            <a:srgbClr val="F1F6F4"/>
          </a:solidFill>
          <a:ln/>
        </p:spPr>
      </p:sp>
      <p:sp>
        <p:nvSpPr>
          <p:cNvPr id="24" name="Shape 19"/>
          <p:cNvSpPr/>
          <p:nvPr/>
        </p:nvSpPr>
        <p:spPr>
          <a:xfrm>
            <a:off x="9409176" y="3182112"/>
            <a:ext cx="457200" cy="457200"/>
          </a:xfrm>
          <a:prstGeom prst="roundRect">
            <a:avLst>
              <a:gd name="adj" fmla="val 24000"/>
            </a:avLst>
          </a:prstGeom>
          <a:solidFill>
            <a:srgbClr val="0E7C6B"/>
          </a:solidFill>
          <a:ln/>
        </p:spPr>
      </p:sp>
      <p:pic>
        <p:nvPicPr>
          <p:cNvPr id="25" name="Image 3" descr="preencoded.png">    </p:cNvPr>
          <p:cNvPicPr>
            <a:picLocks noChangeAspect="1"/>
          </p:cNvPicPr>
          <p:nvPr/>
        </p:nvPicPr>
        <p:blipFill>
          <a:blip r:embed="rId4"/>
          <a:stretch>
            <a:fillRect/>
          </a:stretch>
        </p:blipFill>
        <p:spPr>
          <a:xfrm>
            <a:off x="9532620" y="3305556"/>
            <a:ext cx="210312" cy="210312"/>
          </a:xfrm>
          <a:prstGeom prst="rect">
            <a:avLst/>
          </a:prstGeom>
        </p:spPr>
      </p:pic>
      <p:sp>
        <p:nvSpPr>
          <p:cNvPr id="26" name="Text 20"/>
          <p:cNvSpPr txBox="1"/>
          <p:nvPr/>
        </p:nvSpPr>
        <p:spPr>
          <a:xfrm>
            <a:off x="9976104" y="3145536"/>
            <a:ext cx="1645920" cy="804672"/>
          </a:xfrm>
          <a:prstGeom prst="rect">
            <a:avLst/>
          </a:prstGeom>
          <a:noFill/>
          <a:ln/>
        </p:spPr>
        <p:txBody>
          <a:bodyPr wrap="square" lIns="0" tIns="0" rIns="0" bIns="0" rtlCol="0" anchor="ctr"/>
          <a:lstStyle/>
          <a:p>
            <a:pPr indent="0" marL="0">
              <a:lnSpc>
                <a:spcPct val="118000"/>
              </a:lnSpc>
              <a:buNone/>
            </a:pPr>
            <a:r>
              <a:rPr lang="en-US" sz="1100" dirty="0">
                <a:solidFill>
                  <a:srgbClr val="3F4C53"/>
                </a:solidFill>
                <a:latin typeface="Calibri" pitchFamily="34" charset="0"/>
                <a:ea typeface="Calibri" pitchFamily="34" charset="-122"/>
                <a:cs typeface="Calibri" pitchFamily="34" charset="-120"/>
              </a:rPr>
              <a:t>Smarter habit recommendations</a:t>
            </a:r>
            <a:endParaRPr lang="en-US" sz="1100" dirty="0"/>
          </a:p>
        </p:txBody>
      </p:sp>
      <p:sp>
        <p:nvSpPr>
          <p:cNvPr id="27" name="Shape 21"/>
          <p:cNvSpPr/>
          <p:nvPr/>
        </p:nvSpPr>
        <p:spPr>
          <a:xfrm>
            <a:off x="502920" y="4352544"/>
            <a:ext cx="2670048" cy="1170432"/>
          </a:xfrm>
          <a:prstGeom prst="roundRect">
            <a:avLst>
              <a:gd name="adj" fmla="val 4688"/>
            </a:avLst>
          </a:prstGeom>
          <a:solidFill>
            <a:srgbClr val="F1F6F4"/>
          </a:solidFill>
          <a:ln/>
        </p:spPr>
      </p:sp>
      <p:sp>
        <p:nvSpPr>
          <p:cNvPr id="28" name="Shape 22"/>
          <p:cNvSpPr/>
          <p:nvPr/>
        </p:nvSpPr>
        <p:spPr>
          <a:xfrm>
            <a:off x="740664" y="4572000"/>
            <a:ext cx="457200" cy="457200"/>
          </a:xfrm>
          <a:prstGeom prst="roundRect">
            <a:avLst>
              <a:gd name="adj" fmla="val 24000"/>
            </a:avLst>
          </a:prstGeom>
          <a:solidFill>
            <a:srgbClr val="0E7C6B"/>
          </a:solidFill>
          <a:ln/>
        </p:spPr>
      </p:sp>
      <p:pic>
        <p:nvPicPr>
          <p:cNvPr id="29" name="Image 4" descr="preencoded.png">    </p:cNvPr>
          <p:cNvPicPr>
            <a:picLocks noChangeAspect="1"/>
          </p:cNvPicPr>
          <p:nvPr/>
        </p:nvPicPr>
        <p:blipFill>
          <a:blip r:embed="rId5"/>
          <a:stretch>
            <a:fillRect/>
          </a:stretch>
        </p:blipFill>
        <p:spPr>
          <a:xfrm>
            <a:off x="864108" y="4695444"/>
            <a:ext cx="210312" cy="210312"/>
          </a:xfrm>
          <a:prstGeom prst="rect">
            <a:avLst/>
          </a:prstGeom>
        </p:spPr>
      </p:pic>
      <p:sp>
        <p:nvSpPr>
          <p:cNvPr id="30" name="Text 23"/>
          <p:cNvSpPr txBox="1"/>
          <p:nvPr/>
        </p:nvSpPr>
        <p:spPr>
          <a:xfrm>
            <a:off x="1307592" y="4535424"/>
            <a:ext cx="1645920" cy="804672"/>
          </a:xfrm>
          <a:prstGeom prst="rect">
            <a:avLst/>
          </a:prstGeom>
          <a:noFill/>
          <a:ln/>
        </p:spPr>
        <p:txBody>
          <a:bodyPr wrap="square" lIns="0" tIns="0" rIns="0" bIns="0" rtlCol="0" anchor="ctr"/>
          <a:lstStyle/>
          <a:p>
            <a:pPr indent="0" marL="0">
              <a:lnSpc>
                <a:spcPct val="118000"/>
              </a:lnSpc>
              <a:buNone/>
            </a:pPr>
            <a:r>
              <a:rPr lang="en-US" sz="1100" dirty="0">
                <a:solidFill>
                  <a:srgbClr val="3F4C53"/>
                </a:solidFill>
                <a:latin typeface="Calibri" pitchFamily="34" charset="0"/>
                <a:ea typeface="Calibri" pitchFamily="34" charset="-122"/>
                <a:cs typeface="Calibri" pitchFamily="34" charset="-120"/>
              </a:rPr>
              <a:t>Shared goals with friends or mentors</a:t>
            </a:r>
            <a:endParaRPr lang="en-US" sz="1100" dirty="0"/>
          </a:p>
        </p:txBody>
      </p:sp>
      <p:sp>
        <p:nvSpPr>
          <p:cNvPr id="31" name="Shape 24"/>
          <p:cNvSpPr/>
          <p:nvPr/>
        </p:nvSpPr>
        <p:spPr>
          <a:xfrm>
            <a:off x="3392424" y="4352544"/>
            <a:ext cx="2670048" cy="1170432"/>
          </a:xfrm>
          <a:prstGeom prst="roundRect">
            <a:avLst>
              <a:gd name="adj" fmla="val 4688"/>
            </a:avLst>
          </a:prstGeom>
          <a:solidFill>
            <a:srgbClr val="F1F6F4"/>
          </a:solidFill>
          <a:ln/>
        </p:spPr>
      </p:sp>
      <p:sp>
        <p:nvSpPr>
          <p:cNvPr id="32" name="Shape 25"/>
          <p:cNvSpPr/>
          <p:nvPr/>
        </p:nvSpPr>
        <p:spPr>
          <a:xfrm>
            <a:off x="3630168" y="4572000"/>
            <a:ext cx="457200" cy="457200"/>
          </a:xfrm>
          <a:prstGeom prst="roundRect">
            <a:avLst>
              <a:gd name="adj" fmla="val 24000"/>
            </a:avLst>
          </a:prstGeom>
          <a:solidFill>
            <a:srgbClr val="0E7C6B"/>
          </a:solidFill>
          <a:ln/>
        </p:spPr>
      </p:sp>
      <p:pic>
        <p:nvPicPr>
          <p:cNvPr id="33" name="Image 5" descr="preencoded.png">    </p:cNvPr>
          <p:cNvPicPr>
            <a:picLocks noChangeAspect="1"/>
          </p:cNvPicPr>
          <p:nvPr/>
        </p:nvPicPr>
        <p:blipFill>
          <a:blip r:embed="rId6"/>
          <a:stretch>
            <a:fillRect/>
          </a:stretch>
        </p:blipFill>
        <p:spPr>
          <a:xfrm>
            <a:off x="3753612" y="4695444"/>
            <a:ext cx="210312" cy="210312"/>
          </a:xfrm>
          <a:prstGeom prst="rect">
            <a:avLst/>
          </a:prstGeom>
        </p:spPr>
      </p:pic>
      <p:sp>
        <p:nvSpPr>
          <p:cNvPr id="34" name="Text 26"/>
          <p:cNvSpPr txBox="1"/>
          <p:nvPr/>
        </p:nvSpPr>
        <p:spPr>
          <a:xfrm>
            <a:off x="4197096" y="4535424"/>
            <a:ext cx="1645920" cy="804672"/>
          </a:xfrm>
          <a:prstGeom prst="rect">
            <a:avLst/>
          </a:prstGeom>
          <a:noFill/>
          <a:ln/>
        </p:spPr>
        <p:txBody>
          <a:bodyPr wrap="square" lIns="0" tIns="0" rIns="0" bIns="0" rtlCol="0" anchor="ctr"/>
          <a:lstStyle/>
          <a:p>
            <a:pPr indent="0" marL="0">
              <a:lnSpc>
                <a:spcPct val="118000"/>
              </a:lnSpc>
              <a:buNone/>
            </a:pPr>
            <a:r>
              <a:rPr lang="en-US" sz="1100" dirty="0">
                <a:solidFill>
                  <a:srgbClr val="3F4C53"/>
                </a:solidFill>
                <a:latin typeface="Calibri" pitchFamily="34" charset="0"/>
                <a:ea typeface="Calibri" pitchFamily="34" charset="-122"/>
                <a:cs typeface="Calibri" pitchFamily="34" charset="-120"/>
              </a:rPr>
              <a:t>PDF and CSV report export</a:t>
            </a:r>
            <a:endParaRPr lang="en-US" sz="1100" dirty="0"/>
          </a:p>
        </p:txBody>
      </p:sp>
      <p:sp>
        <p:nvSpPr>
          <p:cNvPr id="35" name="Shape 27"/>
          <p:cNvSpPr/>
          <p:nvPr/>
        </p:nvSpPr>
        <p:spPr>
          <a:xfrm>
            <a:off x="6281928" y="4352544"/>
            <a:ext cx="2670048" cy="1170432"/>
          </a:xfrm>
          <a:prstGeom prst="roundRect">
            <a:avLst>
              <a:gd name="adj" fmla="val 4688"/>
            </a:avLst>
          </a:prstGeom>
          <a:solidFill>
            <a:srgbClr val="F1F6F4"/>
          </a:solidFill>
          <a:ln/>
        </p:spPr>
      </p:sp>
      <p:sp>
        <p:nvSpPr>
          <p:cNvPr id="36" name="Shape 28"/>
          <p:cNvSpPr/>
          <p:nvPr/>
        </p:nvSpPr>
        <p:spPr>
          <a:xfrm>
            <a:off x="6519672" y="4572000"/>
            <a:ext cx="457200" cy="457200"/>
          </a:xfrm>
          <a:prstGeom prst="roundRect">
            <a:avLst>
              <a:gd name="adj" fmla="val 24000"/>
            </a:avLst>
          </a:prstGeom>
          <a:solidFill>
            <a:srgbClr val="0E7C6B"/>
          </a:solidFill>
          <a:ln/>
        </p:spPr>
      </p:sp>
      <p:pic>
        <p:nvPicPr>
          <p:cNvPr id="37" name="Image 6" descr="preencoded.png">    </p:cNvPr>
          <p:cNvPicPr>
            <a:picLocks noChangeAspect="1"/>
          </p:cNvPicPr>
          <p:nvPr/>
        </p:nvPicPr>
        <p:blipFill>
          <a:blip r:embed="rId7"/>
          <a:stretch>
            <a:fillRect/>
          </a:stretch>
        </p:blipFill>
        <p:spPr>
          <a:xfrm>
            <a:off x="6643116" y="4695444"/>
            <a:ext cx="210312" cy="210312"/>
          </a:xfrm>
          <a:prstGeom prst="rect">
            <a:avLst/>
          </a:prstGeom>
        </p:spPr>
      </p:pic>
      <p:sp>
        <p:nvSpPr>
          <p:cNvPr id="38" name="Text 29"/>
          <p:cNvSpPr txBox="1"/>
          <p:nvPr/>
        </p:nvSpPr>
        <p:spPr>
          <a:xfrm>
            <a:off x="7086600" y="4535424"/>
            <a:ext cx="1645920" cy="804672"/>
          </a:xfrm>
          <a:prstGeom prst="rect">
            <a:avLst/>
          </a:prstGeom>
          <a:noFill/>
          <a:ln/>
        </p:spPr>
        <p:txBody>
          <a:bodyPr wrap="square" lIns="0" tIns="0" rIns="0" bIns="0" rtlCol="0" anchor="ctr"/>
          <a:lstStyle/>
          <a:p>
            <a:pPr indent="0" marL="0">
              <a:lnSpc>
                <a:spcPct val="118000"/>
              </a:lnSpc>
              <a:buNone/>
            </a:pPr>
            <a:r>
              <a:rPr lang="en-US" sz="1100" dirty="0">
                <a:solidFill>
                  <a:srgbClr val="3F4C53"/>
                </a:solidFill>
                <a:latin typeface="Calibri" pitchFamily="34" charset="0"/>
                <a:ea typeface="Calibri" pitchFamily="34" charset="-122"/>
                <a:cs typeface="Calibri" pitchFamily="34" charset="-120"/>
              </a:rPr>
              <a:t>Cloud-hosted database with backups</a:t>
            </a:r>
            <a:endParaRPr lang="en-US" sz="1100" dirty="0"/>
          </a:p>
        </p:txBody>
      </p:sp>
      <p:sp>
        <p:nvSpPr>
          <p:cNvPr id="39" name="Shape 30"/>
          <p:cNvSpPr/>
          <p:nvPr/>
        </p:nvSpPr>
        <p:spPr>
          <a:xfrm>
            <a:off x="9171432" y="4352544"/>
            <a:ext cx="2670048" cy="1170432"/>
          </a:xfrm>
          <a:prstGeom prst="roundRect">
            <a:avLst>
              <a:gd name="adj" fmla="val 4688"/>
            </a:avLst>
          </a:prstGeom>
          <a:solidFill>
            <a:srgbClr val="F1F6F4"/>
          </a:solidFill>
          <a:ln/>
        </p:spPr>
      </p:sp>
      <p:sp>
        <p:nvSpPr>
          <p:cNvPr id="40" name="Shape 31"/>
          <p:cNvSpPr/>
          <p:nvPr/>
        </p:nvSpPr>
        <p:spPr>
          <a:xfrm>
            <a:off x="9409176" y="4572000"/>
            <a:ext cx="457200" cy="457200"/>
          </a:xfrm>
          <a:prstGeom prst="roundRect">
            <a:avLst>
              <a:gd name="adj" fmla="val 24000"/>
            </a:avLst>
          </a:prstGeom>
          <a:solidFill>
            <a:srgbClr val="0E7C6B"/>
          </a:solidFill>
          <a:ln/>
        </p:spPr>
      </p:sp>
      <p:pic>
        <p:nvPicPr>
          <p:cNvPr id="41" name="Image 7" descr="preencoded.png">    </p:cNvPr>
          <p:cNvPicPr>
            <a:picLocks noChangeAspect="1"/>
          </p:cNvPicPr>
          <p:nvPr/>
        </p:nvPicPr>
        <p:blipFill>
          <a:blip r:embed="rId8"/>
          <a:stretch>
            <a:fillRect/>
          </a:stretch>
        </p:blipFill>
        <p:spPr>
          <a:xfrm>
            <a:off x="9532620" y="4695444"/>
            <a:ext cx="210312" cy="210312"/>
          </a:xfrm>
          <a:prstGeom prst="rect">
            <a:avLst/>
          </a:prstGeom>
        </p:spPr>
      </p:pic>
      <p:sp>
        <p:nvSpPr>
          <p:cNvPr id="42" name="Text 32"/>
          <p:cNvSpPr txBox="1"/>
          <p:nvPr/>
        </p:nvSpPr>
        <p:spPr>
          <a:xfrm>
            <a:off x="9976104" y="4535424"/>
            <a:ext cx="1645920" cy="804672"/>
          </a:xfrm>
          <a:prstGeom prst="rect">
            <a:avLst/>
          </a:prstGeom>
          <a:noFill/>
          <a:ln/>
        </p:spPr>
        <p:txBody>
          <a:bodyPr wrap="square" lIns="0" tIns="0" rIns="0" bIns="0" rtlCol="0" anchor="ctr"/>
          <a:lstStyle/>
          <a:p>
            <a:pPr indent="0" marL="0">
              <a:lnSpc>
                <a:spcPct val="118000"/>
              </a:lnSpc>
              <a:buNone/>
            </a:pPr>
            <a:r>
              <a:rPr lang="en-US" sz="1100" dirty="0">
                <a:solidFill>
                  <a:srgbClr val="3F4C53"/>
                </a:solidFill>
                <a:latin typeface="Calibri" pitchFamily="34" charset="0"/>
                <a:ea typeface="Calibri" pitchFamily="34" charset="-122"/>
                <a:cs typeface="Calibri" pitchFamily="34" charset="-120"/>
              </a:rPr>
              <a:t>Two-factor authentication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303B"/>
        </a:solidFill>
      </p:bgPr>
    </p:bg>
    <p:spTree>
      <p:nvGrpSpPr>
        <p:cNvPr id="1" name=""/>
        <p:cNvGrpSpPr/>
        <p:nvPr/>
      </p:nvGrpSpPr>
      <p:grpSpPr>
        <a:xfrm>
          <a:off x="0" y="0"/>
          <a:ext cx="0" cy="0"/>
          <a:chOff x="0" y="0"/>
          <a:chExt cx="0" cy="0"/>
        </a:xfrm>
      </p:grpSpPr>
      <p:sp>
        <p:nvSpPr>
          <p:cNvPr id="2" name="Shape 0"/>
          <p:cNvSpPr/>
          <p:nvPr/>
        </p:nvSpPr>
        <p:spPr>
          <a:xfrm>
            <a:off x="10561320" y="-1051560"/>
            <a:ext cx="3017520" cy="3017520"/>
          </a:xfrm>
          <a:prstGeom prst="ellipse">
            <a:avLst/>
          </a:prstGeom>
          <a:solidFill>
            <a:srgbClr val="24505C"/>
          </a:solidFill>
          <a:ln/>
        </p:spPr>
      </p:sp>
      <p:sp>
        <p:nvSpPr>
          <p:cNvPr id="3" name="Shape 1"/>
          <p:cNvSpPr/>
          <p:nvPr/>
        </p:nvSpPr>
        <p:spPr>
          <a:xfrm>
            <a:off x="-594360" y="6172200"/>
            <a:ext cx="1325880" cy="1325880"/>
          </a:xfrm>
          <a:prstGeom prst="ellipse">
            <a:avLst/>
          </a:prstGeom>
          <a:solidFill>
            <a:srgbClr val="0E7C6B"/>
          </a:solidFill>
          <a:ln/>
        </p:spPr>
      </p:sp>
      <p:sp>
        <p:nvSpPr>
          <p:cNvPr id="4" name="Text 2"/>
          <p:cNvSpPr txBox="1"/>
          <p:nvPr/>
        </p:nvSpPr>
        <p:spPr>
          <a:xfrm>
            <a:off x="2926080" y="2743200"/>
            <a:ext cx="6400800" cy="82296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txBox="1"/>
          <p:nvPr/>
        </p:nvSpPr>
        <p:spPr>
          <a:xfrm>
            <a:off x="2926080" y="3611880"/>
            <a:ext cx="6400800" cy="365760"/>
          </a:xfrm>
          <a:prstGeom prst="rect">
            <a:avLst/>
          </a:prstGeom>
          <a:noFill/>
          <a:ln/>
        </p:spPr>
        <p:txBody>
          <a:bodyPr wrap="square" lIns="0" tIns="0" rIns="0" bIns="0" rtlCol="0" anchor="ctr"/>
          <a:lstStyle/>
          <a:p>
            <a:pPr algn="ctr" indent="0" marL="0">
              <a:buNone/>
            </a:pPr>
            <a:r>
              <a:rPr lang="en-US" sz="1300" dirty="0">
                <a:solidFill>
                  <a:srgbClr val="C6D8DC"/>
                </a:solidFill>
                <a:latin typeface="Calibri" pitchFamily="34" charset="0"/>
                <a:ea typeface="Calibri" pitchFamily="34" charset="-122"/>
                <a:cs typeface="Calibri" pitchFamily="34" charset="-120"/>
              </a:rPr>
              <a:t>LifeLog  ·  Unified Personal Activity Intelligence Database  ·  Group 1</a:t>
            </a:r>
            <a:endParaRPr lang="en-US" sz="1300" dirty="0"/>
          </a:p>
        </p:txBody>
      </p:sp>
      <p:sp>
        <p:nvSpPr>
          <p:cNvPr id="6" name="Text 4"/>
          <p:cNvSpPr txBox="1"/>
          <p:nvPr/>
        </p:nvSpPr>
        <p:spPr>
          <a:xfrm>
            <a:off x="502920" y="6355080"/>
            <a:ext cx="6400800" cy="274320"/>
          </a:xfrm>
          <a:prstGeom prst="rect">
            <a:avLst/>
          </a:prstGeom>
          <a:noFill/>
          <a:ln/>
        </p:spPr>
        <p:txBody>
          <a:bodyPr wrap="square" lIns="0" tIns="0" rIns="0" bIns="0" rtlCol="0" anchor="ctr"/>
          <a:lstStyle/>
          <a:p>
            <a:pPr indent="0" marL="0">
              <a:buNone/>
            </a:pPr>
            <a:r>
              <a:rPr lang="en-US" sz="800" spc="160" kern="0" dirty="0">
                <a:solidFill>
                  <a:srgbClr val="9FB3BA"/>
                </a:solidFill>
                <a:latin typeface="Calibri" pitchFamily="34" charset="0"/>
                <a:ea typeface="Calibri" pitchFamily="34" charset="-122"/>
                <a:cs typeface="Calibri" pitchFamily="34" charset="-120"/>
              </a:rPr>
              <a:t>LIFELOG  ·  PERSONAL ACTIVITY INTELLIGENCE DATABASE</a:t>
            </a:r>
            <a:endParaRPr lang="en-US" sz="800" dirty="0"/>
          </a:p>
        </p:txBody>
      </p:sp>
      <p:sp>
        <p:nvSpPr>
          <p:cNvPr id="7" name="Text 5"/>
          <p:cNvSpPr txBox="1"/>
          <p:nvPr/>
        </p:nvSpPr>
        <p:spPr>
          <a:xfrm>
            <a:off x="10881360" y="6355080"/>
            <a:ext cx="777240" cy="274320"/>
          </a:xfrm>
          <a:prstGeom prst="rect">
            <a:avLst/>
          </a:prstGeom>
          <a:noFill/>
          <a:ln/>
        </p:spPr>
        <p:txBody>
          <a:bodyPr wrap="square" lIns="0" tIns="0" rIns="0" bIns="0" rtlCol="0" anchor="ctr"/>
          <a:lstStyle/>
          <a:p>
            <a:pPr algn="r" indent="0" marL="0">
              <a:buNone/>
            </a:pPr>
            <a:r>
              <a:rPr lang="en-US" sz="900" dirty="0">
                <a:solidFill>
                  <a:srgbClr val="9FB3B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LifeLog — Unified Personal Activity Intelligence Database</dc:title>
  <dc:subject>PptxGenJS Presentation</dc:subject>
  <dc:creator>LifeLog Team</dc:creator>
  <cp:lastModifiedBy>LifeLog Team</cp:lastModifiedBy>
  <cp:revision>1</cp:revision>
  <dcterms:created xsi:type="dcterms:W3CDTF">2026-09-16T09:47:32Z</dcterms:created>
  <dcterms:modified xsi:type="dcterms:W3CDTF">2026-09-16T09:47:32Z</dcterms:modified>
</cp:coreProperties>
</file>